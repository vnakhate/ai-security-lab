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3069ad46ad5453a" /><Relationship Type="http://schemas.openxmlformats.org/officeDocument/2006/relationships/extended-properties" Target="/docProps/app.xml" Id="R72a15519c5fd4415" /><Relationship Type="http://schemas.openxmlformats.org/officeDocument/2006/relationships/officeDocument" Target="/ppt/presentation.xml" Id="Ra31460bb95cf4c98" /></Relationships>
</file>

<file path=ppt/presentation.xml><?xml version="1.0" encoding="utf-8"?>
<p:presentation xmlns:p="http://schemas.openxmlformats.org/presentationml/2006/main">
  <p:sldMasterIdLst>
    <p:sldMasterId xmlns:r="http://schemas.openxmlformats.org/officeDocument/2006/relationships" id="2147483648" r:id="R659bcb94bed844a1"/>
  </p:sldMasterIdLst>
  <p:notesMasterIdLst>
    <p:notesMasterId xmlns:r="http://schemas.openxmlformats.org/officeDocument/2006/relationships" r:id="Recc2b791e92c43f2"/>
  </p:notesMasterIdLst>
  <p:sldIdLst>
    <p:sldId xmlns:r="http://schemas.openxmlformats.org/officeDocument/2006/relationships" id="256" r:id="R65315c02ac35474c"/>
    <p:sldId xmlns:r="http://schemas.openxmlformats.org/officeDocument/2006/relationships" id="257" r:id="R90b0b53bbf804b85"/>
    <p:sldId xmlns:r="http://schemas.openxmlformats.org/officeDocument/2006/relationships" id="258" r:id="R47c809a06f984821"/>
    <p:sldId xmlns:r="http://schemas.openxmlformats.org/officeDocument/2006/relationships" id="259" r:id="Rfe91987caa4241f5"/>
    <p:sldId xmlns:r="http://schemas.openxmlformats.org/officeDocument/2006/relationships" id="260" r:id="R5f2a85260d0c4e92"/>
    <p:sldId xmlns:r="http://schemas.openxmlformats.org/officeDocument/2006/relationships" id="261" r:id="R21193ce9d34240cd"/>
    <p:sldId xmlns:r="http://schemas.openxmlformats.org/officeDocument/2006/relationships" id="262" r:id="Ra9dbc943eaa6449d"/>
    <p:sldId xmlns:r="http://schemas.openxmlformats.org/officeDocument/2006/relationships" id="263" r:id="Rac712ff03ebe48f1"/>
    <p:sldId xmlns:r="http://schemas.openxmlformats.org/officeDocument/2006/relationships" id="264" r:id="Ra08663cbc97f47fb"/>
    <p:sldId xmlns:r="http://schemas.openxmlformats.org/officeDocument/2006/relationships" id="265" r:id="R163285b53232461c"/>
    <p:sldId xmlns:r="http://schemas.openxmlformats.org/officeDocument/2006/relationships" id="266" r:id="R2ab5ed8e014c4cce"/>
    <p:sldId xmlns:r="http://schemas.openxmlformats.org/officeDocument/2006/relationships" id="267" r:id="R1bbdec6fdaeb4e0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23f270cd2c44121" /><Relationship Type="http://schemas.openxmlformats.org/officeDocument/2006/relationships/slideMaster" Target="/ppt/slideMasters/slideMaster1.xml" Id="R659bcb94bed844a1" /><Relationship Type="http://schemas.openxmlformats.org/officeDocument/2006/relationships/notesMaster" Target="/ppt/notesMasters/notesMaster1.xml" Id="Recc2b791e92c43f2" /><Relationship Type="http://schemas.openxmlformats.org/officeDocument/2006/relationships/presProps" Target="/ppt/presProps.xml" Id="R93a933276bd44bf6" /><Relationship Type="http://schemas.openxmlformats.org/officeDocument/2006/relationships/tableStyles" Target="/ppt/tableStyles.xml" Id="R9d9b42ebd3774d21" /><Relationship Type="http://schemas.openxmlformats.org/officeDocument/2006/relationships/slide" Target="/ppt/slides/slide1.xml" Id="R65315c02ac35474c" /><Relationship Type="http://schemas.openxmlformats.org/officeDocument/2006/relationships/slide" Target="/ppt/slides/slide2.xml" Id="R90b0b53bbf804b85" /><Relationship Type="http://schemas.openxmlformats.org/officeDocument/2006/relationships/slide" Target="/ppt/slides/slide3.xml" Id="R47c809a06f984821" /><Relationship Type="http://schemas.openxmlformats.org/officeDocument/2006/relationships/slide" Target="/ppt/slides/slide4.xml" Id="Rfe91987caa4241f5" /><Relationship Type="http://schemas.openxmlformats.org/officeDocument/2006/relationships/slide" Target="/ppt/slides/slide5.xml" Id="R5f2a85260d0c4e92" /><Relationship Type="http://schemas.openxmlformats.org/officeDocument/2006/relationships/slide" Target="/ppt/slides/slide6.xml" Id="R21193ce9d34240cd" /><Relationship Type="http://schemas.openxmlformats.org/officeDocument/2006/relationships/slide" Target="/ppt/slides/slide7.xml" Id="Ra9dbc943eaa6449d" /><Relationship Type="http://schemas.openxmlformats.org/officeDocument/2006/relationships/slide" Target="/ppt/slides/slide8.xml" Id="Rac712ff03ebe48f1" /><Relationship Type="http://schemas.openxmlformats.org/officeDocument/2006/relationships/slide" Target="/ppt/slides/slide9.xml" Id="Ra08663cbc97f47fb" /><Relationship Type="http://schemas.openxmlformats.org/officeDocument/2006/relationships/slide" Target="/ppt/slides/slide10.xml" Id="R163285b53232461c" /><Relationship Type="http://schemas.openxmlformats.org/officeDocument/2006/relationships/slide" Target="/ppt/slides/slide11.xml" Id="R2ab5ed8e014c4cce" /><Relationship Type="http://schemas.openxmlformats.org/officeDocument/2006/relationships/slide" Target="/ppt/slides/slide12.xml" Id="R1bbdec6fdaeb4e0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ac7dc337a45490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43393bab3ab4188" /><Relationship Type="http://schemas.openxmlformats.org/officeDocument/2006/relationships/notesMaster" Target="/ppt/notesMasters/notesMaster1.xml" Id="Ra785ad7ee9e8427c" /></Relationships>
</file>

<file path=ppt/notesSlides/_rels/notesSlide2.xml.rels>&#65279;<?xml version="1.0" encoding="utf-8"?><Relationships xmlns="http://schemas.openxmlformats.org/package/2006/relationships"><Relationship Type="http://schemas.openxmlformats.org/officeDocument/2006/relationships/slide" Target="/ppt/slides/slide2.xml" Id="R1b985ce1384b4997" /><Relationship Type="http://schemas.openxmlformats.org/officeDocument/2006/relationships/notesMaster" Target="/ppt/notesMasters/notesMaster1.xml" Id="R7c8430d42c4a4b21" /></Relationships>
</file>

<file path=ppt/notesSlides/_rels/notesSlide3.xml.rels>&#65279;<?xml version="1.0" encoding="utf-8"?><Relationships xmlns="http://schemas.openxmlformats.org/package/2006/relationships"><Relationship Type="http://schemas.openxmlformats.org/officeDocument/2006/relationships/slide" Target="/ppt/slides/slide3.xml" Id="R6ef7240825f7459a" /><Relationship Type="http://schemas.openxmlformats.org/officeDocument/2006/relationships/notesMaster" Target="/ppt/notesMasters/notesMaster1.xml" Id="R5a79a8da6e0b4f08" /></Relationships>
</file>

<file path=ppt/notesSlides/_rels/notesSlide4.xml.rels>&#65279;<?xml version="1.0" encoding="utf-8"?><Relationships xmlns="http://schemas.openxmlformats.org/package/2006/relationships"><Relationship Type="http://schemas.openxmlformats.org/officeDocument/2006/relationships/slide" Target="/ppt/slides/slide4.xml" Id="Rb6fee6633b1e423a" /><Relationship Type="http://schemas.openxmlformats.org/officeDocument/2006/relationships/notesMaster" Target="/ppt/notesMasters/notesMaster1.xml" Id="R39381da30d324f28" /></Relationships>
</file>

<file path=ppt/notesSlides/_rels/notesSlide5.xml.rels>&#65279;<?xml version="1.0" encoding="utf-8"?><Relationships xmlns="http://schemas.openxmlformats.org/package/2006/relationships"><Relationship Type="http://schemas.openxmlformats.org/officeDocument/2006/relationships/slide" Target="/ppt/slides/slide5.xml" Id="R0c82359243ed422e" /><Relationship Type="http://schemas.openxmlformats.org/officeDocument/2006/relationships/notesMaster" Target="/ppt/notesMasters/notesMaster1.xml" Id="Rd13f2ae95eb242af" /></Relationships>
</file>

<file path=ppt/notesSlides/_rels/notesSlide6.xml.rels>&#65279;<?xml version="1.0" encoding="utf-8"?><Relationships xmlns="http://schemas.openxmlformats.org/package/2006/relationships"><Relationship Type="http://schemas.openxmlformats.org/officeDocument/2006/relationships/slide" Target="/ppt/slides/slide6.xml" Id="Re475c99387294f83" /><Relationship Type="http://schemas.openxmlformats.org/officeDocument/2006/relationships/notesMaster" Target="/ppt/notesMasters/notesMaster1.xml" Id="R52b9fa8f7c1d4fa4" /></Relationships>
</file>

<file path=ppt/notesSlides/_rels/notesSlide7.xml.rels>&#65279;<?xml version="1.0" encoding="utf-8"?><Relationships xmlns="http://schemas.openxmlformats.org/package/2006/relationships"><Relationship Type="http://schemas.openxmlformats.org/officeDocument/2006/relationships/slide" Target="/ppt/slides/slide7.xml" Id="Rc2345349902e4f30" /><Relationship Type="http://schemas.openxmlformats.org/officeDocument/2006/relationships/notesMaster" Target="/ppt/notesMasters/notesMaster1.xml" Id="R052c13c03207464d" /></Relationships>
</file>

<file path=ppt/notesSlides/_rels/notesSlide8.xml.rels>&#65279;<?xml version="1.0" encoding="utf-8"?><Relationships xmlns="http://schemas.openxmlformats.org/package/2006/relationships"><Relationship Type="http://schemas.openxmlformats.org/officeDocument/2006/relationships/slide" Target="/ppt/slides/slide8.xml" Id="R3ff87df72ecd4d11" /><Relationship Type="http://schemas.openxmlformats.org/officeDocument/2006/relationships/notesMaster" Target="/ppt/notesMasters/notesMaster1.xml" Id="R3fa9820743054f5d" /></Relationships>
</file>

<file path=ppt/notesSlides/_rels/notesSlide9.xml.rels>&#65279;<?xml version="1.0" encoding="utf-8"?><Relationships xmlns="http://schemas.openxmlformats.org/package/2006/relationships"><Relationship Type="http://schemas.openxmlformats.org/officeDocument/2006/relationships/slide" Target="/ppt/slides/slide9.xml" Id="R634c45453b8046d8" /><Relationship Type="http://schemas.openxmlformats.org/officeDocument/2006/relationships/notesMaster" Target="/ppt/notesMasters/notesMaster1.xml" Id="Ra7eb8bdf566d487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9d7feca82fe4c7e" /><Relationship Type="http://schemas.openxmlformats.org/officeDocument/2006/relationships/notesMaster" Target="/ppt/notesMasters/notesMaster1.xml" Id="R15bb06efb2d541e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d24d7ae26544179" /><Relationship Type="http://schemas.openxmlformats.org/officeDocument/2006/relationships/notesMaster" Target="/ppt/notesMasters/notesMaster1.xml" Id="R40d55770141b4ce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5f6340060ba4694" /><Relationship Type="http://schemas.openxmlformats.org/officeDocument/2006/relationships/notesMaster" Target="/ppt/notesMasters/notesMaster1.xml" Id="Re7e125bddc4d4e4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Web application and API testing is the primary profile. Separate sections cover AI applications and AI agents when these features belong to the approved target. This deck describes proposed testing. It does not report an external assessment.</a:t>
            </a:r>
          </a:p>
          <a:p xmlns:a="http://schemas.openxmlformats.org/drawingml/2006/main">
            <a:r>
              <a:t>Source: docs/OWASP_TOOL_INTEGRATION.md, assessment profiles and tool assignments, updated 5 October 2026. OWASP mappings are proposed test objectives. They do not establish tested coverage.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target determines which profile applies. A model or agent used by the lab is a testing assistant. Its presence does not turn a website into an AI target. A target agent belongs to the system under assessment. Testing the lab assistant establishes only lab behavior.</a:t>
            </a:r>
          </a:p>
          <a:p xmlns:a="http://schemas.openxmlformats.org/drawingml/2006/main">
            <a:r>
              <a:t>Source: docs/OWASP_TOOL_INTEGRATION.md, assessment profiles and tool assignments, updated 5 October 2026. OWASP mappings are proposed test objectives. They do not establish tested coverage.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one approved hostname and a small route set. Record methods, inputs, roles, expected results, test window, and request limits. Other hosts, origins, and third-party services need separate approval. The current collector supports unauthenticated GET-query observations only. Authentication, POST/JSON inputs, and browser workflows need approved adapters.</a:t>
            </a:r>
          </a:p>
          <a:p xmlns:a="http://schemas.openxmlformats.org/drawingml/2006/main">
            <a:r>
              <a:t>Source: docs/OWASP_TOOL_INTEGRATION.md, assessment profiles and tool assignments, updated 5 October 2026. OWASP mappings are proposed test objectives. They do not establish tested coverage.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examples define test objectives. Each test needs an approved adapter and target observations. Alice must read her own record and receive a denial for Bob’s record. Role checks compare user and administrator behavior. Property checks inspect actual changes to application state. Injection checks need application or sink evidence in addition to a WAF response.</a:t>
            </a:r>
          </a:p>
          <a:p xmlns:a="http://schemas.openxmlformats.org/drawingml/2006/main">
            <a:r>
              <a:t>Source: docs/OWASP_TOOL_INTEGRATION.md, assessment profiles and tool assignments, updated 5 October 2026. OWASP mappings are proposed test objectives. They do not establish tested coverage.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dashboard and CLI use the same campaign controls. The reviewer approves exact scope. The engine checks the normal baseline before test cases. Stop preserves partial evidence and prevents new steps. A stop cannot reverse requests that the runner already sent. All active steps require the approved scope and shared limits.</a:t>
            </a:r>
          </a:p>
          <a:p xmlns:a="http://schemas.openxmlformats.org/drawingml/2006/main">
            <a:r>
              <a:t>Source: docs/OWASP_TOOL_INTEGRATION.md, assessment profiles and tool assignments, updated 5 October 2026. OWASP mappings are proposed test objectives. They do not establish tested coverage.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case records the approved scope, test identity, expected outcome, observed outcome, and file references. The SQLite run index contains metadata and file links. Restricted evidence folders contain requests, responses, raw outputs, and reviewer records. Correlate request identifiers with WAF and application logs. A status code alone does not establish a finding. Missing source code, business rules, or logs remain visible as gaps.</a:t>
            </a:r>
          </a:p>
          <a:p xmlns:a="http://schemas.openxmlformats.org/drawingml/2006/main">
            <a:r>
              <a:t>Source: docs/OWASP_TOOL_INTEGRATION.md, assessment profiles and tool assignments, updated 5 October 2026. OWASP mappings are proposed test objectives. They do not establish tested coverage.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 tools for specific approved cases. The document lists Strix, Shannon, Pentest-AI, CyberStrike, and Numasec as candidate investigation components. Agent support needs controlled actions and approved model access. wafw00f supports WAF identification. WhatWaf and reviewed Nuclei templates support selected cases. Source tools need approved source and license checks. PyRIT is intended for AI targets. Most tools remain unintegrated. No tool name establishes OWASP coverage.</a:t>
            </a:r>
          </a:p>
          <a:p xmlns:a="http://schemas.openxmlformats.org/drawingml/2006/main">
            <a:r>
              <a:t>Source: docs/OWASP_TOOL_INTEGRATION.md, assessment profiles and tool assignments, updated 5 October 2026. OWASP mappings are proposed test objectives. They do not establish tested coverage.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profile tests an approved AI feature. It can include a model endpoint, retrieval, or components that consume model output. Use synthetic secrets and documents. Tests cover prompt injection, protected instructions, tenant isolation, unsafe output handling, and resource limits. Proposed mappings include LLM01, LLM02, LLM05, LLM07, LLM08, and LLM10. Additional categories need provenance or domain-specific evidence.</a:t>
            </a:r>
          </a:p>
          <a:p xmlns:a="http://schemas.openxmlformats.org/drawingml/2006/main">
            <a:r>
              <a:t>Source: docs/OWASP_TOOL_INTEGRATION.md, assessment profiles and tool assignments, updated 5 October 2026. OWASP mappings are proposed test objectives. They do not establish tested coverage.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target adapter sends approved test inputs to the AI application. Observe retrieved data and downstream effects. A scorer compares observations with known expected outcomes. A reviewer makes the final decision. PyRIT currently supports seed export and import checks only. Operational evaluations need an approved executor, target adapter, and scorer. The assistant model remains separate from the model under test.</a:t>
            </a:r>
          </a:p>
          <a:p xmlns:a="http://schemas.openxmlformats.org/drawingml/2006/main">
            <a:r>
              <a:t>Source: docs/OWASP_TOOL_INTEGRATION.md, assessment profiles and tool assignments, updated 5 October 2026. OWASP mappings are proposed test objectives. They do not establish tested coverage.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AI agent can propose actions and use tools. Define its identity, tools, permissions, approval rules, and expected state changes. Test the target agent’s own action controls. The lab engine separately enforces campaign scope. Hostile content or tool responses must not expand the agent’s permissions. Prompt-driven cases can map to LLM01. Excessive permissions can map to LLM06. Disclosure can map to LLM02.</a:t>
            </a:r>
          </a:p>
          <a:p xmlns:a="http://schemas.openxmlformats.org/drawingml/2006/main">
            <a:r>
              <a:t>Source: docs/OWASP_TOOL_INTEGRATION.md, assessment profiles and tool assignments, updated 5 October 2026. OWASP mappings are proposed test objectives. They do not establish tested coverage.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synthetic targets and approved accounts. Attempt an action outside scope through hostile content. Compare an allowed tool action with another user’s denied record access. Require valid approval for restricted actions. A change to approved action parameters requires new approval. Include hostile tool responses. Check stop behavior and resource limits by inspecting tool events and final state. Agent authorization failures can also map to Web A01 or API1/API5. Record the reason for each mapping.</a:t>
            </a:r>
          </a:p>
          <a:p xmlns:a="http://schemas.openxmlformats.org/drawingml/2006/main">
            <a:r>
              <a:t>Source: docs/OWASP_TOOL_INTEGRATION.md, assessment profiles and tool assignments, updated 5 October 2026. OWASP mappings are proposed test objectives. They do not establish tested coverage.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local harness and scoped collector exist. Operational web adapters, shared controls, VM isolation, and correlated external assessment remain pending. AI application tests need a target adapter, executor, scorer, and known outcomes. Agent testing needs action instrumentation, approval records, and observable state changes. Test profiles define objectives rather than completed coverage. Source: docs/IMPLEMENTATION_PLAN.md, Phases 0 through 7.</a:t>
            </a:r>
          </a:p>
          <a:p xmlns:a="http://schemas.openxmlformats.org/drawingml/2006/main">
            <a:r>
              <a:t>Source: docs/OWASP_TOOL_INTEGRATION.md, assessment profiles and tool assignments, updated 5 October 2026. OWASP mappings are proposed test objectives. They do not establish tested coverage.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c4ff1cc09ef493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e4f6f7029db41c6" /><Relationship Type="http://schemas.openxmlformats.org/officeDocument/2006/relationships/slideLayout" Target="/ppt/slideLayouts/slideLayout1.xml" Id="R28b44192b0904d1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8b44192b0904d1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7be8db6bcef45c3" /><Relationship Type="http://schemas.openxmlformats.org/officeDocument/2006/relationships/notesSlide" Target="/ppt/notesSlides/notesSlide1.xml" Id="Re386bca8a0704f8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e6e469840424d04" /><Relationship Type="http://schemas.openxmlformats.org/officeDocument/2006/relationships/notesSlide" Target="/ppt/notesSlides/notesSlide2.xml" Id="Rf17622bf2e704aa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4758ced3d0a43a8" /><Relationship Type="http://schemas.openxmlformats.org/officeDocument/2006/relationships/notesSlide" Target="/ppt/notesSlides/notesSlide3.xml" Id="R28824dc79ea444f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47d80ccb5c4413f" /><Relationship Type="http://schemas.openxmlformats.org/officeDocument/2006/relationships/notesSlide" Target="/ppt/notesSlides/notesSlide4.xml" Id="R55adc768d9a848f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6de01e8f02441a8" /><Relationship Type="http://schemas.openxmlformats.org/officeDocument/2006/relationships/notesSlide" Target="/ppt/notesSlides/notesSlide5.xml" Id="Rb2f058a5b04c401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6a9705c2c58486f" /><Relationship Type="http://schemas.openxmlformats.org/officeDocument/2006/relationships/notesSlide" Target="/ppt/notesSlides/notesSlide6.xml" Id="R4f1d4aea2632499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63df7eb78074dfd" /><Relationship Type="http://schemas.openxmlformats.org/officeDocument/2006/relationships/notesSlide" Target="/ppt/notesSlides/notesSlide7.xml" Id="R59c7637c68014f4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945a9dce3b0401f" /><Relationship Type="http://schemas.openxmlformats.org/officeDocument/2006/relationships/notesSlide" Target="/ppt/notesSlides/notesSlide8.xml" Id="R79c9be74d726484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c2fdc3aa0484762" /><Relationship Type="http://schemas.openxmlformats.org/officeDocument/2006/relationships/notesSlide" Target="/ppt/notesSlides/notesSlide9.xml" Id="Re041adf5743d43d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a4dc7aa640c42ba" /><Relationship Type="http://schemas.openxmlformats.org/officeDocument/2006/relationships/notesSlide" Target="/ppt/notesSlides/notesSlide10.xml" Id="Rd0ba505d83a64a5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da59b2104ca4d20" /><Relationship Type="http://schemas.openxmlformats.org/officeDocument/2006/relationships/notesSlide" Target="/ppt/notesSlides/notesSlide11.xml" Id="R69a3114af492462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c8eaef35aac4d9a" /><Relationship Type="http://schemas.openxmlformats.org/officeDocument/2006/relationships/notesSlide" Target="/ppt/notesSlides/notesSlide12.xml" Id="Rb9a897b93a734ca8" /></Relationships>
</file>

<file path=ppt/slides/slide1.xml><?xml version="1.0" encoding="utf-8"?>
<p:sld xmlns:p="http://schemas.openxmlformats.org/presentationml/2006/main">
  <p:cSld>
    <p:bg>
      <p:bgPr>
        <a:solidFill xmlns:a="http://schemas.openxmlformats.org/drawingml/2006/main">
          <a:srgbClr val="0D1726"/>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211E629-F1FB-43FA-A5F7-CAFE16C62048}"/>
              </a:ext>
            </a:extLst>
          </p:cNvPr>
          <p:cNvSpPr>
            <a:spLocks xmlns:a="http://schemas.openxmlformats.org/drawingml/2006/main" noGrp="1"/>
          </p:cNvSpPr>
          <p:nvPr/>
        </p:nvSpPr>
        <p:spPr>
          <a:xfrm xmlns:a="http://schemas.openxmlformats.org/drawingml/2006/main">
            <a:off x="571500" y="4000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F3F6FA"/>
                </a:solidFill>
                <a:latin typeface="Helvetica Neue"/>
                <a:ea typeface="Helvetica Neue"/>
                <a:cs typeface="Helvetica Neue"/>
              </a:defRPr>
            </a:pPr>
            <a:r>
              <a:rPr sz="3225" b="1">
                <a:solidFill>
                  <a:srgbClr val="F3F6FA"/>
                </a:solidFill>
                <a:latin typeface="Helvetica Neue"/>
                <a:ea typeface="Helvetica Neue"/>
                <a:cs typeface="Helvetica Neue"/>
              </a:rPr>
              <a:t>Web Application Security Testing</a:t>
            </a:r>
          </a:p>
        </p:txBody>
      </p:sp>
      <p:sp>
        <p:nvSpPr>
          <p:cNvPr id="2" name="">
            <a:extLst xmlns:a="http://schemas.openxmlformats.org/drawingml/2006/main">
              <a:ext uri="{FF2B5EF4-FFF2-40B4-BE49-F238E27FC236}">
                <a16:creationId xmlns:a16="http://schemas.microsoft.com/office/drawing/2014/main" id="{E5079430-C025-43E4-94E0-F335312C7EB9}"/>
              </a:ext>
            </a:extLst>
          </p:cNvPr>
          <p:cNvSpPr>
            <a:spLocks xmlns:a="http://schemas.openxmlformats.org/drawingml/2006/main" noGrp="1"/>
          </p:cNvSpPr>
          <p:nvPr/>
        </p:nvSpPr>
        <p:spPr>
          <a:xfrm xmlns:a="http://schemas.openxmlformats.org/drawingml/2006/main">
            <a:off x="571500" y="6400800"/>
            <a:ext cx="523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B7C5D7"/>
                </a:solidFill>
                <a:latin typeface="Helvetica Neue"/>
                <a:ea typeface="Helvetica Neue"/>
                <a:cs typeface="Helvetica Neue"/>
              </a:defRPr>
            </a:pPr>
            <a:r>
              <a:rPr sz="1350" b="0">
                <a:solidFill>
                  <a:srgbClr val="B7C5D7"/>
                </a:solidFill>
                <a:latin typeface="Helvetica Neue"/>
                <a:ea typeface="Helvetica Neue"/>
                <a:cs typeface="Helvetica Neue"/>
              </a:rPr>
              <a:t>Proposed test design</a:t>
            </a:r>
          </a:p>
        </p:txBody>
      </p:sp>
      <p:sp>
        <p:nvSpPr>
          <p:cNvPr id="3" name="">
            <a:extLst xmlns:a="http://schemas.openxmlformats.org/drawingml/2006/main">
              <a:ext uri="{FF2B5EF4-FFF2-40B4-BE49-F238E27FC236}">
                <a16:creationId xmlns:a16="http://schemas.microsoft.com/office/drawing/2014/main" id="{94C44BAD-E56A-4BCA-9F48-1F697D0F8465}"/>
              </a:ext>
            </a:extLst>
          </p:cNvPr>
          <p:cNvSpPr>
            <a:spLocks xmlns:a="http://schemas.openxmlformats.org/drawingml/2006/main" noGrp="1"/>
          </p:cNvSpPr>
          <p:nvPr/>
        </p:nvSpPr>
        <p:spPr>
          <a:xfrm xmlns:a="http://schemas.openxmlformats.org/drawingml/2006/main">
            <a:off x="11334750" y="64008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B7C5D7"/>
                </a:solidFill>
                <a:latin typeface="Helvetica Neue"/>
                <a:ea typeface="Helvetica Neue"/>
                <a:cs typeface="Helvetica Neue"/>
              </a:defRPr>
            </a:pPr>
            <a:r>
              <a:rPr sz="1350" b="0">
                <a:solidFill>
                  <a:srgbClr val="B7C5D7"/>
                </a:solidFill>
                <a:latin typeface="Helvetica Neue"/>
                <a:ea typeface="Helvetica Neue"/>
                <a:cs typeface="Helvetica Neue"/>
              </a:rPr>
              <a:t>01</a:t>
            </a:r>
          </a:p>
        </p:txBody>
      </p:sp>
      <p:sp>
        <p:nvSpPr>
          <p:cNvPr id="4" name="">
            <a:extLst xmlns:a="http://schemas.openxmlformats.org/drawingml/2006/main">
              <a:ext uri="{FF2B5EF4-FFF2-40B4-BE49-F238E27FC236}">
                <a16:creationId xmlns:a16="http://schemas.microsoft.com/office/drawing/2014/main" id="{08D69214-ABCB-44A2-8D19-22ECE67AFEA4}"/>
              </a:ext>
            </a:extLst>
          </p:cNvPr>
          <p:cNvSpPr>
            <a:spLocks xmlns:a="http://schemas.openxmlformats.org/drawingml/2006/main" noGrp="1"/>
          </p:cNvSpPr>
          <p:nvPr/>
        </p:nvSpPr>
        <p:spPr>
          <a:xfrm xmlns:a="http://schemas.openxmlformats.org/drawingml/2006/main">
            <a:off x="571500" y="2095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200" b="1">
                <a:solidFill>
                  <a:srgbClr val="F3F6FA"/>
                </a:solidFill>
                <a:latin typeface="Helvetica Neue"/>
                <a:ea typeface="Helvetica Neue"/>
                <a:cs typeface="Helvetica Neue"/>
              </a:defRPr>
            </a:pPr>
            <a:r>
              <a:rPr sz="4200" b="1">
                <a:solidFill>
                  <a:srgbClr val="F3F6FA"/>
                </a:solidFill>
                <a:latin typeface="Helvetica Neue"/>
                <a:ea typeface="Helvetica Neue"/>
                <a:cs typeface="Helvetica Neue"/>
              </a:rPr>
              <a:t>Web applications and APIs</a:t>
            </a:r>
          </a:p>
        </p:txBody>
      </p:sp>
      <p:sp>
        <p:nvSpPr>
          <p:cNvPr id="5" name="">
            <a:extLst xmlns:a="http://schemas.openxmlformats.org/drawingml/2006/main">
              <a:ext uri="{FF2B5EF4-FFF2-40B4-BE49-F238E27FC236}">
                <a16:creationId xmlns:a16="http://schemas.microsoft.com/office/drawing/2014/main" id="{111474B9-5247-45C0-861C-6CA59BA2B1ED}"/>
              </a:ext>
            </a:extLst>
          </p:cNvPr>
          <p:cNvSpPr>
            <a:spLocks xmlns:a="http://schemas.openxmlformats.org/drawingml/2006/main" noGrp="1"/>
          </p:cNvSpPr>
          <p:nvPr/>
        </p:nvSpPr>
        <p:spPr>
          <a:xfrm xmlns:a="http://schemas.openxmlformats.org/drawingml/2006/main">
            <a:off x="571500" y="3476625"/>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700" b="0">
                <a:solidFill>
                  <a:srgbClr val="5EE3EE"/>
                </a:solidFill>
                <a:latin typeface="Helvetica Neue"/>
                <a:ea typeface="Helvetica Neue"/>
                <a:cs typeface="Helvetica Neue"/>
              </a:defRPr>
            </a:pPr>
            <a:r>
              <a:rPr sz="2700" b="0">
                <a:solidFill>
                  <a:srgbClr val="5EE3EE"/>
                </a:solidFill>
                <a:latin typeface="Helvetica Neue"/>
                <a:ea typeface="Helvetica Neue"/>
                <a:cs typeface="Helvetica Neue"/>
              </a:rPr>
              <a:t>Additional profiles for AI applications and AI agents</a:t>
            </a:r>
          </a:p>
        </p:txBody>
      </p:sp>
      <p:sp>
        <p:nvSpPr>
          <p:cNvPr id="6" name="">
            <a:extLst xmlns:a="http://schemas.openxmlformats.org/drawingml/2006/main">
              <a:ext uri="{FF2B5EF4-FFF2-40B4-BE49-F238E27FC236}">
                <a16:creationId xmlns:a16="http://schemas.microsoft.com/office/drawing/2014/main" id="{B3E75002-81F0-4BCB-A257-2EB2F760B579}"/>
              </a:ext>
            </a:extLst>
          </p:cNvPr>
          <p:cNvSpPr>
            <a:spLocks xmlns:a="http://schemas.openxmlformats.org/drawingml/2006/main" noGrp="1"/>
          </p:cNvSpPr>
          <p:nvPr/>
        </p:nvSpPr>
        <p:spPr>
          <a:xfrm xmlns:a="http://schemas.openxmlformats.org/drawingml/2006/main">
            <a:off x="571500" y="5238750"/>
            <a:ext cx="857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B7C5D7"/>
                </a:solidFill>
                <a:latin typeface="Helvetica Neue"/>
                <a:ea typeface="Helvetica Neue"/>
                <a:cs typeface="Helvetica Neue"/>
              </a:defRPr>
            </a:pPr>
            <a:r>
              <a:rPr sz="1875" b="0">
                <a:solidFill>
                  <a:srgbClr val="B7C5D7"/>
                </a:solidFill>
                <a:latin typeface="Helvetica Neue"/>
                <a:ea typeface="Helvetica Neue"/>
                <a:cs typeface="Helvetica Neue"/>
              </a:rPr>
              <a:t>Two operators</a:t>
            </a:r>
          </a:p>
          <a:p xmlns:a="http://schemas.openxmlformats.org/drawingml/2006/main">
            <a:pPr>
              <a:defRPr sz="1875" b="0">
                <a:solidFill>
                  <a:srgbClr val="B7C5D7"/>
                </a:solidFill>
                <a:latin typeface="Helvetica Neue"/>
                <a:ea typeface="Helvetica Neue"/>
                <a:cs typeface="Helvetica Neue"/>
              </a:defRPr>
            </a:pPr>
            <a:r>
              <a:rPr sz="1875" b="0">
                <a:solidFill>
                  <a:srgbClr val="B7C5D7"/>
                </a:solidFill>
                <a:latin typeface="Helvetica Neue"/>
                <a:ea typeface="Helvetica Neue"/>
                <a:cs typeface="Helvetica Neue"/>
              </a:rPr>
              <a:t>5 October 2026</a:t>
            </a:r>
          </a:p>
        </p:txBody>
      </p:sp>
    </p:spTree>
    <p:extLst>
      <p:ext uri="{BB962C8B-B14F-4D97-AF65-F5344CB8AC3E}">
        <p14:creationId xmlns:p14="http://schemas.microsoft.com/office/powerpoint/2010/main" val="170824889"/>
      </p:ext>
    </p:extLst>
  </p:cSld>
</p:sld>
</file>

<file path=ppt/slides/slide2.xml><?xml version="1.0" encoding="utf-8"?>
<p:sld xmlns:p="http://schemas.openxmlformats.org/presentationml/2006/main">
  <p:cSld>
    <p:bg>
      <p:bgPr>
        <a:solidFill xmlns:a="http://schemas.openxmlformats.org/drawingml/2006/main">
          <a:srgbClr val="0D1726"/>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C42FE12-6CD6-43FF-A661-9BD5E755398D}"/>
              </a:ext>
            </a:extLst>
          </p:cNvPr>
          <p:cNvSpPr>
            <a:spLocks xmlns:a="http://schemas.openxmlformats.org/drawingml/2006/main" noGrp="1"/>
          </p:cNvSpPr>
          <p:nvPr/>
        </p:nvSpPr>
        <p:spPr>
          <a:xfrm xmlns:a="http://schemas.openxmlformats.org/drawingml/2006/main">
            <a:off x="571500" y="4000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F3F6FA"/>
                </a:solidFill>
                <a:latin typeface="Helvetica Neue"/>
                <a:ea typeface="Helvetica Neue"/>
                <a:cs typeface="Helvetica Neue"/>
              </a:defRPr>
            </a:pPr>
            <a:r>
              <a:rPr sz="3225" b="1">
                <a:solidFill>
                  <a:srgbClr val="F3F6FA"/>
                </a:solidFill>
                <a:latin typeface="Helvetica Neue"/>
                <a:ea typeface="Helvetica Neue"/>
                <a:cs typeface="Helvetica Neue"/>
              </a:rPr>
              <a:t>Testing profiles</a:t>
            </a:r>
          </a:p>
        </p:txBody>
      </p:sp>
      <p:sp>
        <p:nvSpPr>
          <p:cNvPr id="2" name="">
            <a:extLst xmlns:a="http://schemas.openxmlformats.org/drawingml/2006/main">
              <a:ext uri="{FF2B5EF4-FFF2-40B4-BE49-F238E27FC236}">
                <a16:creationId xmlns:a16="http://schemas.microsoft.com/office/drawing/2014/main" id="{432307A8-49A7-44B5-A3D6-CADCE8F79141}"/>
              </a:ext>
            </a:extLst>
          </p:cNvPr>
          <p:cNvSpPr>
            <a:spLocks xmlns:a="http://schemas.openxmlformats.org/drawingml/2006/main" noGrp="1"/>
          </p:cNvSpPr>
          <p:nvPr/>
        </p:nvSpPr>
        <p:spPr>
          <a:xfrm xmlns:a="http://schemas.openxmlformats.org/drawingml/2006/main">
            <a:off x="571500" y="6400800"/>
            <a:ext cx="523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B7C5D7"/>
                </a:solidFill>
                <a:latin typeface="Helvetica Neue"/>
                <a:ea typeface="Helvetica Neue"/>
                <a:cs typeface="Helvetica Neue"/>
              </a:defRPr>
            </a:pPr>
            <a:r>
              <a:rPr sz="1350" b="0">
                <a:solidFill>
                  <a:srgbClr val="B7C5D7"/>
                </a:solidFill>
                <a:latin typeface="Helvetica Neue"/>
                <a:ea typeface="Helvetica Neue"/>
                <a:cs typeface="Helvetica Neue"/>
              </a:rPr>
              <a:t>Proposed test design</a:t>
            </a:r>
          </a:p>
        </p:txBody>
      </p:sp>
      <p:sp>
        <p:nvSpPr>
          <p:cNvPr id="3" name="">
            <a:extLst xmlns:a="http://schemas.openxmlformats.org/drawingml/2006/main">
              <a:ext uri="{FF2B5EF4-FFF2-40B4-BE49-F238E27FC236}">
                <a16:creationId xmlns:a16="http://schemas.microsoft.com/office/drawing/2014/main" id="{CA7EC55E-2B9A-4A9B-B5C4-DE5013283DE3}"/>
              </a:ext>
            </a:extLst>
          </p:cNvPr>
          <p:cNvSpPr>
            <a:spLocks xmlns:a="http://schemas.openxmlformats.org/drawingml/2006/main" noGrp="1"/>
          </p:cNvSpPr>
          <p:nvPr/>
        </p:nvSpPr>
        <p:spPr>
          <a:xfrm xmlns:a="http://schemas.openxmlformats.org/drawingml/2006/main">
            <a:off x="11334750" y="64008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B7C5D7"/>
                </a:solidFill>
                <a:latin typeface="Helvetica Neue"/>
                <a:ea typeface="Helvetica Neue"/>
                <a:cs typeface="Helvetica Neue"/>
              </a:defRPr>
            </a:pPr>
            <a:r>
              <a:rPr sz="1350" b="0">
                <a:solidFill>
                  <a:srgbClr val="B7C5D7"/>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8490559A-AE1E-4988-B61F-FD4E9E082159}"/>
              </a:ext>
            </a:extLst>
          </p:cNvPr>
          <p:cNvSpPr>
            <a:spLocks xmlns:a="http://schemas.openxmlformats.org/drawingml/2006/main" noGrp="1"/>
          </p:cNvSpPr>
          <p:nvPr/>
        </p:nvSpPr>
        <p:spPr>
          <a:xfrm xmlns:a="http://schemas.openxmlformats.org/drawingml/2006/main">
            <a:off x="571500" y="152400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5EE3EE"/>
                </a:solidFill>
                <a:latin typeface="Helvetica Neue"/>
                <a:ea typeface="Helvetica Neue"/>
                <a:cs typeface="Helvetica Neue"/>
              </a:defRPr>
            </a:pPr>
            <a:r>
              <a:rPr sz="2175" b="1">
                <a:solidFill>
                  <a:srgbClr val="5EE3EE"/>
                </a:solidFill>
                <a:latin typeface="Helvetica Neue"/>
                <a:ea typeface="Helvetica Neue"/>
                <a:cs typeface="Helvetica Neue"/>
              </a:rPr>
              <a:t>Web applications</a:t>
            </a:r>
          </a:p>
        </p:txBody>
      </p:sp>
      <p:sp>
        <p:nvSpPr>
          <p:cNvPr id="5" name="">
            <a:extLst xmlns:a="http://schemas.openxmlformats.org/drawingml/2006/main">
              <a:ext uri="{FF2B5EF4-FFF2-40B4-BE49-F238E27FC236}">
                <a16:creationId xmlns:a16="http://schemas.microsoft.com/office/drawing/2014/main" id="{3EEFDF3A-87F2-487E-9B8C-FE6BD3F2E986}"/>
              </a:ext>
            </a:extLst>
          </p:cNvPr>
          <p:cNvSpPr>
            <a:spLocks xmlns:a="http://schemas.openxmlformats.org/drawingml/2006/main" noGrp="1"/>
          </p:cNvSpPr>
          <p:nvPr/>
        </p:nvSpPr>
        <p:spPr>
          <a:xfrm xmlns:a="http://schemas.openxmlformats.org/drawingml/2006/main">
            <a:off x="4000500" y="1524000"/>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F3F6FA"/>
                </a:solidFill>
                <a:latin typeface="Helvetica Neue"/>
                <a:ea typeface="Helvetica Neue"/>
                <a:cs typeface="Helvetica Neue"/>
              </a:defRPr>
            </a:pPr>
            <a:r>
              <a:rPr sz="2175" b="0">
                <a:solidFill>
                  <a:srgbClr val="F3F6FA"/>
                </a:solidFill>
                <a:latin typeface="Helvetica Neue"/>
                <a:ea typeface="Helvetica Neue"/>
                <a:cs typeface="Helvetica Neue"/>
              </a:rPr>
              <a:t>Test approved routes, APIs, account roles, and business rules.</a:t>
            </a:r>
          </a:p>
        </p:txBody>
      </p:sp>
      <p:sp>
        <p:nvSpPr>
          <p:cNvPr id="6" name="">
            <a:extLst xmlns:a="http://schemas.openxmlformats.org/drawingml/2006/main">
              <a:ext uri="{FF2B5EF4-FFF2-40B4-BE49-F238E27FC236}">
                <a16:creationId xmlns:a16="http://schemas.microsoft.com/office/drawing/2014/main" id="{674BFF0D-9C9C-4E43-85B4-BD51FDF0670C}"/>
              </a:ext>
            </a:extLst>
          </p:cNvPr>
          <p:cNvSpPr>
            <a:spLocks xmlns:a="http://schemas.openxmlformats.org/drawingml/2006/main" noGrp="1"/>
          </p:cNvSpPr>
          <p:nvPr/>
        </p:nvSpPr>
        <p:spPr>
          <a:xfrm xmlns:a="http://schemas.openxmlformats.org/drawingml/2006/main">
            <a:off x="571500" y="285750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5EE3EE"/>
                </a:solidFill>
                <a:latin typeface="Helvetica Neue"/>
                <a:ea typeface="Helvetica Neue"/>
                <a:cs typeface="Helvetica Neue"/>
              </a:defRPr>
            </a:pPr>
            <a:r>
              <a:rPr sz="2175" b="1">
                <a:solidFill>
                  <a:srgbClr val="5EE3EE"/>
                </a:solidFill>
                <a:latin typeface="Helvetica Neue"/>
                <a:ea typeface="Helvetica Neue"/>
                <a:cs typeface="Helvetica Neue"/>
              </a:rPr>
              <a:t>AI applications</a:t>
            </a:r>
          </a:p>
        </p:txBody>
      </p:sp>
      <p:sp>
        <p:nvSpPr>
          <p:cNvPr id="7" name="">
            <a:extLst xmlns:a="http://schemas.openxmlformats.org/drawingml/2006/main">
              <a:ext uri="{FF2B5EF4-FFF2-40B4-BE49-F238E27FC236}">
                <a16:creationId xmlns:a16="http://schemas.microsoft.com/office/drawing/2014/main" id="{39EF8403-0DDB-4D01-B86A-A2867D4E50BA}"/>
              </a:ext>
            </a:extLst>
          </p:cNvPr>
          <p:cNvSpPr>
            <a:spLocks xmlns:a="http://schemas.openxmlformats.org/drawingml/2006/main" noGrp="1"/>
          </p:cNvSpPr>
          <p:nvPr/>
        </p:nvSpPr>
        <p:spPr>
          <a:xfrm xmlns:a="http://schemas.openxmlformats.org/drawingml/2006/main">
            <a:off x="4000500" y="2857500"/>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F3F6FA"/>
                </a:solidFill>
                <a:latin typeface="Helvetica Neue"/>
                <a:ea typeface="Helvetica Neue"/>
                <a:cs typeface="Helvetica Neue"/>
              </a:defRPr>
            </a:pPr>
            <a:r>
              <a:rPr sz="2175" b="0">
                <a:solidFill>
                  <a:srgbClr val="F3F6FA"/>
                </a:solidFill>
                <a:latin typeface="Helvetica Neue"/>
                <a:ea typeface="Helvetica Neue"/>
                <a:cs typeface="Helvetica Neue"/>
              </a:rPr>
              <a:t>Test the AI feature, retrieved data, and output consumers.</a:t>
            </a:r>
          </a:p>
        </p:txBody>
      </p:sp>
      <p:sp>
        <p:nvSpPr>
          <p:cNvPr id="8" name="">
            <a:extLst xmlns:a="http://schemas.openxmlformats.org/drawingml/2006/main">
              <a:ext uri="{FF2B5EF4-FFF2-40B4-BE49-F238E27FC236}">
                <a16:creationId xmlns:a16="http://schemas.microsoft.com/office/drawing/2014/main" id="{FD42A157-FB77-40DB-BFCF-36123D11AA9D}"/>
              </a:ext>
            </a:extLst>
          </p:cNvPr>
          <p:cNvSpPr>
            <a:spLocks xmlns:a="http://schemas.openxmlformats.org/drawingml/2006/main" noGrp="1"/>
          </p:cNvSpPr>
          <p:nvPr/>
        </p:nvSpPr>
        <p:spPr>
          <a:xfrm xmlns:a="http://schemas.openxmlformats.org/drawingml/2006/main">
            <a:off x="571500" y="419100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5EE3EE"/>
                </a:solidFill>
                <a:latin typeface="Helvetica Neue"/>
                <a:ea typeface="Helvetica Neue"/>
                <a:cs typeface="Helvetica Neue"/>
              </a:defRPr>
            </a:pPr>
            <a:r>
              <a:rPr sz="2175" b="1">
                <a:solidFill>
                  <a:srgbClr val="5EE3EE"/>
                </a:solidFill>
                <a:latin typeface="Helvetica Neue"/>
                <a:ea typeface="Helvetica Neue"/>
                <a:cs typeface="Helvetica Neue"/>
              </a:rPr>
              <a:t>AI agents</a:t>
            </a:r>
          </a:p>
        </p:txBody>
      </p:sp>
      <p:sp>
        <p:nvSpPr>
          <p:cNvPr id="9" name="">
            <a:extLst xmlns:a="http://schemas.openxmlformats.org/drawingml/2006/main">
              <a:ext uri="{FF2B5EF4-FFF2-40B4-BE49-F238E27FC236}">
                <a16:creationId xmlns:a16="http://schemas.microsoft.com/office/drawing/2014/main" id="{0B52EBC1-E8DD-4087-BB03-BC451872E002}"/>
              </a:ext>
            </a:extLst>
          </p:cNvPr>
          <p:cNvSpPr>
            <a:spLocks xmlns:a="http://schemas.openxmlformats.org/drawingml/2006/main" noGrp="1"/>
          </p:cNvSpPr>
          <p:nvPr/>
        </p:nvSpPr>
        <p:spPr>
          <a:xfrm xmlns:a="http://schemas.openxmlformats.org/drawingml/2006/main">
            <a:off x="4000500" y="4191000"/>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F3F6FA"/>
                </a:solidFill>
                <a:latin typeface="Helvetica Neue"/>
                <a:ea typeface="Helvetica Neue"/>
                <a:cs typeface="Helvetica Neue"/>
              </a:defRPr>
            </a:pPr>
            <a:r>
              <a:rPr sz="2175" b="0">
                <a:solidFill>
                  <a:srgbClr val="F3F6FA"/>
                </a:solidFill>
                <a:latin typeface="Helvetica Neue"/>
                <a:ea typeface="Helvetica Neue"/>
                <a:cs typeface="Helvetica Neue"/>
              </a:rPr>
              <a:t>Test tool permissions, approval rules, and actual actions.</a:t>
            </a:r>
          </a:p>
        </p:txBody>
      </p:sp>
      <p:sp>
        <p:nvSpPr>
          <p:cNvPr id="10" name="">
            <a:extLst xmlns:a="http://schemas.openxmlformats.org/drawingml/2006/main">
              <a:ext uri="{FF2B5EF4-FFF2-40B4-BE49-F238E27FC236}">
                <a16:creationId xmlns:a16="http://schemas.microsoft.com/office/drawing/2014/main" id="{3A4B4038-88A3-4243-8BDB-C40AB984951E}"/>
              </a:ext>
            </a:extLst>
          </p:cNvPr>
          <p:cNvSpPr>
            <a:spLocks xmlns:a="http://schemas.openxmlformats.org/drawingml/2006/main" noGrp="1"/>
          </p:cNvSpPr>
          <p:nvPr/>
        </p:nvSpPr>
        <p:spPr>
          <a:xfrm xmlns:a="http://schemas.openxmlformats.org/drawingml/2006/main">
            <a:off x="571500" y="5734050"/>
            <a:ext cx="1076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FFD080"/>
                </a:solidFill>
                <a:latin typeface="Helvetica Neue"/>
                <a:ea typeface="Helvetica Neue"/>
                <a:cs typeface="Helvetica Neue"/>
              </a:defRPr>
            </a:pPr>
            <a:r>
              <a:rPr sz="2100" b="0">
                <a:solidFill>
                  <a:srgbClr val="FFD080"/>
                </a:solidFill>
                <a:latin typeface="Helvetica Neue"/>
                <a:ea typeface="Helvetica Neue"/>
                <a:cs typeface="Helvetica Neue"/>
              </a:rPr>
              <a:t>Use the AI profiles only when those target features are in scope.</a:t>
            </a:r>
          </a:p>
        </p:txBody>
      </p:sp>
    </p:spTree>
    <p:extLst>
      <p:ext uri="{BB962C8B-B14F-4D97-AF65-F5344CB8AC3E}">
        <p14:creationId xmlns:p14="http://schemas.microsoft.com/office/powerpoint/2010/main" val="142537641"/>
      </p:ext>
    </p:extLst>
  </p:cSld>
</p:sld>
</file>

<file path=ppt/slides/slide3.xml><?xml version="1.0" encoding="utf-8"?>
<p:sld xmlns:p="http://schemas.openxmlformats.org/presentationml/2006/main">
  <p:cSld>
    <p:bg>
      <p:bgPr>
        <a:solidFill xmlns:a="http://schemas.openxmlformats.org/drawingml/2006/main">
          <a:srgbClr val="0D1726"/>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7CC191C-E31E-4D03-AFD4-FDA1AEAA5268}"/>
              </a:ext>
            </a:extLst>
          </p:cNvPr>
          <p:cNvSpPr>
            <a:spLocks xmlns:a="http://schemas.openxmlformats.org/drawingml/2006/main" noGrp="1"/>
          </p:cNvSpPr>
          <p:nvPr/>
        </p:nvSpPr>
        <p:spPr>
          <a:xfrm xmlns:a="http://schemas.openxmlformats.org/drawingml/2006/main">
            <a:off x="571500" y="4000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F3F6FA"/>
                </a:solidFill>
                <a:latin typeface="Helvetica Neue"/>
                <a:ea typeface="Helvetica Neue"/>
                <a:cs typeface="Helvetica Neue"/>
              </a:defRPr>
            </a:pPr>
            <a:r>
              <a:rPr sz="3225" b="1">
                <a:solidFill>
                  <a:srgbClr val="F3F6FA"/>
                </a:solidFill>
                <a:latin typeface="Helvetica Neue"/>
                <a:ea typeface="Helvetica Neue"/>
                <a:cs typeface="Helvetica Neue"/>
              </a:rPr>
              <a:t>Web application scope</a:t>
            </a:r>
          </a:p>
        </p:txBody>
      </p:sp>
      <p:sp>
        <p:nvSpPr>
          <p:cNvPr id="2" name="">
            <a:extLst xmlns:a="http://schemas.openxmlformats.org/drawingml/2006/main">
              <a:ext uri="{FF2B5EF4-FFF2-40B4-BE49-F238E27FC236}">
                <a16:creationId xmlns:a16="http://schemas.microsoft.com/office/drawing/2014/main" id="{4BF19543-1FED-4734-9438-B4A807C68DB5}"/>
              </a:ext>
            </a:extLst>
          </p:cNvPr>
          <p:cNvSpPr>
            <a:spLocks xmlns:a="http://schemas.openxmlformats.org/drawingml/2006/main" noGrp="1"/>
          </p:cNvSpPr>
          <p:nvPr/>
        </p:nvSpPr>
        <p:spPr>
          <a:xfrm xmlns:a="http://schemas.openxmlformats.org/drawingml/2006/main">
            <a:off x="571500" y="6400800"/>
            <a:ext cx="523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B7C5D7"/>
                </a:solidFill>
                <a:latin typeface="Helvetica Neue"/>
                <a:ea typeface="Helvetica Neue"/>
                <a:cs typeface="Helvetica Neue"/>
              </a:defRPr>
            </a:pPr>
            <a:r>
              <a:rPr sz="1350" b="0">
                <a:solidFill>
                  <a:srgbClr val="B7C5D7"/>
                </a:solidFill>
                <a:latin typeface="Helvetica Neue"/>
                <a:ea typeface="Helvetica Neue"/>
                <a:cs typeface="Helvetica Neue"/>
              </a:rPr>
              <a:t>Proposed test design</a:t>
            </a:r>
          </a:p>
        </p:txBody>
      </p:sp>
      <p:sp>
        <p:nvSpPr>
          <p:cNvPr id="3" name="">
            <a:extLst xmlns:a="http://schemas.openxmlformats.org/drawingml/2006/main">
              <a:ext uri="{FF2B5EF4-FFF2-40B4-BE49-F238E27FC236}">
                <a16:creationId xmlns:a16="http://schemas.microsoft.com/office/drawing/2014/main" id="{56761D0B-D4E3-45A4-AB5B-E9CC44A12B44}"/>
              </a:ext>
            </a:extLst>
          </p:cNvPr>
          <p:cNvSpPr>
            <a:spLocks xmlns:a="http://schemas.openxmlformats.org/drawingml/2006/main" noGrp="1"/>
          </p:cNvSpPr>
          <p:nvPr/>
        </p:nvSpPr>
        <p:spPr>
          <a:xfrm xmlns:a="http://schemas.openxmlformats.org/drawingml/2006/main">
            <a:off x="11334750" y="64008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B7C5D7"/>
                </a:solidFill>
                <a:latin typeface="Helvetica Neue"/>
                <a:ea typeface="Helvetica Neue"/>
                <a:cs typeface="Helvetica Neue"/>
              </a:defRPr>
            </a:pPr>
            <a:r>
              <a:rPr sz="1350" b="0">
                <a:solidFill>
                  <a:srgbClr val="B7C5D7"/>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42DAB8E1-AE66-4719-8CAB-F362A484D06B}"/>
              </a:ext>
            </a:extLst>
          </p:cNvPr>
          <p:cNvSpPr>
            <a:spLocks xmlns:a="http://schemas.openxmlformats.org/drawingml/2006/main" noGrp="1"/>
          </p:cNvSpPr>
          <p:nvPr/>
        </p:nvSpPr>
        <p:spPr>
          <a:xfrm xmlns:a="http://schemas.openxmlformats.org/drawingml/2006/main">
            <a:off x="571500" y="1476375"/>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5EE3EE"/>
                </a:solidFill>
                <a:latin typeface="Helvetica Neue"/>
                <a:ea typeface="Helvetica Neue"/>
                <a:cs typeface="Helvetica Neue"/>
              </a:defRPr>
            </a:pPr>
            <a:r>
              <a:rPr sz="2175" b="1">
                <a:solidFill>
                  <a:srgbClr val="5EE3EE"/>
                </a:solidFill>
                <a:latin typeface="Helvetica Neue"/>
                <a:ea typeface="Helvetica Neue"/>
                <a:cs typeface="Helvetica Neue"/>
              </a:rPr>
              <a:t>Approved target</a:t>
            </a:r>
          </a:p>
        </p:txBody>
      </p:sp>
      <p:sp>
        <p:nvSpPr>
          <p:cNvPr id="5" name="">
            <a:extLst xmlns:a="http://schemas.openxmlformats.org/drawingml/2006/main">
              <a:ext uri="{FF2B5EF4-FFF2-40B4-BE49-F238E27FC236}">
                <a16:creationId xmlns:a16="http://schemas.microsoft.com/office/drawing/2014/main" id="{B9DFE4FE-38EE-4237-9BE5-57DCFE69545A}"/>
              </a:ext>
            </a:extLst>
          </p:cNvPr>
          <p:cNvSpPr>
            <a:spLocks xmlns:a="http://schemas.openxmlformats.org/drawingml/2006/main" noGrp="1"/>
          </p:cNvSpPr>
          <p:nvPr/>
        </p:nvSpPr>
        <p:spPr>
          <a:xfrm xmlns:a="http://schemas.openxmlformats.org/drawingml/2006/main">
            <a:off x="4000500" y="1476375"/>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F3F6FA"/>
                </a:solidFill>
                <a:latin typeface="Helvetica Neue"/>
                <a:ea typeface="Helvetica Neue"/>
                <a:cs typeface="Helvetica Neue"/>
              </a:defRPr>
            </a:pPr>
            <a:r>
              <a:rPr sz="2175" b="0">
                <a:solidFill>
                  <a:srgbClr val="F3F6FA"/>
                </a:solidFill>
                <a:latin typeface="Helvetica Neue"/>
                <a:ea typeface="Helvetica Neue"/>
                <a:cs typeface="Helvetica Neue"/>
              </a:rPr>
              <a:t>One hostname and a small set of routes. Record methods and inputs.</a:t>
            </a:r>
          </a:p>
        </p:txBody>
      </p:sp>
      <p:sp>
        <p:nvSpPr>
          <p:cNvPr id="6" name="">
            <a:extLst xmlns:a="http://schemas.openxmlformats.org/drawingml/2006/main">
              <a:ext uri="{FF2B5EF4-FFF2-40B4-BE49-F238E27FC236}">
                <a16:creationId xmlns:a16="http://schemas.microsoft.com/office/drawing/2014/main" id="{26A27C80-14B3-4520-8366-C35AEE67CF0B}"/>
              </a:ext>
            </a:extLst>
          </p:cNvPr>
          <p:cNvSpPr>
            <a:spLocks xmlns:a="http://schemas.openxmlformats.org/drawingml/2006/main" noGrp="1"/>
          </p:cNvSpPr>
          <p:nvPr/>
        </p:nvSpPr>
        <p:spPr>
          <a:xfrm xmlns:a="http://schemas.openxmlformats.org/drawingml/2006/main">
            <a:off x="571500" y="2714625"/>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5EE3EE"/>
                </a:solidFill>
                <a:latin typeface="Helvetica Neue"/>
                <a:ea typeface="Helvetica Neue"/>
                <a:cs typeface="Helvetica Neue"/>
              </a:defRPr>
            </a:pPr>
            <a:r>
              <a:rPr sz="2175" b="1">
                <a:solidFill>
                  <a:srgbClr val="5EE3EE"/>
                </a:solidFill>
                <a:latin typeface="Helvetica Neue"/>
                <a:ea typeface="Helvetica Neue"/>
                <a:cs typeface="Helvetica Neue"/>
              </a:rPr>
              <a:t>Test identities</a:t>
            </a:r>
          </a:p>
        </p:txBody>
      </p:sp>
      <p:sp>
        <p:nvSpPr>
          <p:cNvPr id="7" name="">
            <a:extLst xmlns:a="http://schemas.openxmlformats.org/drawingml/2006/main">
              <a:ext uri="{FF2B5EF4-FFF2-40B4-BE49-F238E27FC236}">
                <a16:creationId xmlns:a16="http://schemas.microsoft.com/office/drawing/2014/main" id="{E1C43173-B4A1-4409-91AC-9A5E1FE236EF}"/>
              </a:ext>
            </a:extLst>
          </p:cNvPr>
          <p:cNvSpPr>
            <a:spLocks xmlns:a="http://schemas.openxmlformats.org/drawingml/2006/main" noGrp="1"/>
          </p:cNvSpPr>
          <p:nvPr/>
        </p:nvSpPr>
        <p:spPr>
          <a:xfrm xmlns:a="http://schemas.openxmlformats.org/drawingml/2006/main">
            <a:off x="4000500" y="2714625"/>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F3F6FA"/>
                </a:solidFill>
                <a:latin typeface="Helvetica Neue"/>
                <a:ea typeface="Helvetica Neue"/>
                <a:cs typeface="Helvetica Neue"/>
              </a:defRPr>
            </a:pPr>
            <a:r>
              <a:rPr sz="2175" b="0">
                <a:solidFill>
                  <a:srgbClr val="F3F6FA"/>
                </a:solidFill>
                <a:latin typeface="Helvetica Neue"/>
                <a:ea typeface="Helvetica Neue"/>
                <a:cs typeface="Helvetica Neue"/>
              </a:rPr>
              <a:t>Separate user and administrator accounts. Define expected permissions.</a:t>
            </a:r>
          </a:p>
        </p:txBody>
      </p:sp>
      <p:sp>
        <p:nvSpPr>
          <p:cNvPr id="8" name="">
            <a:extLst xmlns:a="http://schemas.openxmlformats.org/drawingml/2006/main">
              <a:ext uri="{FF2B5EF4-FFF2-40B4-BE49-F238E27FC236}">
                <a16:creationId xmlns:a16="http://schemas.microsoft.com/office/drawing/2014/main" id="{13282444-D638-43AF-8AEE-0680A73F01E0}"/>
              </a:ext>
            </a:extLst>
          </p:cNvPr>
          <p:cNvSpPr>
            <a:spLocks xmlns:a="http://schemas.openxmlformats.org/drawingml/2006/main" noGrp="1"/>
          </p:cNvSpPr>
          <p:nvPr/>
        </p:nvSpPr>
        <p:spPr>
          <a:xfrm xmlns:a="http://schemas.openxmlformats.org/drawingml/2006/main">
            <a:off x="571500" y="3952875"/>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5EE3EE"/>
                </a:solidFill>
                <a:latin typeface="Helvetica Neue"/>
                <a:ea typeface="Helvetica Neue"/>
                <a:cs typeface="Helvetica Neue"/>
              </a:defRPr>
            </a:pPr>
            <a:r>
              <a:rPr sz="2175" b="1">
                <a:solidFill>
                  <a:srgbClr val="5EE3EE"/>
                </a:solidFill>
                <a:latin typeface="Helvetica Neue"/>
                <a:ea typeface="Helvetica Neue"/>
                <a:cs typeface="Helvetica Neue"/>
              </a:rPr>
              <a:t>Normal requests</a:t>
            </a:r>
          </a:p>
        </p:txBody>
      </p:sp>
      <p:sp>
        <p:nvSpPr>
          <p:cNvPr id="9" name="">
            <a:extLst xmlns:a="http://schemas.openxmlformats.org/drawingml/2006/main">
              <a:ext uri="{FF2B5EF4-FFF2-40B4-BE49-F238E27FC236}">
                <a16:creationId xmlns:a16="http://schemas.microsoft.com/office/drawing/2014/main" id="{12E9F818-37B1-4EE4-BC8C-084F2C503933}"/>
              </a:ext>
            </a:extLst>
          </p:cNvPr>
          <p:cNvSpPr>
            <a:spLocks xmlns:a="http://schemas.openxmlformats.org/drawingml/2006/main" noGrp="1"/>
          </p:cNvSpPr>
          <p:nvPr/>
        </p:nvSpPr>
        <p:spPr>
          <a:xfrm xmlns:a="http://schemas.openxmlformats.org/drawingml/2006/main">
            <a:off x="4000500" y="3952875"/>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F3F6FA"/>
                </a:solidFill>
                <a:latin typeface="Helvetica Neue"/>
                <a:ea typeface="Helvetica Neue"/>
                <a:cs typeface="Helvetica Neue"/>
              </a:defRPr>
            </a:pPr>
            <a:r>
              <a:rPr sz="2175" b="0">
                <a:solidFill>
                  <a:srgbClr val="F3F6FA"/>
                </a:solidFill>
                <a:latin typeface="Helvetica Neue"/>
                <a:ea typeface="Helvetica Neue"/>
                <a:cs typeface="Helvetica Neue"/>
              </a:rPr>
              <a:t>Check the baseline before active cases. Stop if normal requests fail.</a:t>
            </a:r>
          </a:p>
        </p:txBody>
      </p:sp>
      <p:sp>
        <p:nvSpPr>
          <p:cNvPr id="10" name="">
            <a:extLst xmlns:a="http://schemas.openxmlformats.org/drawingml/2006/main">
              <a:ext uri="{FF2B5EF4-FFF2-40B4-BE49-F238E27FC236}">
                <a16:creationId xmlns:a16="http://schemas.microsoft.com/office/drawing/2014/main" id="{5B031A03-E9CC-4089-A5EA-29319828F617}"/>
              </a:ext>
            </a:extLst>
          </p:cNvPr>
          <p:cNvSpPr>
            <a:spLocks xmlns:a="http://schemas.openxmlformats.org/drawingml/2006/main" noGrp="1"/>
          </p:cNvSpPr>
          <p:nvPr/>
        </p:nvSpPr>
        <p:spPr>
          <a:xfrm xmlns:a="http://schemas.openxmlformats.org/drawingml/2006/main">
            <a:off x="571500" y="5553075"/>
            <a:ext cx="1076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FFD080"/>
                </a:solidFill>
                <a:latin typeface="Helvetica Neue"/>
                <a:ea typeface="Helvetica Neue"/>
                <a:cs typeface="Helvetica Neue"/>
              </a:defRPr>
            </a:pPr>
            <a:r>
              <a:rPr sz="2100" b="0">
                <a:solidFill>
                  <a:srgbClr val="FFD080"/>
                </a:solidFill>
                <a:latin typeface="Helvetica Neue"/>
                <a:ea typeface="Helvetica Neue"/>
                <a:cs typeface="Helvetica Neue"/>
              </a:rPr>
              <a:t>The current collector supports unauthenticated GET-query tests only.</a:t>
            </a:r>
          </a:p>
        </p:txBody>
      </p:sp>
    </p:spTree>
    <p:extLst>
      <p:ext uri="{BB962C8B-B14F-4D97-AF65-F5344CB8AC3E}">
        <p14:creationId xmlns:p14="http://schemas.microsoft.com/office/powerpoint/2010/main" val="525663289"/>
      </p:ext>
    </p:extLst>
  </p:cSld>
</p:sld>
</file>

<file path=ppt/slides/slide4.xml><?xml version="1.0" encoding="utf-8"?>
<p:sld xmlns:p="http://schemas.openxmlformats.org/presentationml/2006/main">
  <p:cSld>
    <p:bg>
      <p:bgPr>
        <a:solidFill xmlns:a="http://schemas.openxmlformats.org/drawingml/2006/main">
          <a:srgbClr val="0D1726"/>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65695ED-ADA8-4E5E-8C81-8999C1589469}"/>
              </a:ext>
            </a:extLst>
          </p:cNvPr>
          <p:cNvSpPr>
            <a:spLocks xmlns:a="http://schemas.openxmlformats.org/drawingml/2006/main" noGrp="1"/>
          </p:cNvSpPr>
          <p:nvPr/>
        </p:nvSpPr>
        <p:spPr>
          <a:xfrm xmlns:a="http://schemas.openxmlformats.org/drawingml/2006/main">
            <a:off x="571500" y="4000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F3F6FA"/>
                </a:solidFill>
                <a:latin typeface="Helvetica Neue"/>
                <a:ea typeface="Helvetica Neue"/>
                <a:cs typeface="Helvetica Neue"/>
              </a:defRPr>
            </a:pPr>
            <a:r>
              <a:rPr sz="3225" b="1">
                <a:solidFill>
                  <a:srgbClr val="F3F6FA"/>
                </a:solidFill>
                <a:latin typeface="Helvetica Neue"/>
                <a:ea typeface="Helvetica Neue"/>
                <a:cs typeface="Helvetica Neue"/>
              </a:rPr>
              <a:t>Web and API test cases</a:t>
            </a:r>
          </a:p>
        </p:txBody>
      </p:sp>
      <p:sp>
        <p:nvSpPr>
          <p:cNvPr id="2" name="">
            <a:extLst xmlns:a="http://schemas.openxmlformats.org/drawingml/2006/main">
              <a:ext uri="{FF2B5EF4-FFF2-40B4-BE49-F238E27FC236}">
                <a16:creationId xmlns:a16="http://schemas.microsoft.com/office/drawing/2014/main" id="{3F3AF6B9-00EB-455C-A877-7676CD6AD159}"/>
              </a:ext>
            </a:extLst>
          </p:cNvPr>
          <p:cNvSpPr>
            <a:spLocks xmlns:a="http://schemas.openxmlformats.org/drawingml/2006/main" noGrp="1"/>
          </p:cNvSpPr>
          <p:nvPr/>
        </p:nvSpPr>
        <p:spPr>
          <a:xfrm xmlns:a="http://schemas.openxmlformats.org/drawingml/2006/main">
            <a:off x="571500" y="6400800"/>
            <a:ext cx="523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B7C5D7"/>
                </a:solidFill>
                <a:latin typeface="Helvetica Neue"/>
                <a:ea typeface="Helvetica Neue"/>
                <a:cs typeface="Helvetica Neue"/>
              </a:defRPr>
            </a:pPr>
            <a:r>
              <a:rPr sz="1350" b="0">
                <a:solidFill>
                  <a:srgbClr val="B7C5D7"/>
                </a:solidFill>
                <a:latin typeface="Helvetica Neue"/>
                <a:ea typeface="Helvetica Neue"/>
                <a:cs typeface="Helvetica Neue"/>
              </a:rPr>
              <a:t>Proposed test design</a:t>
            </a:r>
          </a:p>
        </p:txBody>
      </p:sp>
      <p:sp>
        <p:nvSpPr>
          <p:cNvPr id="3" name="">
            <a:extLst xmlns:a="http://schemas.openxmlformats.org/drawingml/2006/main">
              <a:ext uri="{FF2B5EF4-FFF2-40B4-BE49-F238E27FC236}">
                <a16:creationId xmlns:a16="http://schemas.microsoft.com/office/drawing/2014/main" id="{3DC0FF4F-2141-4397-8B16-2449EE106756}"/>
              </a:ext>
            </a:extLst>
          </p:cNvPr>
          <p:cNvSpPr>
            <a:spLocks xmlns:a="http://schemas.openxmlformats.org/drawingml/2006/main" noGrp="1"/>
          </p:cNvSpPr>
          <p:nvPr/>
        </p:nvSpPr>
        <p:spPr>
          <a:xfrm xmlns:a="http://schemas.openxmlformats.org/drawingml/2006/main">
            <a:off x="11334750" y="64008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B7C5D7"/>
                </a:solidFill>
                <a:latin typeface="Helvetica Neue"/>
                <a:ea typeface="Helvetica Neue"/>
                <a:cs typeface="Helvetica Neue"/>
              </a:defRPr>
            </a:pPr>
            <a:r>
              <a:rPr sz="1350" b="0">
                <a:solidFill>
                  <a:srgbClr val="B7C5D7"/>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5F81A024-49CB-4BB5-B466-0A4CE016B410}"/>
              </a:ext>
            </a:extLst>
          </p:cNvPr>
          <p:cNvSpPr>
            <a:spLocks xmlns:a="http://schemas.openxmlformats.org/drawingml/2006/main" noGrp="1"/>
          </p:cNvSpPr>
          <p:nvPr/>
        </p:nvSpPr>
        <p:spPr>
          <a:xfrm xmlns:a="http://schemas.openxmlformats.org/drawingml/2006/main">
            <a:off x="571500" y="142875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5EE3EE"/>
                </a:solidFill>
                <a:latin typeface="Helvetica Neue"/>
                <a:ea typeface="Helvetica Neue"/>
                <a:cs typeface="Helvetica Neue"/>
              </a:defRPr>
            </a:pPr>
            <a:r>
              <a:rPr sz="2175" b="1">
                <a:solidFill>
                  <a:srgbClr val="5EE3EE"/>
                </a:solidFill>
                <a:latin typeface="Helvetica Neue"/>
                <a:ea typeface="Helvetica Neue"/>
                <a:cs typeface="Helvetica Neue"/>
              </a:rPr>
              <a:t>Record ownership</a:t>
            </a:r>
          </a:p>
        </p:txBody>
      </p:sp>
      <p:sp>
        <p:nvSpPr>
          <p:cNvPr id="5" name="">
            <a:extLst xmlns:a="http://schemas.openxmlformats.org/drawingml/2006/main">
              <a:ext uri="{FF2B5EF4-FFF2-40B4-BE49-F238E27FC236}">
                <a16:creationId xmlns:a16="http://schemas.microsoft.com/office/drawing/2014/main" id="{53ECF1B2-B942-4AFD-8331-8A8433FE3464}"/>
              </a:ext>
            </a:extLst>
          </p:cNvPr>
          <p:cNvSpPr>
            <a:spLocks xmlns:a="http://schemas.openxmlformats.org/drawingml/2006/main" noGrp="1"/>
          </p:cNvSpPr>
          <p:nvPr/>
        </p:nvSpPr>
        <p:spPr>
          <a:xfrm xmlns:a="http://schemas.openxmlformats.org/drawingml/2006/main">
            <a:off x="4000500" y="1428750"/>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F3F6FA"/>
                </a:solidFill>
                <a:latin typeface="Helvetica Neue"/>
                <a:ea typeface="Helvetica Neue"/>
                <a:cs typeface="Helvetica Neue"/>
              </a:defRPr>
            </a:pPr>
            <a:r>
              <a:rPr sz="2175" b="0">
                <a:solidFill>
                  <a:srgbClr val="F3F6FA"/>
                </a:solidFill>
                <a:latin typeface="Helvetica Neue"/>
                <a:ea typeface="Helvetica Neue"/>
                <a:cs typeface="Helvetica Neue"/>
              </a:rPr>
              <a:t>Alice can read her record. The application denies access to Bob’s record.</a:t>
            </a:r>
          </a:p>
        </p:txBody>
      </p:sp>
      <p:sp>
        <p:nvSpPr>
          <p:cNvPr id="6" name="">
            <a:extLst xmlns:a="http://schemas.openxmlformats.org/drawingml/2006/main">
              <a:ext uri="{FF2B5EF4-FFF2-40B4-BE49-F238E27FC236}">
                <a16:creationId xmlns:a16="http://schemas.microsoft.com/office/drawing/2014/main" id="{E870E651-5713-43B5-A9A4-0827A2913609}"/>
              </a:ext>
            </a:extLst>
          </p:cNvPr>
          <p:cNvSpPr>
            <a:spLocks xmlns:a="http://schemas.openxmlformats.org/drawingml/2006/main" noGrp="1"/>
          </p:cNvSpPr>
          <p:nvPr/>
        </p:nvSpPr>
        <p:spPr>
          <a:xfrm xmlns:a="http://schemas.openxmlformats.org/drawingml/2006/main">
            <a:off x="571500" y="245745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5EE3EE"/>
                </a:solidFill>
                <a:latin typeface="Helvetica Neue"/>
                <a:ea typeface="Helvetica Neue"/>
                <a:cs typeface="Helvetica Neue"/>
              </a:defRPr>
            </a:pPr>
            <a:r>
              <a:rPr sz="2175" b="1">
                <a:solidFill>
                  <a:srgbClr val="5EE3EE"/>
                </a:solidFill>
                <a:latin typeface="Helvetica Neue"/>
                <a:ea typeface="Helvetica Neue"/>
                <a:cs typeface="Helvetica Neue"/>
              </a:rPr>
              <a:t>Role permissions</a:t>
            </a:r>
          </a:p>
        </p:txBody>
      </p:sp>
      <p:sp>
        <p:nvSpPr>
          <p:cNvPr id="7" name="">
            <a:extLst xmlns:a="http://schemas.openxmlformats.org/drawingml/2006/main">
              <a:ext uri="{FF2B5EF4-FFF2-40B4-BE49-F238E27FC236}">
                <a16:creationId xmlns:a16="http://schemas.microsoft.com/office/drawing/2014/main" id="{947798A2-6B1C-4F3E-A223-71A312D1751F}"/>
              </a:ext>
            </a:extLst>
          </p:cNvPr>
          <p:cNvSpPr>
            <a:spLocks xmlns:a="http://schemas.openxmlformats.org/drawingml/2006/main" noGrp="1"/>
          </p:cNvSpPr>
          <p:nvPr/>
        </p:nvSpPr>
        <p:spPr>
          <a:xfrm xmlns:a="http://schemas.openxmlformats.org/drawingml/2006/main">
            <a:off x="4000500" y="2457450"/>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F3F6FA"/>
                </a:solidFill>
                <a:latin typeface="Helvetica Neue"/>
                <a:ea typeface="Helvetica Neue"/>
                <a:cs typeface="Helvetica Neue"/>
              </a:defRPr>
            </a:pPr>
            <a:r>
              <a:rPr sz="2175" b="0">
                <a:solidFill>
                  <a:srgbClr val="F3F6FA"/>
                </a:solidFill>
                <a:latin typeface="Helvetica Neue"/>
                <a:ea typeface="Helvetica Neue"/>
                <a:cs typeface="Helvetica Neue"/>
              </a:rPr>
              <a:t>Compare permitted and forbidden functions. Check actual effects.</a:t>
            </a:r>
          </a:p>
        </p:txBody>
      </p:sp>
      <p:sp>
        <p:nvSpPr>
          <p:cNvPr id="8" name="">
            <a:extLst xmlns:a="http://schemas.openxmlformats.org/drawingml/2006/main">
              <a:ext uri="{FF2B5EF4-FFF2-40B4-BE49-F238E27FC236}">
                <a16:creationId xmlns:a16="http://schemas.microsoft.com/office/drawing/2014/main" id="{9129B10C-85F7-4CE3-9219-4AA1A491DD68}"/>
              </a:ext>
            </a:extLst>
          </p:cNvPr>
          <p:cNvSpPr>
            <a:spLocks xmlns:a="http://schemas.openxmlformats.org/drawingml/2006/main" noGrp="1"/>
          </p:cNvSpPr>
          <p:nvPr/>
        </p:nvSpPr>
        <p:spPr>
          <a:xfrm xmlns:a="http://schemas.openxmlformats.org/drawingml/2006/main">
            <a:off x="571500" y="348615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5EE3EE"/>
                </a:solidFill>
                <a:latin typeface="Helvetica Neue"/>
                <a:ea typeface="Helvetica Neue"/>
                <a:cs typeface="Helvetica Neue"/>
              </a:defRPr>
            </a:pPr>
            <a:r>
              <a:rPr sz="2175" b="1">
                <a:solidFill>
                  <a:srgbClr val="5EE3EE"/>
                </a:solidFill>
                <a:latin typeface="Helvetica Neue"/>
                <a:ea typeface="Helvetica Neue"/>
                <a:cs typeface="Helvetica Neue"/>
              </a:rPr>
              <a:t>Protected properties</a:t>
            </a:r>
          </a:p>
        </p:txBody>
      </p:sp>
      <p:sp>
        <p:nvSpPr>
          <p:cNvPr id="9" name="">
            <a:extLst xmlns:a="http://schemas.openxmlformats.org/drawingml/2006/main">
              <a:ext uri="{FF2B5EF4-FFF2-40B4-BE49-F238E27FC236}">
                <a16:creationId xmlns:a16="http://schemas.microsoft.com/office/drawing/2014/main" id="{55981324-611C-4DA1-BD8D-D962A2086224}"/>
              </a:ext>
            </a:extLst>
          </p:cNvPr>
          <p:cNvSpPr>
            <a:spLocks xmlns:a="http://schemas.openxmlformats.org/drawingml/2006/main" noGrp="1"/>
          </p:cNvSpPr>
          <p:nvPr/>
        </p:nvSpPr>
        <p:spPr>
          <a:xfrm xmlns:a="http://schemas.openxmlformats.org/drawingml/2006/main">
            <a:off x="4000500" y="3486150"/>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F3F6FA"/>
                </a:solidFill>
                <a:latin typeface="Helvetica Neue"/>
                <a:ea typeface="Helvetica Neue"/>
                <a:cs typeface="Helvetica Neue"/>
              </a:defRPr>
            </a:pPr>
            <a:r>
              <a:rPr sz="2175" b="0">
                <a:solidFill>
                  <a:srgbClr val="F3F6FA"/>
                </a:solidFill>
                <a:latin typeface="Helvetica Neue"/>
                <a:ea typeface="Helvetica Neue"/>
                <a:cs typeface="Helvetica Neue"/>
              </a:rPr>
              <a:t>Allow a legitimate change. Deny unauthorized changes to protected fields.</a:t>
            </a:r>
          </a:p>
        </p:txBody>
      </p:sp>
      <p:sp>
        <p:nvSpPr>
          <p:cNvPr id="10" name="">
            <a:extLst xmlns:a="http://schemas.openxmlformats.org/drawingml/2006/main">
              <a:ext uri="{FF2B5EF4-FFF2-40B4-BE49-F238E27FC236}">
                <a16:creationId xmlns:a16="http://schemas.microsoft.com/office/drawing/2014/main" id="{00E6C455-FB3D-4E35-91B1-9335E9AF9C69}"/>
              </a:ext>
            </a:extLst>
          </p:cNvPr>
          <p:cNvSpPr>
            <a:spLocks xmlns:a="http://schemas.openxmlformats.org/drawingml/2006/main" noGrp="1"/>
          </p:cNvSpPr>
          <p:nvPr/>
        </p:nvSpPr>
        <p:spPr>
          <a:xfrm xmlns:a="http://schemas.openxmlformats.org/drawingml/2006/main">
            <a:off x="571500" y="451485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5EE3EE"/>
                </a:solidFill>
                <a:latin typeface="Helvetica Neue"/>
                <a:ea typeface="Helvetica Neue"/>
                <a:cs typeface="Helvetica Neue"/>
              </a:defRPr>
            </a:pPr>
            <a:r>
              <a:rPr sz="2175" b="1">
                <a:solidFill>
                  <a:srgbClr val="5EE3EE"/>
                </a:solidFill>
                <a:latin typeface="Helvetica Neue"/>
                <a:ea typeface="Helvetica Neue"/>
                <a:cs typeface="Helvetica Neue"/>
              </a:rPr>
              <a:t>Unsafe input</a:t>
            </a:r>
          </a:p>
        </p:txBody>
      </p:sp>
      <p:sp>
        <p:nvSpPr>
          <p:cNvPr id="11" name="">
            <a:extLst xmlns:a="http://schemas.openxmlformats.org/drawingml/2006/main">
              <a:ext uri="{FF2B5EF4-FFF2-40B4-BE49-F238E27FC236}">
                <a16:creationId xmlns:a16="http://schemas.microsoft.com/office/drawing/2014/main" id="{CD7B3B4C-0110-4CF5-BC5C-743C9DAEC3A7}"/>
              </a:ext>
            </a:extLst>
          </p:cNvPr>
          <p:cNvSpPr>
            <a:spLocks xmlns:a="http://schemas.openxmlformats.org/drawingml/2006/main" noGrp="1"/>
          </p:cNvSpPr>
          <p:nvPr/>
        </p:nvSpPr>
        <p:spPr>
          <a:xfrm xmlns:a="http://schemas.openxmlformats.org/drawingml/2006/main">
            <a:off x="4000500" y="4514850"/>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F3F6FA"/>
                </a:solidFill>
                <a:latin typeface="Helvetica Neue"/>
                <a:ea typeface="Helvetica Neue"/>
                <a:cs typeface="Helvetica Neue"/>
              </a:defRPr>
            </a:pPr>
            <a:r>
              <a:rPr sz="2175" b="0">
                <a:solidFill>
                  <a:srgbClr val="F3F6FA"/>
                </a:solidFill>
                <a:latin typeface="Helvetica Neue"/>
                <a:ea typeface="Helvetica Neue"/>
                <a:cs typeface="Helvetica Neue"/>
              </a:rPr>
              <a:t>Match WAF decisions with behavior in the component that processes input.</a:t>
            </a:r>
          </a:p>
        </p:txBody>
      </p:sp>
      <p:sp>
        <p:nvSpPr>
          <p:cNvPr id="12" name="">
            <a:extLst xmlns:a="http://schemas.openxmlformats.org/drawingml/2006/main">
              <a:ext uri="{FF2B5EF4-FFF2-40B4-BE49-F238E27FC236}">
                <a16:creationId xmlns:a16="http://schemas.microsoft.com/office/drawing/2014/main" id="{59F6652B-8890-48CC-AA6F-30C93E6BF2DF}"/>
              </a:ext>
            </a:extLst>
          </p:cNvPr>
          <p:cNvSpPr>
            <a:spLocks xmlns:a="http://schemas.openxmlformats.org/drawingml/2006/main" noGrp="1"/>
          </p:cNvSpPr>
          <p:nvPr/>
        </p:nvSpPr>
        <p:spPr>
          <a:xfrm xmlns:a="http://schemas.openxmlformats.org/drawingml/2006/main">
            <a:off x="571500" y="581025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FFD080"/>
                </a:solidFill>
                <a:latin typeface="Helvetica Neue"/>
                <a:ea typeface="Helvetica Neue"/>
                <a:cs typeface="Helvetica Neue"/>
              </a:defRPr>
            </a:pPr>
            <a:r>
              <a:rPr sz="1950" b="0">
                <a:solidFill>
                  <a:srgbClr val="FFD080"/>
                </a:solidFill>
                <a:latin typeface="Helvetica Neue"/>
                <a:ea typeface="Helvetica Neue"/>
                <a:cs typeface="Helvetica Neue"/>
              </a:rPr>
              <a:t>Mappings: Web A01/A05. API1, API3, and API5.</a:t>
            </a:r>
          </a:p>
        </p:txBody>
      </p:sp>
    </p:spTree>
    <p:extLst>
      <p:ext uri="{BB962C8B-B14F-4D97-AF65-F5344CB8AC3E}">
        <p14:creationId xmlns:p14="http://schemas.microsoft.com/office/powerpoint/2010/main" val="2134093263"/>
      </p:ext>
    </p:extLst>
  </p:cSld>
</p:sld>
</file>

<file path=ppt/slides/slide5.xml><?xml version="1.0" encoding="utf-8"?>
<p:sld xmlns:p="http://schemas.openxmlformats.org/presentationml/2006/main">
  <p:cSld>
    <p:bg>
      <p:bgPr>
        <a:solidFill xmlns:a="http://schemas.openxmlformats.org/drawingml/2006/main">
          <a:srgbClr val="0D1726"/>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D9986811-3EC1-43F5-8523-AB9B8A63C9D4}"/>
              </a:ext>
            </a:extLst>
          </p:cNvPr>
          <p:cNvSpPr>
            <a:spLocks xmlns:a="http://schemas.openxmlformats.org/drawingml/2006/main" noGrp="1"/>
          </p:cNvSpPr>
          <p:nvPr/>
        </p:nvSpPr>
        <p:spPr>
          <a:xfrm xmlns:a="http://schemas.openxmlformats.org/drawingml/2006/main">
            <a:off x="571500" y="4000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F3F6FA"/>
                </a:solidFill>
                <a:latin typeface="Helvetica Neue"/>
                <a:ea typeface="Helvetica Neue"/>
                <a:cs typeface="Helvetica Neue"/>
              </a:defRPr>
            </a:pPr>
            <a:r>
              <a:rPr sz="3225" b="1">
                <a:solidFill>
                  <a:srgbClr val="F3F6FA"/>
                </a:solidFill>
                <a:latin typeface="Helvetica Neue"/>
                <a:ea typeface="Helvetica Neue"/>
                <a:cs typeface="Helvetica Neue"/>
              </a:rPr>
              <a:t>Web test workflow</a:t>
            </a:r>
          </a:p>
        </p:txBody>
      </p:sp>
      <p:sp>
        <p:nvSpPr>
          <p:cNvPr id="2" name="">
            <a:extLst xmlns:a="http://schemas.openxmlformats.org/drawingml/2006/main">
              <a:ext uri="{FF2B5EF4-FFF2-40B4-BE49-F238E27FC236}">
                <a16:creationId xmlns:a16="http://schemas.microsoft.com/office/drawing/2014/main" id="{8F05EA5C-D828-41EE-8046-A5BF6B6EFB8A}"/>
              </a:ext>
            </a:extLst>
          </p:cNvPr>
          <p:cNvSpPr>
            <a:spLocks xmlns:a="http://schemas.openxmlformats.org/drawingml/2006/main" noGrp="1"/>
          </p:cNvSpPr>
          <p:nvPr/>
        </p:nvSpPr>
        <p:spPr>
          <a:xfrm xmlns:a="http://schemas.openxmlformats.org/drawingml/2006/main">
            <a:off x="571500" y="6400800"/>
            <a:ext cx="523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B7C5D7"/>
                </a:solidFill>
                <a:latin typeface="Helvetica Neue"/>
                <a:ea typeface="Helvetica Neue"/>
                <a:cs typeface="Helvetica Neue"/>
              </a:defRPr>
            </a:pPr>
            <a:r>
              <a:rPr sz="1350" b="0">
                <a:solidFill>
                  <a:srgbClr val="B7C5D7"/>
                </a:solidFill>
                <a:latin typeface="Helvetica Neue"/>
                <a:ea typeface="Helvetica Neue"/>
                <a:cs typeface="Helvetica Neue"/>
              </a:rPr>
              <a:t>Proposed test design</a:t>
            </a:r>
          </a:p>
        </p:txBody>
      </p:sp>
      <p:sp>
        <p:nvSpPr>
          <p:cNvPr id="3" name="">
            <a:extLst xmlns:a="http://schemas.openxmlformats.org/drawingml/2006/main">
              <a:ext uri="{FF2B5EF4-FFF2-40B4-BE49-F238E27FC236}">
                <a16:creationId xmlns:a16="http://schemas.microsoft.com/office/drawing/2014/main" id="{7F350DF8-0A93-4ACB-A57C-92D501961AC4}"/>
              </a:ext>
            </a:extLst>
          </p:cNvPr>
          <p:cNvSpPr>
            <a:spLocks xmlns:a="http://schemas.openxmlformats.org/drawingml/2006/main" noGrp="1"/>
          </p:cNvSpPr>
          <p:nvPr/>
        </p:nvSpPr>
        <p:spPr>
          <a:xfrm xmlns:a="http://schemas.openxmlformats.org/drawingml/2006/main">
            <a:off x="11334750" y="64008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B7C5D7"/>
                </a:solidFill>
                <a:latin typeface="Helvetica Neue"/>
                <a:ea typeface="Helvetica Neue"/>
                <a:cs typeface="Helvetica Neue"/>
              </a:defRPr>
            </a:pPr>
            <a:r>
              <a:rPr sz="1350" b="0">
                <a:solidFill>
                  <a:srgbClr val="B7C5D7"/>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E5F6A93F-469D-4EA6-A2CF-FB6398FD6106}"/>
              </a:ext>
            </a:extLst>
          </p:cNvPr>
          <p:cNvSpPr>
            <a:spLocks xmlns:a="http://schemas.openxmlformats.org/drawingml/2006/main" noGrp="1"/>
          </p:cNvSpPr>
          <p:nvPr/>
        </p:nvSpPr>
        <p:spPr>
          <a:xfrm xmlns:a="http://schemas.openxmlformats.org/drawingml/2006/main">
            <a:off x="571500" y="2095500"/>
            <a:ext cx="1809750" cy="952500"/>
          </a:xfrm>
          <a:prstGeom xmlns:a="http://schemas.openxmlformats.org/drawingml/2006/main" prst="rect">
            <a:avLst/>
          </a:prstGeom>
          <a:solidFill xmlns:a="http://schemas.openxmlformats.org/drawingml/2006/main">
            <a:srgbClr val="142236"/>
          </a:solidFill>
          <a:ln xmlns:a="http://schemas.openxmlformats.org/drawingml/2006/main" w="19050">
            <a:solidFill>
              <a:srgbClr val="5EE3EE"/>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Approve</a:t>
            </a:r>
          </a:p>
        </p:txBody>
      </p:sp>
      <p:sp>
        <p:nvSpPr>
          <p:cNvPr id="5" name="">
            <a:extLst xmlns:a="http://schemas.openxmlformats.org/drawingml/2006/main">
              <a:ext uri="{FF2B5EF4-FFF2-40B4-BE49-F238E27FC236}">
                <a16:creationId xmlns:a16="http://schemas.microsoft.com/office/drawing/2014/main" id="{BA11401E-2412-4D34-A5D2-BD18359AF89D}"/>
              </a:ext>
            </a:extLst>
          </p:cNvPr>
          <p:cNvSpPr>
            <a:spLocks xmlns:a="http://schemas.openxmlformats.org/drawingml/2006/main" noGrp="1"/>
          </p:cNvSpPr>
          <p:nvPr/>
        </p:nvSpPr>
        <p:spPr>
          <a:xfrm xmlns:a="http://schemas.openxmlformats.org/drawingml/2006/main">
            <a:off x="571500" y="3333750"/>
            <a:ext cx="1809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B7C5D7"/>
                </a:solidFill>
                <a:latin typeface="Helvetica Neue"/>
                <a:ea typeface="Helvetica Neue"/>
                <a:cs typeface="Helvetica Neue"/>
              </a:defRPr>
            </a:pPr>
            <a:r>
              <a:rPr sz="2025" b="0">
                <a:solidFill>
                  <a:srgbClr val="B7C5D7"/>
                </a:solidFill>
                <a:latin typeface="Helvetica Neue"/>
                <a:ea typeface="Helvetica Neue"/>
                <a:cs typeface="Helvetica Neue"/>
              </a:rPr>
              <a:t>Exact scope</a:t>
            </a:r>
          </a:p>
        </p:txBody>
      </p:sp>
      <p:sp>
        <p:nvSpPr>
          <p:cNvPr id="6" name="">
            <a:extLst xmlns:a="http://schemas.openxmlformats.org/drawingml/2006/main">
              <a:ext uri="{FF2B5EF4-FFF2-40B4-BE49-F238E27FC236}">
                <a16:creationId xmlns:a16="http://schemas.microsoft.com/office/drawing/2014/main" id="{2CD39460-4FE0-45D3-9BCD-33B5D18821BA}"/>
              </a:ext>
            </a:extLst>
          </p:cNvPr>
          <p:cNvSpPr>
            <a:spLocks xmlns:a="http://schemas.openxmlformats.org/drawingml/2006/main" noGrp="1"/>
          </p:cNvSpPr>
          <p:nvPr/>
        </p:nvSpPr>
        <p:spPr>
          <a:xfrm xmlns:a="http://schemas.openxmlformats.org/drawingml/2006/main">
            <a:off x="2876550" y="2095500"/>
            <a:ext cx="1809750" cy="952500"/>
          </a:xfrm>
          <a:prstGeom xmlns:a="http://schemas.openxmlformats.org/drawingml/2006/main" prst="rect">
            <a:avLst/>
          </a:prstGeom>
          <a:solidFill xmlns:a="http://schemas.openxmlformats.org/drawingml/2006/main">
            <a:srgbClr val="142236"/>
          </a:solidFill>
          <a:ln xmlns:a="http://schemas.openxmlformats.org/drawingml/2006/main" w="19050">
            <a:solidFill>
              <a:srgbClr val="5EE3EE"/>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Check</a:t>
            </a:r>
          </a:p>
        </p:txBody>
      </p:sp>
      <p:cxnSp>
        <p:nvCxnSpPr>
          <p:cNvPr id="26" name=""/>
          <p:cNvCxnSpPr>
            <a:stCxn xmlns:a="http://schemas.openxmlformats.org/drawingml/2006/main" id="4" idx="3"/>
            <a:endCxn xmlns:a="http://schemas.openxmlformats.org/drawingml/2006/main" id="6" idx="1"/>
          </p:cNvCxnSpPr>
          <p:nvPr/>
        </p:nvCxnSpPr>
        <p:spPr>
          <a:xfrm xmlns:a="http://schemas.openxmlformats.org/drawingml/2006/main">
            <a:off x="2381250" y="2571750"/>
            <a:ext cx="495300" cy="0"/>
          </a:xfrm>
          <a:prstGeom xmlns:a="http://schemas.openxmlformats.org/drawingml/2006/main" prst="straightConnector1">
            <a:avLst/>
          </a:prstGeom>
          <a:ln xmlns:a="http://schemas.openxmlformats.org/drawingml/2006/main" w="19050">
            <a:solidFill>
              <a:srgbClr val="5D718A"/>
            </a:solidFill>
            <a:tailEnd type="triangle" w="sm" len="sm"/>
          </a:ln>
        </p:spPr>
      </p:cxnSp>
      <p:sp>
        <p:nvSpPr>
          <p:cNvPr id="8" name="">
            <a:extLst xmlns:a="http://schemas.openxmlformats.org/drawingml/2006/main">
              <a:ext uri="{FF2B5EF4-FFF2-40B4-BE49-F238E27FC236}">
                <a16:creationId xmlns:a16="http://schemas.microsoft.com/office/drawing/2014/main" id="{1FDDF142-BDA0-4552-94B1-E2E6EDA2070D}"/>
              </a:ext>
            </a:extLst>
          </p:cNvPr>
          <p:cNvSpPr>
            <a:spLocks xmlns:a="http://schemas.openxmlformats.org/drawingml/2006/main" noGrp="1"/>
          </p:cNvSpPr>
          <p:nvPr/>
        </p:nvSpPr>
        <p:spPr>
          <a:xfrm xmlns:a="http://schemas.openxmlformats.org/drawingml/2006/main">
            <a:off x="2876550" y="3333750"/>
            <a:ext cx="1809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B7C5D7"/>
                </a:solidFill>
                <a:latin typeface="Helvetica Neue"/>
                <a:ea typeface="Helvetica Neue"/>
                <a:cs typeface="Helvetica Neue"/>
              </a:defRPr>
            </a:pPr>
            <a:r>
              <a:rPr sz="2025" b="0">
                <a:solidFill>
                  <a:srgbClr val="B7C5D7"/>
                </a:solidFill>
                <a:latin typeface="Helvetica Neue"/>
                <a:ea typeface="Helvetica Neue"/>
                <a:cs typeface="Helvetica Neue"/>
              </a:rPr>
              <a:t>Normal baseline</a:t>
            </a:r>
          </a:p>
        </p:txBody>
      </p:sp>
      <p:sp>
        <p:nvSpPr>
          <p:cNvPr id="9" name="">
            <a:extLst xmlns:a="http://schemas.openxmlformats.org/drawingml/2006/main">
              <a:ext uri="{FF2B5EF4-FFF2-40B4-BE49-F238E27FC236}">
                <a16:creationId xmlns:a16="http://schemas.microsoft.com/office/drawing/2014/main" id="{797191D7-04A2-4B74-9CDE-11C6A77077CF}"/>
              </a:ext>
            </a:extLst>
          </p:cNvPr>
          <p:cNvSpPr>
            <a:spLocks xmlns:a="http://schemas.openxmlformats.org/drawingml/2006/main" noGrp="1"/>
          </p:cNvSpPr>
          <p:nvPr/>
        </p:nvSpPr>
        <p:spPr>
          <a:xfrm xmlns:a="http://schemas.openxmlformats.org/drawingml/2006/main">
            <a:off x="5181600" y="2095500"/>
            <a:ext cx="1809750" cy="952500"/>
          </a:xfrm>
          <a:prstGeom xmlns:a="http://schemas.openxmlformats.org/drawingml/2006/main" prst="rect">
            <a:avLst/>
          </a:prstGeom>
          <a:solidFill xmlns:a="http://schemas.openxmlformats.org/drawingml/2006/main">
            <a:srgbClr val="142236"/>
          </a:solidFill>
          <a:ln xmlns:a="http://schemas.openxmlformats.org/drawingml/2006/main" w="19050">
            <a:solidFill>
              <a:srgbClr val="5EE3EE"/>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Execute</a:t>
            </a:r>
          </a:p>
        </p:txBody>
      </p:sp>
      <p:cxnSp>
        <p:nvCxnSpPr>
          <p:cNvPr id="29" name=""/>
          <p:cNvCxnSpPr>
            <a:stCxn xmlns:a="http://schemas.openxmlformats.org/drawingml/2006/main" id="6" idx="3"/>
            <a:endCxn xmlns:a="http://schemas.openxmlformats.org/drawingml/2006/main" id="9" idx="1"/>
          </p:cNvCxnSpPr>
          <p:nvPr/>
        </p:nvCxnSpPr>
        <p:spPr>
          <a:xfrm xmlns:a="http://schemas.openxmlformats.org/drawingml/2006/main">
            <a:off x="4686300" y="2571750"/>
            <a:ext cx="495300" cy="0"/>
          </a:xfrm>
          <a:prstGeom xmlns:a="http://schemas.openxmlformats.org/drawingml/2006/main" prst="straightConnector1">
            <a:avLst/>
          </a:prstGeom>
          <a:ln xmlns:a="http://schemas.openxmlformats.org/drawingml/2006/main" w="19050">
            <a:solidFill>
              <a:srgbClr val="5D718A"/>
            </a:solidFill>
            <a:tailEnd type="triangle" w="sm" len="sm"/>
          </a:ln>
        </p:spPr>
      </p:cxnSp>
      <p:sp>
        <p:nvSpPr>
          <p:cNvPr id="11" name="">
            <a:extLst xmlns:a="http://schemas.openxmlformats.org/drawingml/2006/main">
              <a:ext uri="{FF2B5EF4-FFF2-40B4-BE49-F238E27FC236}">
                <a16:creationId xmlns:a16="http://schemas.microsoft.com/office/drawing/2014/main" id="{4F2C9096-A56D-4D4D-BB98-D699DCC54481}"/>
              </a:ext>
            </a:extLst>
          </p:cNvPr>
          <p:cNvSpPr>
            <a:spLocks xmlns:a="http://schemas.openxmlformats.org/drawingml/2006/main" noGrp="1"/>
          </p:cNvSpPr>
          <p:nvPr/>
        </p:nvSpPr>
        <p:spPr>
          <a:xfrm xmlns:a="http://schemas.openxmlformats.org/drawingml/2006/main">
            <a:off x="5181600" y="3333750"/>
            <a:ext cx="1809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B7C5D7"/>
                </a:solidFill>
                <a:latin typeface="Helvetica Neue"/>
                <a:ea typeface="Helvetica Neue"/>
                <a:cs typeface="Helvetica Neue"/>
              </a:defRPr>
            </a:pPr>
            <a:r>
              <a:rPr sz="2025" b="0">
                <a:solidFill>
                  <a:srgbClr val="B7C5D7"/>
                </a:solidFill>
                <a:latin typeface="Helvetica Neue"/>
                <a:ea typeface="Helvetica Neue"/>
                <a:cs typeface="Helvetica Neue"/>
              </a:rPr>
              <a:t>Approved cases</a:t>
            </a:r>
          </a:p>
        </p:txBody>
      </p:sp>
      <p:sp>
        <p:nvSpPr>
          <p:cNvPr id="12" name="">
            <a:extLst xmlns:a="http://schemas.openxmlformats.org/drawingml/2006/main">
              <a:ext uri="{FF2B5EF4-FFF2-40B4-BE49-F238E27FC236}">
                <a16:creationId xmlns:a16="http://schemas.microsoft.com/office/drawing/2014/main" id="{379B4BAB-6A04-440E-A439-1E6716B4F632}"/>
              </a:ext>
            </a:extLst>
          </p:cNvPr>
          <p:cNvSpPr>
            <a:spLocks xmlns:a="http://schemas.openxmlformats.org/drawingml/2006/main" noGrp="1"/>
          </p:cNvSpPr>
          <p:nvPr/>
        </p:nvSpPr>
        <p:spPr>
          <a:xfrm xmlns:a="http://schemas.openxmlformats.org/drawingml/2006/main">
            <a:off x="7486650" y="2095500"/>
            <a:ext cx="1809750" cy="952500"/>
          </a:xfrm>
          <a:prstGeom xmlns:a="http://schemas.openxmlformats.org/drawingml/2006/main" prst="rect">
            <a:avLst/>
          </a:prstGeom>
          <a:solidFill xmlns:a="http://schemas.openxmlformats.org/drawingml/2006/main">
            <a:srgbClr val="142236"/>
          </a:solidFill>
          <a:ln xmlns:a="http://schemas.openxmlformats.org/drawingml/2006/main" w="19050">
            <a:solidFill>
              <a:srgbClr val="FFD080"/>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Stop</a:t>
            </a:r>
          </a:p>
        </p:txBody>
      </p:sp>
      <p:cxnSp>
        <p:nvCxnSpPr>
          <p:cNvPr id="32" name=""/>
          <p:cNvCxnSpPr>
            <a:stCxn xmlns:a="http://schemas.openxmlformats.org/drawingml/2006/main" id="9" idx="3"/>
            <a:endCxn xmlns:a="http://schemas.openxmlformats.org/drawingml/2006/main" id="12" idx="1"/>
          </p:cNvCxnSpPr>
          <p:nvPr/>
        </p:nvCxnSpPr>
        <p:spPr>
          <a:xfrm xmlns:a="http://schemas.openxmlformats.org/drawingml/2006/main">
            <a:off x="6991350" y="2571750"/>
            <a:ext cx="495300" cy="0"/>
          </a:xfrm>
          <a:prstGeom xmlns:a="http://schemas.openxmlformats.org/drawingml/2006/main" prst="straightConnector1">
            <a:avLst/>
          </a:prstGeom>
          <a:ln xmlns:a="http://schemas.openxmlformats.org/drawingml/2006/main" w="19050">
            <a:solidFill>
              <a:srgbClr val="5D718A"/>
            </a:solidFill>
            <a:tailEnd type="triangle" w="sm" len="sm"/>
          </a:ln>
        </p:spPr>
      </p:cxnSp>
      <p:sp>
        <p:nvSpPr>
          <p:cNvPr id="14" name="">
            <a:extLst xmlns:a="http://schemas.openxmlformats.org/drawingml/2006/main">
              <a:ext uri="{FF2B5EF4-FFF2-40B4-BE49-F238E27FC236}">
                <a16:creationId xmlns:a16="http://schemas.microsoft.com/office/drawing/2014/main" id="{598D71F3-9093-47E1-AA0C-E256E2D27C8F}"/>
              </a:ext>
            </a:extLst>
          </p:cNvPr>
          <p:cNvSpPr>
            <a:spLocks xmlns:a="http://schemas.openxmlformats.org/drawingml/2006/main" noGrp="1"/>
          </p:cNvSpPr>
          <p:nvPr/>
        </p:nvSpPr>
        <p:spPr>
          <a:xfrm xmlns:a="http://schemas.openxmlformats.org/drawingml/2006/main">
            <a:off x="7486650" y="3333750"/>
            <a:ext cx="1809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B7C5D7"/>
                </a:solidFill>
                <a:latin typeface="Helvetica Neue"/>
                <a:ea typeface="Helvetica Neue"/>
                <a:cs typeface="Helvetica Neue"/>
              </a:defRPr>
            </a:pPr>
            <a:r>
              <a:rPr sz="2025" b="0">
                <a:solidFill>
                  <a:srgbClr val="B7C5D7"/>
                </a:solidFill>
                <a:latin typeface="Helvetica Neue"/>
                <a:ea typeface="Helvetica Neue"/>
                <a:cs typeface="Helvetica Neue"/>
              </a:rPr>
              <a:t>Retain evidence</a:t>
            </a:r>
          </a:p>
        </p:txBody>
      </p:sp>
      <p:sp>
        <p:nvSpPr>
          <p:cNvPr id="15" name="">
            <a:extLst xmlns:a="http://schemas.openxmlformats.org/drawingml/2006/main">
              <a:ext uri="{FF2B5EF4-FFF2-40B4-BE49-F238E27FC236}">
                <a16:creationId xmlns:a16="http://schemas.microsoft.com/office/drawing/2014/main" id="{AD24FF73-50CC-4930-8F44-404DCECDDB73}"/>
              </a:ext>
            </a:extLst>
          </p:cNvPr>
          <p:cNvSpPr>
            <a:spLocks xmlns:a="http://schemas.openxmlformats.org/drawingml/2006/main" noGrp="1"/>
          </p:cNvSpPr>
          <p:nvPr/>
        </p:nvSpPr>
        <p:spPr>
          <a:xfrm xmlns:a="http://schemas.openxmlformats.org/drawingml/2006/main">
            <a:off x="9791700" y="2095500"/>
            <a:ext cx="1809750" cy="952500"/>
          </a:xfrm>
          <a:prstGeom xmlns:a="http://schemas.openxmlformats.org/drawingml/2006/main" prst="rect">
            <a:avLst/>
          </a:prstGeom>
          <a:solidFill xmlns:a="http://schemas.openxmlformats.org/drawingml/2006/main">
            <a:srgbClr val="142236"/>
          </a:solidFill>
          <a:ln xmlns:a="http://schemas.openxmlformats.org/drawingml/2006/main" w="19050">
            <a:solidFill>
              <a:srgbClr val="5EE3EE"/>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Review</a:t>
            </a:r>
          </a:p>
        </p:txBody>
      </p:sp>
      <p:cxnSp>
        <p:nvCxnSpPr>
          <p:cNvPr id="35" name=""/>
          <p:cNvCxnSpPr>
            <a:stCxn xmlns:a="http://schemas.openxmlformats.org/drawingml/2006/main" id="12" idx="3"/>
            <a:endCxn xmlns:a="http://schemas.openxmlformats.org/drawingml/2006/main" id="15" idx="1"/>
          </p:cNvCxnSpPr>
          <p:nvPr/>
        </p:nvCxnSpPr>
        <p:spPr>
          <a:xfrm xmlns:a="http://schemas.openxmlformats.org/drawingml/2006/main">
            <a:off x="9296400" y="2571750"/>
            <a:ext cx="495300" cy="0"/>
          </a:xfrm>
          <a:prstGeom xmlns:a="http://schemas.openxmlformats.org/drawingml/2006/main" prst="straightConnector1">
            <a:avLst/>
          </a:prstGeom>
          <a:ln xmlns:a="http://schemas.openxmlformats.org/drawingml/2006/main" w="19050">
            <a:solidFill>
              <a:srgbClr val="5D718A"/>
            </a:solidFill>
            <a:tailEnd type="triangle" w="sm" len="sm"/>
          </a:ln>
        </p:spPr>
      </p:cxnSp>
      <p:sp>
        <p:nvSpPr>
          <p:cNvPr id="17" name="">
            <a:extLst xmlns:a="http://schemas.openxmlformats.org/drawingml/2006/main">
              <a:ext uri="{FF2B5EF4-FFF2-40B4-BE49-F238E27FC236}">
                <a16:creationId xmlns:a16="http://schemas.microsoft.com/office/drawing/2014/main" id="{C56793D9-65FB-47EE-8C76-080E6DFC3A5B}"/>
              </a:ext>
            </a:extLst>
          </p:cNvPr>
          <p:cNvSpPr>
            <a:spLocks xmlns:a="http://schemas.openxmlformats.org/drawingml/2006/main" noGrp="1"/>
          </p:cNvSpPr>
          <p:nvPr/>
        </p:nvSpPr>
        <p:spPr>
          <a:xfrm xmlns:a="http://schemas.openxmlformats.org/drawingml/2006/main">
            <a:off x="9791700" y="3333750"/>
            <a:ext cx="1809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B7C5D7"/>
                </a:solidFill>
                <a:latin typeface="Helvetica Neue"/>
                <a:ea typeface="Helvetica Neue"/>
                <a:cs typeface="Helvetica Neue"/>
              </a:defRPr>
            </a:pPr>
            <a:r>
              <a:rPr sz="2025" b="0">
                <a:solidFill>
                  <a:srgbClr val="B7C5D7"/>
                </a:solidFill>
                <a:latin typeface="Helvetica Neue"/>
                <a:ea typeface="Helvetica Neue"/>
                <a:cs typeface="Helvetica Neue"/>
              </a:rPr>
              <a:t>Observed results</a:t>
            </a:r>
          </a:p>
        </p:txBody>
      </p:sp>
      <p:sp>
        <p:nvSpPr>
          <p:cNvPr id="18" name="">
            <a:extLst xmlns:a="http://schemas.openxmlformats.org/drawingml/2006/main">
              <a:ext uri="{FF2B5EF4-FFF2-40B4-BE49-F238E27FC236}">
                <a16:creationId xmlns:a16="http://schemas.microsoft.com/office/drawing/2014/main" id="{94A503DB-7E9B-4978-877A-79D4C03FEA8F}"/>
              </a:ext>
            </a:extLst>
          </p:cNvPr>
          <p:cNvSpPr>
            <a:spLocks xmlns:a="http://schemas.openxmlformats.org/drawingml/2006/main" noGrp="1"/>
          </p:cNvSpPr>
          <p:nvPr/>
        </p:nvSpPr>
        <p:spPr>
          <a:xfrm xmlns:a="http://schemas.openxmlformats.org/drawingml/2006/main">
            <a:off x="571500" y="4829175"/>
            <a:ext cx="10763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00" b="0">
                <a:solidFill>
                  <a:srgbClr val="F3F6FA"/>
                </a:solidFill>
                <a:latin typeface="Helvetica Neue"/>
                <a:ea typeface="Helvetica Neue"/>
                <a:cs typeface="Helvetica Neue"/>
              </a:defRPr>
            </a:pPr>
            <a:r>
              <a:rPr sz="2400" b="0">
                <a:solidFill>
                  <a:srgbClr val="F3F6FA"/>
                </a:solidFill>
                <a:latin typeface="Helvetica Neue"/>
                <a:ea typeface="Helvetica Neue"/>
                <a:cs typeface="Helvetica Neue"/>
              </a:rPr>
              <a:t>The dashboard and CLI share run IDs, limits, and stop controls.</a:t>
            </a:r>
          </a:p>
        </p:txBody>
      </p:sp>
      <p:sp>
        <p:nvSpPr>
          <p:cNvPr id="19" name="">
            <a:extLst xmlns:a="http://schemas.openxmlformats.org/drawingml/2006/main">
              <a:ext uri="{FF2B5EF4-FFF2-40B4-BE49-F238E27FC236}">
                <a16:creationId xmlns:a16="http://schemas.microsoft.com/office/drawing/2014/main" id="{3FFA3B14-7D0D-4CD6-8A34-D99566682CE8}"/>
              </a:ext>
            </a:extLst>
          </p:cNvPr>
          <p:cNvSpPr>
            <a:spLocks xmlns:a="http://schemas.openxmlformats.org/drawingml/2006/main" noGrp="1"/>
          </p:cNvSpPr>
          <p:nvPr/>
        </p:nvSpPr>
        <p:spPr>
          <a:xfrm xmlns:a="http://schemas.openxmlformats.org/drawingml/2006/main">
            <a:off x="571500" y="578167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FFD080"/>
                </a:solidFill>
                <a:latin typeface="Helvetica Neue"/>
                <a:ea typeface="Helvetica Neue"/>
                <a:cs typeface="Helvetica Neue"/>
              </a:defRPr>
            </a:pPr>
            <a:r>
              <a:rPr sz="2025" b="0">
                <a:solidFill>
                  <a:srgbClr val="FFD080"/>
                </a:solidFill>
                <a:latin typeface="Helvetica Neue"/>
                <a:ea typeface="Helvetica Neue"/>
                <a:cs typeface="Helvetica Neue"/>
              </a:rPr>
              <a:t>A stop cannot undo requests that the runner already sent.</a:t>
            </a:r>
          </a:p>
        </p:txBody>
      </p:sp>
    </p:spTree>
    <p:extLst>
      <p:ext uri="{BB962C8B-B14F-4D97-AF65-F5344CB8AC3E}">
        <p14:creationId xmlns:p14="http://schemas.microsoft.com/office/powerpoint/2010/main" val="2121995835"/>
      </p:ext>
    </p:extLst>
  </p:cSld>
</p:sld>
</file>

<file path=ppt/slides/slide6.xml><?xml version="1.0" encoding="utf-8"?>
<p:sld xmlns:p="http://schemas.openxmlformats.org/presentationml/2006/main">
  <p:cSld>
    <p:bg>
      <p:bgPr>
        <a:solidFill xmlns:a="http://schemas.openxmlformats.org/drawingml/2006/main">
          <a:srgbClr val="0D1726"/>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78EB20C-3393-409E-888D-A9B03505FFE4}"/>
              </a:ext>
            </a:extLst>
          </p:cNvPr>
          <p:cNvSpPr>
            <a:spLocks xmlns:a="http://schemas.openxmlformats.org/drawingml/2006/main" noGrp="1"/>
          </p:cNvSpPr>
          <p:nvPr/>
        </p:nvSpPr>
        <p:spPr>
          <a:xfrm xmlns:a="http://schemas.openxmlformats.org/drawingml/2006/main">
            <a:off x="571500" y="4000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F3F6FA"/>
                </a:solidFill>
                <a:latin typeface="Helvetica Neue"/>
                <a:ea typeface="Helvetica Neue"/>
                <a:cs typeface="Helvetica Neue"/>
              </a:defRPr>
            </a:pPr>
            <a:r>
              <a:rPr sz="3225" b="1">
                <a:solidFill>
                  <a:srgbClr val="F3F6FA"/>
                </a:solidFill>
                <a:latin typeface="Helvetica Neue"/>
                <a:ea typeface="Helvetica Neue"/>
                <a:cs typeface="Helvetica Neue"/>
              </a:rPr>
              <a:t>Evidence and coverage</a:t>
            </a:r>
          </a:p>
        </p:txBody>
      </p:sp>
      <p:sp>
        <p:nvSpPr>
          <p:cNvPr id="2" name="">
            <a:extLst xmlns:a="http://schemas.openxmlformats.org/drawingml/2006/main">
              <a:ext uri="{FF2B5EF4-FFF2-40B4-BE49-F238E27FC236}">
                <a16:creationId xmlns:a16="http://schemas.microsoft.com/office/drawing/2014/main" id="{F63E7EF8-EDB7-43E0-BEB7-BAAB742CA20D}"/>
              </a:ext>
            </a:extLst>
          </p:cNvPr>
          <p:cNvSpPr>
            <a:spLocks xmlns:a="http://schemas.openxmlformats.org/drawingml/2006/main" noGrp="1"/>
          </p:cNvSpPr>
          <p:nvPr/>
        </p:nvSpPr>
        <p:spPr>
          <a:xfrm xmlns:a="http://schemas.openxmlformats.org/drawingml/2006/main">
            <a:off x="571500" y="6400800"/>
            <a:ext cx="523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B7C5D7"/>
                </a:solidFill>
                <a:latin typeface="Helvetica Neue"/>
                <a:ea typeface="Helvetica Neue"/>
                <a:cs typeface="Helvetica Neue"/>
              </a:defRPr>
            </a:pPr>
            <a:r>
              <a:rPr sz="1350" b="0">
                <a:solidFill>
                  <a:srgbClr val="B7C5D7"/>
                </a:solidFill>
                <a:latin typeface="Helvetica Neue"/>
                <a:ea typeface="Helvetica Neue"/>
                <a:cs typeface="Helvetica Neue"/>
              </a:rPr>
              <a:t>Proposed test design</a:t>
            </a:r>
          </a:p>
        </p:txBody>
      </p:sp>
      <p:sp>
        <p:nvSpPr>
          <p:cNvPr id="3" name="">
            <a:extLst xmlns:a="http://schemas.openxmlformats.org/drawingml/2006/main">
              <a:ext uri="{FF2B5EF4-FFF2-40B4-BE49-F238E27FC236}">
                <a16:creationId xmlns:a16="http://schemas.microsoft.com/office/drawing/2014/main" id="{4F942989-5904-46E8-BCDC-B52077DFB4FC}"/>
              </a:ext>
            </a:extLst>
          </p:cNvPr>
          <p:cNvSpPr>
            <a:spLocks xmlns:a="http://schemas.openxmlformats.org/drawingml/2006/main" noGrp="1"/>
          </p:cNvSpPr>
          <p:nvPr/>
        </p:nvSpPr>
        <p:spPr>
          <a:xfrm xmlns:a="http://schemas.openxmlformats.org/drawingml/2006/main">
            <a:off x="11334750" y="64008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B7C5D7"/>
                </a:solidFill>
                <a:latin typeface="Helvetica Neue"/>
                <a:ea typeface="Helvetica Neue"/>
                <a:cs typeface="Helvetica Neue"/>
              </a:defRPr>
            </a:pPr>
            <a:r>
              <a:rPr sz="1350" b="0">
                <a:solidFill>
                  <a:srgbClr val="B7C5D7"/>
                </a:solidFill>
                <a:latin typeface="Helvetica Neue"/>
                <a:ea typeface="Helvetica Neue"/>
                <a:cs typeface="Helvetica Neue"/>
              </a:rPr>
              <a:t>06</a:t>
            </a:r>
          </a:p>
        </p:txBody>
      </p:sp>
      <p:sp>
        <p:nvSpPr>
          <p:cNvPr id="4" name="">
            <a:extLst xmlns:a="http://schemas.openxmlformats.org/drawingml/2006/main">
              <a:ext uri="{FF2B5EF4-FFF2-40B4-BE49-F238E27FC236}">
                <a16:creationId xmlns:a16="http://schemas.microsoft.com/office/drawing/2014/main" id="{5DC16C01-9427-4B79-A514-720A5036B0A3}"/>
              </a:ext>
            </a:extLst>
          </p:cNvPr>
          <p:cNvSpPr>
            <a:spLocks xmlns:a="http://schemas.openxmlformats.org/drawingml/2006/main" noGrp="1"/>
          </p:cNvSpPr>
          <p:nvPr/>
        </p:nvSpPr>
        <p:spPr>
          <a:xfrm xmlns:a="http://schemas.openxmlformats.org/drawingml/2006/main">
            <a:off x="571500" y="142875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5EE3EE"/>
                </a:solidFill>
                <a:latin typeface="Helvetica Neue"/>
                <a:ea typeface="Helvetica Neue"/>
                <a:cs typeface="Helvetica Neue"/>
              </a:defRPr>
            </a:pPr>
            <a:r>
              <a:rPr sz="2175" b="1">
                <a:solidFill>
                  <a:srgbClr val="5EE3EE"/>
                </a:solidFill>
                <a:latin typeface="Helvetica Neue"/>
                <a:ea typeface="Helvetica Neue"/>
                <a:cs typeface="Helvetica Neue"/>
              </a:rPr>
              <a:t>Case record</a:t>
            </a:r>
          </a:p>
        </p:txBody>
      </p:sp>
      <p:sp>
        <p:nvSpPr>
          <p:cNvPr id="5" name="">
            <a:extLst xmlns:a="http://schemas.openxmlformats.org/drawingml/2006/main">
              <a:ext uri="{FF2B5EF4-FFF2-40B4-BE49-F238E27FC236}">
                <a16:creationId xmlns:a16="http://schemas.microsoft.com/office/drawing/2014/main" id="{23DE3BE3-2A48-470A-A6BF-91DDA4F2DA24}"/>
              </a:ext>
            </a:extLst>
          </p:cNvPr>
          <p:cNvSpPr>
            <a:spLocks xmlns:a="http://schemas.openxmlformats.org/drawingml/2006/main" noGrp="1"/>
          </p:cNvSpPr>
          <p:nvPr/>
        </p:nvSpPr>
        <p:spPr>
          <a:xfrm xmlns:a="http://schemas.openxmlformats.org/drawingml/2006/main">
            <a:off x="4000500" y="1428750"/>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F3F6FA"/>
                </a:solidFill>
                <a:latin typeface="Helvetica Neue"/>
                <a:ea typeface="Helvetica Neue"/>
                <a:cs typeface="Helvetica Neue"/>
              </a:defRPr>
            </a:pPr>
            <a:r>
              <a:rPr sz="2175" b="0">
                <a:solidFill>
                  <a:srgbClr val="F3F6FA"/>
                </a:solidFill>
                <a:latin typeface="Helvetica Neue"/>
                <a:ea typeface="Helvetica Neue"/>
                <a:cs typeface="Helvetica Neue"/>
              </a:rPr>
              <a:t>Scope, test identity, expected result, observed result, and evidence links.</a:t>
            </a:r>
          </a:p>
        </p:txBody>
      </p:sp>
      <p:sp>
        <p:nvSpPr>
          <p:cNvPr id="6" name="">
            <a:extLst xmlns:a="http://schemas.openxmlformats.org/drawingml/2006/main">
              <a:ext uri="{FF2B5EF4-FFF2-40B4-BE49-F238E27FC236}">
                <a16:creationId xmlns:a16="http://schemas.microsoft.com/office/drawing/2014/main" id="{2C530E52-76A7-4A70-98B3-A59C890A8120}"/>
              </a:ext>
            </a:extLst>
          </p:cNvPr>
          <p:cNvSpPr>
            <a:spLocks xmlns:a="http://schemas.openxmlformats.org/drawingml/2006/main" noGrp="1"/>
          </p:cNvSpPr>
          <p:nvPr/>
        </p:nvSpPr>
        <p:spPr>
          <a:xfrm xmlns:a="http://schemas.openxmlformats.org/drawingml/2006/main">
            <a:off x="571500" y="2619375"/>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5EE3EE"/>
                </a:solidFill>
                <a:latin typeface="Helvetica Neue"/>
                <a:ea typeface="Helvetica Neue"/>
                <a:cs typeface="Helvetica Neue"/>
              </a:defRPr>
            </a:pPr>
            <a:r>
              <a:rPr sz="2175" b="1">
                <a:solidFill>
                  <a:srgbClr val="5EE3EE"/>
                </a:solidFill>
                <a:latin typeface="Helvetica Neue"/>
                <a:ea typeface="Helvetica Neue"/>
                <a:cs typeface="Helvetica Neue"/>
              </a:rPr>
              <a:t>Request correlation</a:t>
            </a:r>
          </a:p>
        </p:txBody>
      </p:sp>
      <p:sp>
        <p:nvSpPr>
          <p:cNvPr id="7" name="">
            <a:extLst xmlns:a="http://schemas.openxmlformats.org/drawingml/2006/main">
              <a:ext uri="{FF2B5EF4-FFF2-40B4-BE49-F238E27FC236}">
                <a16:creationId xmlns:a16="http://schemas.microsoft.com/office/drawing/2014/main" id="{92BB6E2D-4BD2-4A40-9840-189333C46A19}"/>
              </a:ext>
            </a:extLst>
          </p:cNvPr>
          <p:cNvSpPr>
            <a:spLocks xmlns:a="http://schemas.openxmlformats.org/drawingml/2006/main" noGrp="1"/>
          </p:cNvSpPr>
          <p:nvPr/>
        </p:nvSpPr>
        <p:spPr>
          <a:xfrm xmlns:a="http://schemas.openxmlformats.org/drawingml/2006/main">
            <a:off x="4000500" y="2619375"/>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F3F6FA"/>
                </a:solidFill>
                <a:latin typeface="Helvetica Neue"/>
                <a:ea typeface="Helvetica Neue"/>
                <a:cs typeface="Helvetica Neue"/>
              </a:defRPr>
            </a:pPr>
            <a:r>
              <a:rPr sz="2175" b="0">
                <a:solidFill>
                  <a:srgbClr val="F3F6FA"/>
                </a:solidFill>
                <a:latin typeface="Helvetica Neue"/>
                <a:ea typeface="Helvetica Neue"/>
                <a:cs typeface="Helvetica Neue"/>
              </a:rPr>
              <a:t>Match request IDs with WAF logs and application effects.</a:t>
            </a:r>
          </a:p>
        </p:txBody>
      </p:sp>
      <p:sp>
        <p:nvSpPr>
          <p:cNvPr id="8" name="">
            <a:extLst xmlns:a="http://schemas.openxmlformats.org/drawingml/2006/main">
              <a:ext uri="{FF2B5EF4-FFF2-40B4-BE49-F238E27FC236}">
                <a16:creationId xmlns:a16="http://schemas.microsoft.com/office/drawing/2014/main" id="{ADEBCB3A-A74E-4974-B805-0AA1BFDF07E5}"/>
              </a:ext>
            </a:extLst>
          </p:cNvPr>
          <p:cNvSpPr>
            <a:spLocks xmlns:a="http://schemas.openxmlformats.org/drawingml/2006/main" noGrp="1"/>
          </p:cNvSpPr>
          <p:nvPr/>
        </p:nvSpPr>
        <p:spPr>
          <a:xfrm xmlns:a="http://schemas.openxmlformats.org/drawingml/2006/main">
            <a:off x="571500" y="381000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5EE3EE"/>
                </a:solidFill>
                <a:latin typeface="Helvetica Neue"/>
                <a:ea typeface="Helvetica Neue"/>
                <a:cs typeface="Helvetica Neue"/>
              </a:defRPr>
            </a:pPr>
            <a:r>
              <a:rPr sz="2175" b="1">
                <a:solidFill>
                  <a:srgbClr val="5EE3EE"/>
                </a:solidFill>
                <a:latin typeface="Helvetica Neue"/>
                <a:ea typeface="Helvetica Neue"/>
                <a:cs typeface="Helvetica Neue"/>
              </a:rPr>
              <a:t>Run storage</a:t>
            </a:r>
          </a:p>
        </p:txBody>
      </p:sp>
      <p:sp>
        <p:nvSpPr>
          <p:cNvPr id="9" name="">
            <a:extLst xmlns:a="http://schemas.openxmlformats.org/drawingml/2006/main">
              <a:ext uri="{FF2B5EF4-FFF2-40B4-BE49-F238E27FC236}">
                <a16:creationId xmlns:a16="http://schemas.microsoft.com/office/drawing/2014/main" id="{43396F4E-6CC1-4BE7-B0EC-A788204E0EF9}"/>
              </a:ext>
            </a:extLst>
          </p:cNvPr>
          <p:cNvSpPr>
            <a:spLocks xmlns:a="http://schemas.openxmlformats.org/drawingml/2006/main" noGrp="1"/>
          </p:cNvSpPr>
          <p:nvPr/>
        </p:nvSpPr>
        <p:spPr>
          <a:xfrm xmlns:a="http://schemas.openxmlformats.org/drawingml/2006/main">
            <a:off x="4000500" y="3810000"/>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F3F6FA"/>
                </a:solidFill>
                <a:latin typeface="Helvetica Neue"/>
                <a:ea typeface="Helvetica Neue"/>
                <a:cs typeface="Helvetica Neue"/>
              </a:defRPr>
            </a:pPr>
            <a:r>
              <a:rPr sz="2175" b="0">
                <a:solidFill>
                  <a:srgbClr val="F3F6FA"/>
                </a:solidFill>
                <a:latin typeface="Helvetica Neue"/>
                <a:ea typeface="Helvetica Neue"/>
                <a:cs typeface="Helvetica Neue"/>
              </a:rPr>
              <a:t>SQLite stores metadata. Restricted folders store evidence files.</a:t>
            </a:r>
          </a:p>
        </p:txBody>
      </p:sp>
      <p:sp>
        <p:nvSpPr>
          <p:cNvPr id="10" name="">
            <a:extLst xmlns:a="http://schemas.openxmlformats.org/drawingml/2006/main">
              <a:ext uri="{FF2B5EF4-FFF2-40B4-BE49-F238E27FC236}">
                <a16:creationId xmlns:a16="http://schemas.microsoft.com/office/drawing/2014/main" id="{F83A3C0F-F351-406E-B4FC-ED0EDD0889D2}"/>
              </a:ext>
            </a:extLst>
          </p:cNvPr>
          <p:cNvSpPr>
            <a:spLocks xmlns:a="http://schemas.openxmlformats.org/drawingml/2006/main" noGrp="1"/>
          </p:cNvSpPr>
          <p:nvPr/>
        </p:nvSpPr>
        <p:spPr>
          <a:xfrm xmlns:a="http://schemas.openxmlformats.org/drawingml/2006/main">
            <a:off x="571500" y="5000625"/>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5EE3EE"/>
                </a:solidFill>
                <a:latin typeface="Helvetica Neue"/>
                <a:ea typeface="Helvetica Neue"/>
                <a:cs typeface="Helvetica Neue"/>
              </a:defRPr>
            </a:pPr>
            <a:r>
              <a:rPr sz="2175" b="1">
                <a:solidFill>
                  <a:srgbClr val="5EE3EE"/>
                </a:solidFill>
                <a:latin typeface="Helvetica Neue"/>
                <a:ea typeface="Helvetica Neue"/>
                <a:cs typeface="Helvetica Neue"/>
              </a:rPr>
              <a:t>Human review</a:t>
            </a:r>
          </a:p>
        </p:txBody>
      </p:sp>
      <p:sp>
        <p:nvSpPr>
          <p:cNvPr id="11" name="">
            <a:extLst xmlns:a="http://schemas.openxmlformats.org/drawingml/2006/main">
              <a:ext uri="{FF2B5EF4-FFF2-40B4-BE49-F238E27FC236}">
                <a16:creationId xmlns:a16="http://schemas.microsoft.com/office/drawing/2014/main" id="{A43E1AAB-051A-4D01-B4A4-D0DF3875A874}"/>
              </a:ext>
            </a:extLst>
          </p:cNvPr>
          <p:cNvSpPr>
            <a:spLocks xmlns:a="http://schemas.openxmlformats.org/drawingml/2006/main" noGrp="1"/>
          </p:cNvSpPr>
          <p:nvPr/>
        </p:nvSpPr>
        <p:spPr>
          <a:xfrm xmlns:a="http://schemas.openxmlformats.org/drawingml/2006/main">
            <a:off x="4000500" y="5000625"/>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F3F6FA"/>
                </a:solidFill>
                <a:latin typeface="Helvetica Neue"/>
                <a:ea typeface="Helvetica Neue"/>
                <a:cs typeface="Helvetica Neue"/>
              </a:defRPr>
            </a:pPr>
            <a:r>
              <a:rPr sz="2175" b="0">
                <a:solidFill>
                  <a:srgbClr val="F3F6FA"/>
                </a:solidFill>
                <a:latin typeface="Helvetica Neue"/>
                <a:ea typeface="Helvetica Neue"/>
                <a:cs typeface="Helvetica Neue"/>
              </a:rPr>
              <a:t>Record findings, negative results, failed steps, and untested objectives.</a:t>
            </a:r>
          </a:p>
        </p:txBody>
      </p:sp>
    </p:spTree>
    <p:extLst>
      <p:ext uri="{BB962C8B-B14F-4D97-AF65-F5344CB8AC3E}">
        <p14:creationId xmlns:p14="http://schemas.microsoft.com/office/powerpoint/2010/main" val="633844296"/>
      </p:ext>
    </p:extLst>
  </p:cSld>
</p:sld>
</file>

<file path=ppt/slides/slide7.xml><?xml version="1.0" encoding="utf-8"?>
<p:sld xmlns:p="http://schemas.openxmlformats.org/presentationml/2006/main">
  <p:cSld>
    <p:bg>
      <p:bgPr>
        <a:solidFill xmlns:a="http://schemas.openxmlformats.org/drawingml/2006/main">
          <a:srgbClr val="0D1726"/>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449CCC7-3873-4847-B8EA-828A653B5989}"/>
              </a:ext>
            </a:extLst>
          </p:cNvPr>
          <p:cNvSpPr>
            <a:spLocks xmlns:a="http://schemas.openxmlformats.org/drawingml/2006/main" noGrp="1"/>
          </p:cNvSpPr>
          <p:nvPr/>
        </p:nvSpPr>
        <p:spPr>
          <a:xfrm xmlns:a="http://schemas.openxmlformats.org/drawingml/2006/main">
            <a:off x="571500" y="4000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F3F6FA"/>
                </a:solidFill>
                <a:latin typeface="Helvetica Neue"/>
                <a:ea typeface="Helvetica Neue"/>
                <a:cs typeface="Helvetica Neue"/>
              </a:defRPr>
            </a:pPr>
            <a:r>
              <a:rPr sz="3225" b="1">
                <a:solidFill>
                  <a:srgbClr val="F3F6FA"/>
                </a:solidFill>
                <a:latin typeface="Helvetica Neue"/>
                <a:ea typeface="Helvetica Neue"/>
                <a:cs typeface="Helvetica Neue"/>
              </a:rPr>
              <a:t>Tools and integration</a:t>
            </a:r>
          </a:p>
        </p:txBody>
      </p:sp>
      <p:sp>
        <p:nvSpPr>
          <p:cNvPr id="2" name="">
            <a:extLst xmlns:a="http://schemas.openxmlformats.org/drawingml/2006/main">
              <a:ext uri="{FF2B5EF4-FFF2-40B4-BE49-F238E27FC236}">
                <a16:creationId xmlns:a16="http://schemas.microsoft.com/office/drawing/2014/main" id="{3F20FD74-C5A3-4457-A832-68DDA7366CB9}"/>
              </a:ext>
            </a:extLst>
          </p:cNvPr>
          <p:cNvSpPr>
            <a:spLocks xmlns:a="http://schemas.openxmlformats.org/drawingml/2006/main" noGrp="1"/>
          </p:cNvSpPr>
          <p:nvPr/>
        </p:nvSpPr>
        <p:spPr>
          <a:xfrm xmlns:a="http://schemas.openxmlformats.org/drawingml/2006/main">
            <a:off x="571500" y="6400800"/>
            <a:ext cx="523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B7C5D7"/>
                </a:solidFill>
                <a:latin typeface="Helvetica Neue"/>
                <a:ea typeface="Helvetica Neue"/>
                <a:cs typeface="Helvetica Neue"/>
              </a:defRPr>
            </a:pPr>
            <a:r>
              <a:rPr sz="1350" b="0">
                <a:solidFill>
                  <a:srgbClr val="B7C5D7"/>
                </a:solidFill>
                <a:latin typeface="Helvetica Neue"/>
                <a:ea typeface="Helvetica Neue"/>
                <a:cs typeface="Helvetica Neue"/>
              </a:rPr>
              <a:t>Proposed test design</a:t>
            </a:r>
          </a:p>
        </p:txBody>
      </p:sp>
      <p:sp>
        <p:nvSpPr>
          <p:cNvPr id="3" name="">
            <a:extLst xmlns:a="http://schemas.openxmlformats.org/drawingml/2006/main">
              <a:ext uri="{FF2B5EF4-FFF2-40B4-BE49-F238E27FC236}">
                <a16:creationId xmlns:a16="http://schemas.microsoft.com/office/drawing/2014/main" id="{870F3BAF-C45B-468D-B092-000757F58422}"/>
              </a:ext>
            </a:extLst>
          </p:cNvPr>
          <p:cNvSpPr>
            <a:spLocks xmlns:a="http://schemas.openxmlformats.org/drawingml/2006/main" noGrp="1"/>
          </p:cNvSpPr>
          <p:nvPr/>
        </p:nvSpPr>
        <p:spPr>
          <a:xfrm xmlns:a="http://schemas.openxmlformats.org/drawingml/2006/main">
            <a:off x="11334750" y="64008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B7C5D7"/>
                </a:solidFill>
                <a:latin typeface="Helvetica Neue"/>
                <a:ea typeface="Helvetica Neue"/>
                <a:cs typeface="Helvetica Neue"/>
              </a:defRPr>
            </a:pPr>
            <a:r>
              <a:rPr sz="1350" b="0">
                <a:solidFill>
                  <a:srgbClr val="B7C5D7"/>
                </a:solidFill>
                <a:latin typeface="Helvetica Neue"/>
                <a:ea typeface="Helvetica Neue"/>
                <a:cs typeface="Helvetica Neue"/>
              </a:rPr>
              <a:t>07</a:t>
            </a:r>
          </a:p>
        </p:txBody>
      </p:sp>
      <p:sp>
        <p:nvSpPr>
          <p:cNvPr id="4" name="">
            <a:extLst xmlns:a="http://schemas.openxmlformats.org/drawingml/2006/main">
              <a:ext uri="{FF2B5EF4-FFF2-40B4-BE49-F238E27FC236}">
                <a16:creationId xmlns:a16="http://schemas.microsoft.com/office/drawing/2014/main" id="{BB6C26D3-A2C8-4AFE-93A5-393F9A3E6137}"/>
              </a:ext>
            </a:extLst>
          </p:cNvPr>
          <p:cNvSpPr>
            <a:spLocks xmlns:a="http://schemas.openxmlformats.org/drawingml/2006/main" noGrp="1"/>
          </p:cNvSpPr>
          <p:nvPr/>
        </p:nvSpPr>
        <p:spPr>
          <a:xfrm xmlns:a="http://schemas.openxmlformats.org/drawingml/2006/main">
            <a:off x="571500" y="142875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5EE3EE"/>
                </a:solidFill>
                <a:latin typeface="Helvetica Neue"/>
                <a:ea typeface="Helvetica Neue"/>
                <a:cs typeface="Helvetica Neue"/>
              </a:defRPr>
            </a:pPr>
            <a:r>
              <a:rPr sz="2175" b="1">
                <a:solidFill>
                  <a:srgbClr val="5EE3EE"/>
                </a:solidFill>
                <a:latin typeface="Helvetica Neue"/>
                <a:ea typeface="Helvetica Neue"/>
                <a:cs typeface="Helvetica Neue"/>
              </a:rPr>
              <a:t>HTTP and WAF tests</a:t>
            </a:r>
          </a:p>
        </p:txBody>
      </p:sp>
      <p:sp>
        <p:nvSpPr>
          <p:cNvPr id="5" name="">
            <a:extLst xmlns:a="http://schemas.openxmlformats.org/drawingml/2006/main">
              <a:ext uri="{FF2B5EF4-FFF2-40B4-BE49-F238E27FC236}">
                <a16:creationId xmlns:a16="http://schemas.microsoft.com/office/drawing/2014/main" id="{0BB56264-1CBE-48F8-9E6D-329B321E6C5C}"/>
              </a:ext>
            </a:extLst>
          </p:cNvPr>
          <p:cNvSpPr>
            <a:spLocks xmlns:a="http://schemas.openxmlformats.org/drawingml/2006/main" noGrp="1"/>
          </p:cNvSpPr>
          <p:nvPr/>
        </p:nvSpPr>
        <p:spPr>
          <a:xfrm xmlns:a="http://schemas.openxmlformats.org/drawingml/2006/main">
            <a:off x="4000500" y="1428750"/>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F3F6FA"/>
                </a:solidFill>
                <a:latin typeface="Helvetica Neue"/>
                <a:ea typeface="Helvetica Neue"/>
                <a:cs typeface="Helvetica Neue"/>
              </a:defRPr>
            </a:pPr>
            <a:r>
              <a:rPr sz="2175" b="0">
                <a:solidFill>
                  <a:srgbClr val="F3F6FA"/>
                </a:solidFill>
                <a:latin typeface="Helvetica Neue"/>
                <a:ea typeface="Helvetica Neue"/>
                <a:cs typeface="Helvetica Neue"/>
              </a:rPr>
              <a:t>The collector, wafw00f, WhatWaf, and reviewed Nuclei templates.</a:t>
            </a:r>
          </a:p>
        </p:txBody>
      </p:sp>
      <p:sp>
        <p:nvSpPr>
          <p:cNvPr id="6" name="">
            <a:extLst xmlns:a="http://schemas.openxmlformats.org/drawingml/2006/main">
              <a:ext uri="{FF2B5EF4-FFF2-40B4-BE49-F238E27FC236}">
                <a16:creationId xmlns:a16="http://schemas.microsoft.com/office/drawing/2014/main" id="{453D8941-BA36-48B2-A9B6-23C71470D67F}"/>
              </a:ext>
            </a:extLst>
          </p:cNvPr>
          <p:cNvSpPr>
            <a:spLocks xmlns:a="http://schemas.openxmlformats.org/drawingml/2006/main" noGrp="1"/>
          </p:cNvSpPr>
          <p:nvPr/>
        </p:nvSpPr>
        <p:spPr>
          <a:xfrm xmlns:a="http://schemas.openxmlformats.org/drawingml/2006/main">
            <a:off x="571500" y="247650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5EE3EE"/>
                </a:solidFill>
                <a:latin typeface="Helvetica Neue"/>
                <a:ea typeface="Helvetica Neue"/>
                <a:cs typeface="Helvetica Neue"/>
              </a:defRPr>
            </a:pPr>
            <a:r>
              <a:rPr sz="2175" b="1">
                <a:solidFill>
                  <a:srgbClr val="5EE3EE"/>
                </a:solidFill>
                <a:latin typeface="Helvetica Neue"/>
                <a:ea typeface="Helvetica Neue"/>
                <a:cs typeface="Helvetica Neue"/>
              </a:rPr>
              <a:t>Web investigation</a:t>
            </a:r>
          </a:p>
        </p:txBody>
      </p:sp>
      <p:sp>
        <p:nvSpPr>
          <p:cNvPr id="7" name="">
            <a:extLst xmlns:a="http://schemas.openxmlformats.org/drawingml/2006/main">
              <a:ext uri="{FF2B5EF4-FFF2-40B4-BE49-F238E27FC236}">
                <a16:creationId xmlns:a16="http://schemas.microsoft.com/office/drawing/2014/main" id="{156BC5EB-8034-497B-A6C2-F034FAA4D551}"/>
              </a:ext>
            </a:extLst>
          </p:cNvPr>
          <p:cNvSpPr>
            <a:spLocks xmlns:a="http://schemas.openxmlformats.org/drawingml/2006/main" noGrp="1"/>
          </p:cNvSpPr>
          <p:nvPr/>
        </p:nvSpPr>
        <p:spPr>
          <a:xfrm xmlns:a="http://schemas.openxmlformats.org/drawingml/2006/main">
            <a:off x="4000500" y="2476500"/>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F3F6FA"/>
                </a:solidFill>
                <a:latin typeface="Helvetica Neue"/>
                <a:ea typeface="Helvetica Neue"/>
                <a:cs typeface="Helvetica Neue"/>
              </a:defRPr>
            </a:pPr>
            <a:r>
              <a:rPr sz="2175" b="0">
                <a:solidFill>
                  <a:srgbClr val="F3F6FA"/>
                </a:solidFill>
                <a:latin typeface="Helvetica Neue"/>
                <a:ea typeface="Helvetica Neue"/>
                <a:cs typeface="Helvetica Neue"/>
              </a:rPr>
              <a:t>Strix, Shannon, Pentest-AI, CyberStrike, and Numasec.</a:t>
            </a:r>
          </a:p>
        </p:txBody>
      </p:sp>
      <p:sp>
        <p:nvSpPr>
          <p:cNvPr id="8" name="">
            <a:extLst xmlns:a="http://schemas.openxmlformats.org/drawingml/2006/main">
              <a:ext uri="{FF2B5EF4-FFF2-40B4-BE49-F238E27FC236}">
                <a16:creationId xmlns:a16="http://schemas.microsoft.com/office/drawing/2014/main" id="{B42E509E-63A4-4129-82E0-1EF900753068}"/>
              </a:ext>
            </a:extLst>
          </p:cNvPr>
          <p:cNvSpPr>
            <a:spLocks xmlns:a="http://schemas.openxmlformats.org/drawingml/2006/main" noGrp="1"/>
          </p:cNvSpPr>
          <p:nvPr/>
        </p:nvSpPr>
        <p:spPr>
          <a:xfrm xmlns:a="http://schemas.openxmlformats.org/drawingml/2006/main">
            <a:off x="571500" y="352425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5EE3EE"/>
                </a:solidFill>
                <a:latin typeface="Helvetica Neue"/>
                <a:ea typeface="Helvetica Neue"/>
                <a:cs typeface="Helvetica Neue"/>
              </a:defRPr>
            </a:pPr>
            <a:r>
              <a:rPr sz="2175" b="1">
                <a:solidFill>
                  <a:srgbClr val="5EE3EE"/>
                </a:solidFill>
                <a:latin typeface="Helvetica Neue"/>
                <a:ea typeface="Helvetica Neue"/>
                <a:cs typeface="Helvetica Neue"/>
              </a:rPr>
              <a:t>Source checks</a:t>
            </a:r>
          </a:p>
        </p:txBody>
      </p:sp>
      <p:sp>
        <p:nvSpPr>
          <p:cNvPr id="9" name="">
            <a:extLst xmlns:a="http://schemas.openxmlformats.org/drawingml/2006/main">
              <a:ext uri="{FF2B5EF4-FFF2-40B4-BE49-F238E27FC236}">
                <a16:creationId xmlns:a16="http://schemas.microsoft.com/office/drawing/2014/main" id="{5783F15B-59FF-426F-9FB6-C6B1E9D8AAA2}"/>
              </a:ext>
            </a:extLst>
          </p:cNvPr>
          <p:cNvSpPr>
            <a:spLocks xmlns:a="http://schemas.openxmlformats.org/drawingml/2006/main" noGrp="1"/>
          </p:cNvSpPr>
          <p:nvPr/>
        </p:nvSpPr>
        <p:spPr>
          <a:xfrm xmlns:a="http://schemas.openxmlformats.org/drawingml/2006/main">
            <a:off x="4000500" y="3524250"/>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F3F6FA"/>
                </a:solidFill>
                <a:latin typeface="Helvetica Neue"/>
                <a:ea typeface="Helvetica Neue"/>
                <a:cs typeface="Helvetica Neue"/>
              </a:defRPr>
            </a:pPr>
            <a:r>
              <a:rPr sz="2175" b="0">
                <a:solidFill>
                  <a:srgbClr val="F3F6FA"/>
                </a:solidFill>
                <a:latin typeface="Helvetica Neue"/>
                <a:ea typeface="Helvetica Neue"/>
                <a:cs typeface="Helvetica Neue"/>
              </a:rPr>
              <a:t>Raptor, Semgrep, and CodeQL need approved source and accepted adapters.</a:t>
            </a:r>
          </a:p>
        </p:txBody>
      </p:sp>
      <p:sp>
        <p:nvSpPr>
          <p:cNvPr id="10" name="">
            <a:extLst xmlns:a="http://schemas.openxmlformats.org/drawingml/2006/main">
              <a:ext uri="{FF2B5EF4-FFF2-40B4-BE49-F238E27FC236}">
                <a16:creationId xmlns:a16="http://schemas.microsoft.com/office/drawing/2014/main" id="{509CA8BC-FFA0-4F35-B5AA-6DCA53A46DC9}"/>
              </a:ext>
            </a:extLst>
          </p:cNvPr>
          <p:cNvSpPr>
            <a:spLocks xmlns:a="http://schemas.openxmlformats.org/drawingml/2006/main" noGrp="1"/>
          </p:cNvSpPr>
          <p:nvPr/>
        </p:nvSpPr>
        <p:spPr>
          <a:xfrm xmlns:a="http://schemas.openxmlformats.org/drawingml/2006/main">
            <a:off x="571500" y="457200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5EE3EE"/>
                </a:solidFill>
                <a:latin typeface="Helvetica Neue"/>
                <a:ea typeface="Helvetica Neue"/>
                <a:cs typeface="Helvetica Neue"/>
              </a:defRPr>
            </a:pPr>
            <a:r>
              <a:rPr sz="2175" b="1">
                <a:solidFill>
                  <a:srgbClr val="5EE3EE"/>
                </a:solidFill>
                <a:latin typeface="Helvetica Neue"/>
                <a:ea typeface="Helvetica Neue"/>
                <a:cs typeface="Helvetica Neue"/>
              </a:rPr>
              <a:t>Shared controls</a:t>
            </a:r>
          </a:p>
        </p:txBody>
      </p:sp>
      <p:sp>
        <p:nvSpPr>
          <p:cNvPr id="11" name="">
            <a:extLst xmlns:a="http://schemas.openxmlformats.org/drawingml/2006/main">
              <a:ext uri="{FF2B5EF4-FFF2-40B4-BE49-F238E27FC236}">
                <a16:creationId xmlns:a16="http://schemas.microsoft.com/office/drawing/2014/main" id="{C069EEEF-AFD9-4E84-9566-FFBF1E70E660}"/>
              </a:ext>
            </a:extLst>
          </p:cNvPr>
          <p:cNvSpPr>
            <a:spLocks xmlns:a="http://schemas.openxmlformats.org/drawingml/2006/main" noGrp="1"/>
          </p:cNvSpPr>
          <p:nvPr/>
        </p:nvSpPr>
        <p:spPr>
          <a:xfrm xmlns:a="http://schemas.openxmlformats.org/drawingml/2006/main">
            <a:off x="4000500" y="4572000"/>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F3F6FA"/>
                </a:solidFill>
                <a:latin typeface="Helvetica Neue"/>
                <a:ea typeface="Helvetica Neue"/>
                <a:cs typeface="Helvetica Neue"/>
              </a:defRPr>
            </a:pPr>
            <a:r>
              <a:rPr sz="2175" b="0">
                <a:solidFill>
                  <a:srgbClr val="F3F6FA"/>
                </a:solidFill>
                <a:latin typeface="Helvetica Neue"/>
                <a:ea typeface="Helvetica Neue"/>
                <a:cs typeface="Helvetica Neue"/>
              </a:rPr>
              <a:t>Scope and actions use IP1/IP3. Execution uses IP2/IP5. Evidence uses IP6.</a:t>
            </a:r>
          </a:p>
        </p:txBody>
      </p:sp>
      <p:sp>
        <p:nvSpPr>
          <p:cNvPr id="12" name="">
            <a:extLst xmlns:a="http://schemas.openxmlformats.org/drawingml/2006/main">
              <a:ext uri="{FF2B5EF4-FFF2-40B4-BE49-F238E27FC236}">
                <a16:creationId xmlns:a16="http://schemas.microsoft.com/office/drawing/2014/main" id="{1125E010-97B5-4C99-BD6E-D3202E057F51}"/>
              </a:ext>
            </a:extLst>
          </p:cNvPr>
          <p:cNvSpPr>
            <a:spLocks xmlns:a="http://schemas.openxmlformats.org/drawingml/2006/main" noGrp="1"/>
          </p:cNvSpPr>
          <p:nvPr/>
        </p:nvSpPr>
        <p:spPr>
          <a:xfrm xmlns:a="http://schemas.openxmlformats.org/drawingml/2006/main">
            <a:off x="571500" y="58102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FFD080"/>
                </a:solidFill>
                <a:latin typeface="Helvetica Neue"/>
                <a:ea typeface="Helvetica Neue"/>
                <a:cs typeface="Helvetica Neue"/>
              </a:defRPr>
            </a:pPr>
            <a:r>
              <a:rPr sz="1950" b="0">
                <a:solidFill>
                  <a:srgbClr val="FFD080"/>
                </a:solidFill>
                <a:latin typeface="Helvetica Neue"/>
                <a:ea typeface="Helvetica Neue"/>
                <a:cs typeface="Helvetica Neue"/>
              </a:rPr>
              <a:t>Most tools remain unintegrated. Review each tool’s license and limits.</a:t>
            </a:r>
          </a:p>
        </p:txBody>
      </p:sp>
    </p:spTree>
    <p:extLst>
      <p:ext uri="{BB962C8B-B14F-4D97-AF65-F5344CB8AC3E}">
        <p14:creationId xmlns:p14="http://schemas.microsoft.com/office/powerpoint/2010/main" val="503884171"/>
      </p:ext>
    </p:extLst>
  </p:cSld>
</p:sld>
</file>

<file path=ppt/slides/slide8.xml><?xml version="1.0" encoding="utf-8"?>
<p:sld xmlns:p="http://schemas.openxmlformats.org/presentationml/2006/main">
  <p:cSld>
    <p:bg>
      <p:bgPr>
        <a:solidFill xmlns:a="http://schemas.openxmlformats.org/drawingml/2006/main">
          <a:srgbClr val="0D1726"/>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8E3165E-4BCE-4426-AE37-B00DFDDE1CBD}"/>
              </a:ext>
            </a:extLst>
          </p:cNvPr>
          <p:cNvSpPr>
            <a:spLocks xmlns:a="http://schemas.openxmlformats.org/drawingml/2006/main" noGrp="1"/>
          </p:cNvSpPr>
          <p:nvPr/>
        </p:nvSpPr>
        <p:spPr>
          <a:xfrm xmlns:a="http://schemas.openxmlformats.org/drawingml/2006/main">
            <a:off x="571500" y="4000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F3F6FA"/>
                </a:solidFill>
                <a:latin typeface="Helvetica Neue"/>
                <a:ea typeface="Helvetica Neue"/>
                <a:cs typeface="Helvetica Neue"/>
              </a:defRPr>
            </a:pPr>
            <a:r>
              <a:rPr sz="3225" b="1">
                <a:solidFill>
                  <a:srgbClr val="F3F6FA"/>
                </a:solidFill>
                <a:latin typeface="Helvetica Neue"/>
                <a:ea typeface="Helvetica Neue"/>
                <a:cs typeface="Helvetica Neue"/>
              </a:rPr>
              <a:t>AI application testing</a:t>
            </a:r>
          </a:p>
        </p:txBody>
      </p:sp>
      <p:sp>
        <p:nvSpPr>
          <p:cNvPr id="2" name="">
            <a:extLst xmlns:a="http://schemas.openxmlformats.org/drawingml/2006/main">
              <a:ext uri="{FF2B5EF4-FFF2-40B4-BE49-F238E27FC236}">
                <a16:creationId xmlns:a16="http://schemas.microsoft.com/office/drawing/2014/main" id="{07303285-7C70-472A-BC0C-24D81440F5DC}"/>
              </a:ext>
            </a:extLst>
          </p:cNvPr>
          <p:cNvSpPr>
            <a:spLocks xmlns:a="http://schemas.openxmlformats.org/drawingml/2006/main" noGrp="1"/>
          </p:cNvSpPr>
          <p:nvPr/>
        </p:nvSpPr>
        <p:spPr>
          <a:xfrm xmlns:a="http://schemas.openxmlformats.org/drawingml/2006/main">
            <a:off x="571500" y="6400800"/>
            <a:ext cx="523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B7C5D7"/>
                </a:solidFill>
                <a:latin typeface="Helvetica Neue"/>
                <a:ea typeface="Helvetica Neue"/>
                <a:cs typeface="Helvetica Neue"/>
              </a:defRPr>
            </a:pPr>
            <a:r>
              <a:rPr sz="1350" b="0">
                <a:solidFill>
                  <a:srgbClr val="B7C5D7"/>
                </a:solidFill>
                <a:latin typeface="Helvetica Neue"/>
                <a:ea typeface="Helvetica Neue"/>
                <a:cs typeface="Helvetica Neue"/>
              </a:rPr>
              <a:t>Proposed test design</a:t>
            </a:r>
          </a:p>
        </p:txBody>
      </p:sp>
      <p:sp>
        <p:nvSpPr>
          <p:cNvPr id="3" name="">
            <a:extLst xmlns:a="http://schemas.openxmlformats.org/drawingml/2006/main">
              <a:ext uri="{FF2B5EF4-FFF2-40B4-BE49-F238E27FC236}">
                <a16:creationId xmlns:a16="http://schemas.microsoft.com/office/drawing/2014/main" id="{5C14A39A-A9E1-4084-BC2F-C92EF59A5E9D}"/>
              </a:ext>
            </a:extLst>
          </p:cNvPr>
          <p:cNvSpPr>
            <a:spLocks xmlns:a="http://schemas.openxmlformats.org/drawingml/2006/main" noGrp="1"/>
          </p:cNvSpPr>
          <p:nvPr/>
        </p:nvSpPr>
        <p:spPr>
          <a:xfrm xmlns:a="http://schemas.openxmlformats.org/drawingml/2006/main">
            <a:off x="11334750" y="64008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B7C5D7"/>
                </a:solidFill>
                <a:latin typeface="Helvetica Neue"/>
                <a:ea typeface="Helvetica Neue"/>
                <a:cs typeface="Helvetica Neue"/>
              </a:defRPr>
            </a:pPr>
            <a:r>
              <a:rPr sz="1350" b="0">
                <a:solidFill>
                  <a:srgbClr val="B7C5D7"/>
                </a:solidFill>
                <a:latin typeface="Helvetica Neue"/>
                <a:ea typeface="Helvetica Neue"/>
                <a:cs typeface="Helvetica Neue"/>
              </a:rPr>
              <a:t>08</a:t>
            </a:r>
          </a:p>
        </p:txBody>
      </p:sp>
      <p:sp>
        <p:nvSpPr>
          <p:cNvPr id="4" name="">
            <a:extLst xmlns:a="http://schemas.openxmlformats.org/drawingml/2006/main">
              <a:ext uri="{FF2B5EF4-FFF2-40B4-BE49-F238E27FC236}">
                <a16:creationId xmlns:a16="http://schemas.microsoft.com/office/drawing/2014/main" id="{0FB6AFF0-D91C-4D20-91D2-EB4D039AE3AB}"/>
              </a:ext>
            </a:extLst>
          </p:cNvPr>
          <p:cNvSpPr>
            <a:spLocks xmlns:a="http://schemas.openxmlformats.org/drawingml/2006/main" noGrp="1"/>
          </p:cNvSpPr>
          <p:nvPr/>
        </p:nvSpPr>
        <p:spPr>
          <a:xfrm xmlns:a="http://schemas.openxmlformats.org/drawingml/2006/main">
            <a:off x="571500" y="1476375"/>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5EE3EE"/>
                </a:solidFill>
                <a:latin typeface="Helvetica Neue"/>
                <a:ea typeface="Helvetica Neue"/>
                <a:cs typeface="Helvetica Neue"/>
              </a:defRPr>
            </a:pPr>
            <a:r>
              <a:rPr sz="2175" b="1">
                <a:solidFill>
                  <a:srgbClr val="5EE3EE"/>
                </a:solidFill>
                <a:latin typeface="Helvetica Neue"/>
                <a:ea typeface="Helvetica Neue"/>
                <a:cs typeface="Helvetica Neue"/>
              </a:rPr>
              <a:t>Prompt and disclosure</a:t>
            </a:r>
          </a:p>
        </p:txBody>
      </p:sp>
      <p:sp>
        <p:nvSpPr>
          <p:cNvPr id="5" name="">
            <a:extLst xmlns:a="http://schemas.openxmlformats.org/drawingml/2006/main">
              <a:ext uri="{FF2B5EF4-FFF2-40B4-BE49-F238E27FC236}">
                <a16:creationId xmlns:a16="http://schemas.microsoft.com/office/drawing/2014/main" id="{DC5B810B-7A7F-4AB8-9B6E-24F2CD67482B}"/>
              </a:ext>
            </a:extLst>
          </p:cNvPr>
          <p:cNvSpPr>
            <a:spLocks xmlns:a="http://schemas.openxmlformats.org/drawingml/2006/main" noGrp="1"/>
          </p:cNvSpPr>
          <p:nvPr/>
        </p:nvSpPr>
        <p:spPr>
          <a:xfrm xmlns:a="http://schemas.openxmlformats.org/drawingml/2006/main">
            <a:off x="4000500" y="1476375"/>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F3F6FA"/>
                </a:solidFill>
                <a:latin typeface="Helvetica Neue"/>
                <a:ea typeface="Helvetica Neue"/>
                <a:cs typeface="Helvetica Neue"/>
              </a:defRPr>
            </a:pPr>
            <a:r>
              <a:rPr sz="2175" b="0">
                <a:solidFill>
                  <a:srgbClr val="F3F6FA"/>
                </a:solidFill>
                <a:latin typeface="Helvetica Neue"/>
                <a:ea typeface="Helvetica Neue"/>
                <a:cs typeface="Helvetica Neue"/>
              </a:rPr>
              <a:t>Check task changes, protected synthetic instructions, and data exposure.</a:t>
            </a:r>
          </a:p>
        </p:txBody>
      </p:sp>
      <p:sp>
        <p:nvSpPr>
          <p:cNvPr id="6" name="">
            <a:extLst xmlns:a="http://schemas.openxmlformats.org/drawingml/2006/main">
              <a:ext uri="{FF2B5EF4-FFF2-40B4-BE49-F238E27FC236}">
                <a16:creationId xmlns:a16="http://schemas.microsoft.com/office/drawing/2014/main" id="{A30EF3CE-E909-4E31-A447-3CD0313687C4}"/>
              </a:ext>
            </a:extLst>
          </p:cNvPr>
          <p:cNvSpPr>
            <a:spLocks xmlns:a="http://schemas.openxmlformats.org/drawingml/2006/main" noGrp="1"/>
          </p:cNvSpPr>
          <p:nvPr/>
        </p:nvSpPr>
        <p:spPr>
          <a:xfrm xmlns:a="http://schemas.openxmlformats.org/drawingml/2006/main">
            <a:off x="571500" y="2714625"/>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5EE3EE"/>
                </a:solidFill>
                <a:latin typeface="Helvetica Neue"/>
                <a:ea typeface="Helvetica Neue"/>
                <a:cs typeface="Helvetica Neue"/>
              </a:defRPr>
            </a:pPr>
            <a:r>
              <a:rPr sz="2175" b="1">
                <a:solidFill>
                  <a:srgbClr val="5EE3EE"/>
                </a:solidFill>
                <a:latin typeface="Helvetica Neue"/>
                <a:ea typeface="Helvetica Neue"/>
                <a:cs typeface="Helvetica Neue"/>
              </a:rPr>
              <a:t>Retrieved documents</a:t>
            </a:r>
          </a:p>
        </p:txBody>
      </p:sp>
      <p:sp>
        <p:nvSpPr>
          <p:cNvPr id="7" name="">
            <a:extLst xmlns:a="http://schemas.openxmlformats.org/drawingml/2006/main">
              <a:ext uri="{FF2B5EF4-FFF2-40B4-BE49-F238E27FC236}">
                <a16:creationId xmlns:a16="http://schemas.microsoft.com/office/drawing/2014/main" id="{20419009-AE10-4F83-9335-E54CBCCE93B2}"/>
              </a:ext>
            </a:extLst>
          </p:cNvPr>
          <p:cNvSpPr>
            <a:spLocks xmlns:a="http://schemas.openxmlformats.org/drawingml/2006/main" noGrp="1"/>
          </p:cNvSpPr>
          <p:nvPr/>
        </p:nvSpPr>
        <p:spPr>
          <a:xfrm xmlns:a="http://schemas.openxmlformats.org/drawingml/2006/main">
            <a:off x="4000500" y="2714625"/>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F3F6FA"/>
                </a:solidFill>
                <a:latin typeface="Helvetica Neue"/>
                <a:ea typeface="Helvetica Neue"/>
                <a:cs typeface="Helvetica Neue"/>
              </a:defRPr>
            </a:pPr>
            <a:r>
              <a:rPr sz="2175" b="0">
                <a:solidFill>
                  <a:srgbClr val="F3F6FA"/>
                </a:solidFill>
                <a:latin typeface="Helvetica Neue"/>
                <a:ea typeface="Helvetica Neue"/>
                <a:cs typeface="Helvetica Neue"/>
              </a:rPr>
              <a:t>Check that one tenant cannot retrieve another tenant’s document.</a:t>
            </a:r>
          </a:p>
        </p:txBody>
      </p:sp>
      <p:sp>
        <p:nvSpPr>
          <p:cNvPr id="8" name="">
            <a:extLst xmlns:a="http://schemas.openxmlformats.org/drawingml/2006/main">
              <a:ext uri="{FF2B5EF4-FFF2-40B4-BE49-F238E27FC236}">
                <a16:creationId xmlns:a16="http://schemas.microsoft.com/office/drawing/2014/main" id="{48423767-9F28-4F93-ADA5-E5A23DC2AE1F}"/>
              </a:ext>
            </a:extLst>
          </p:cNvPr>
          <p:cNvSpPr>
            <a:spLocks xmlns:a="http://schemas.openxmlformats.org/drawingml/2006/main" noGrp="1"/>
          </p:cNvSpPr>
          <p:nvPr/>
        </p:nvSpPr>
        <p:spPr>
          <a:xfrm xmlns:a="http://schemas.openxmlformats.org/drawingml/2006/main">
            <a:off x="571500" y="3952875"/>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5EE3EE"/>
                </a:solidFill>
                <a:latin typeface="Helvetica Neue"/>
                <a:ea typeface="Helvetica Neue"/>
                <a:cs typeface="Helvetica Neue"/>
              </a:defRPr>
            </a:pPr>
            <a:r>
              <a:rPr sz="2175" b="1">
                <a:solidFill>
                  <a:srgbClr val="5EE3EE"/>
                </a:solidFill>
                <a:latin typeface="Helvetica Neue"/>
                <a:ea typeface="Helvetica Neue"/>
                <a:cs typeface="Helvetica Neue"/>
              </a:rPr>
              <a:t>Output consumers</a:t>
            </a:r>
          </a:p>
        </p:txBody>
      </p:sp>
      <p:sp>
        <p:nvSpPr>
          <p:cNvPr id="9" name="">
            <a:extLst xmlns:a="http://schemas.openxmlformats.org/drawingml/2006/main">
              <a:ext uri="{FF2B5EF4-FFF2-40B4-BE49-F238E27FC236}">
                <a16:creationId xmlns:a16="http://schemas.microsoft.com/office/drawing/2014/main" id="{A472036E-7ACD-4675-BAD2-5F4C4A7E39C0}"/>
              </a:ext>
            </a:extLst>
          </p:cNvPr>
          <p:cNvSpPr>
            <a:spLocks xmlns:a="http://schemas.openxmlformats.org/drawingml/2006/main" noGrp="1"/>
          </p:cNvSpPr>
          <p:nvPr/>
        </p:nvSpPr>
        <p:spPr>
          <a:xfrm xmlns:a="http://schemas.openxmlformats.org/drawingml/2006/main">
            <a:off x="4000500" y="3952875"/>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F3F6FA"/>
                </a:solidFill>
                <a:latin typeface="Helvetica Neue"/>
                <a:ea typeface="Helvetica Neue"/>
                <a:cs typeface="Helvetica Neue"/>
              </a:defRPr>
            </a:pPr>
            <a:r>
              <a:rPr sz="2175" b="0">
                <a:solidFill>
                  <a:srgbClr val="F3F6FA"/>
                </a:solidFill>
                <a:latin typeface="Helvetica Neue"/>
                <a:ea typeface="Helvetica Neue"/>
                <a:cs typeface="Helvetica Neue"/>
              </a:rPr>
              <a:t>Check actual effects when downstream components process model output.</a:t>
            </a:r>
          </a:p>
        </p:txBody>
      </p:sp>
      <p:sp>
        <p:nvSpPr>
          <p:cNvPr id="10" name="">
            <a:extLst xmlns:a="http://schemas.openxmlformats.org/drawingml/2006/main">
              <a:ext uri="{FF2B5EF4-FFF2-40B4-BE49-F238E27FC236}">
                <a16:creationId xmlns:a16="http://schemas.microsoft.com/office/drawing/2014/main" id="{1BCBD00C-4860-4D59-9FEA-02996582BDBE}"/>
              </a:ext>
            </a:extLst>
          </p:cNvPr>
          <p:cNvSpPr>
            <a:spLocks xmlns:a="http://schemas.openxmlformats.org/drawingml/2006/main" noGrp="1"/>
          </p:cNvSpPr>
          <p:nvPr/>
        </p:nvSpPr>
        <p:spPr>
          <a:xfrm xmlns:a="http://schemas.openxmlformats.org/drawingml/2006/main">
            <a:off x="571500" y="5553075"/>
            <a:ext cx="1076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FFD080"/>
                </a:solidFill>
                <a:latin typeface="Helvetica Neue"/>
                <a:ea typeface="Helvetica Neue"/>
                <a:cs typeface="Helvetica Neue"/>
              </a:defRPr>
            </a:pPr>
            <a:r>
              <a:rPr sz="2100" b="0">
                <a:solidFill>
                  <a:srgbClr val="FFD080"/>
                </a:solidFill>
                <a:latin typeface="Helvetica Neue"/>
                <a:ea typeface="Helvetica Neue"/>
                <a:cs typeface="Helvetica Neue"/>
              </a:rPr>
              <a:t>Use approved low limits to check requests, tokens, and elapsed time.</a:t>
            </a:r>
          </a:p>
        </p:txBody>
      </p:sp>
    </p:spTree>
    <p:extLst>
      <p:ext uri="{BB962C8B-B14F-4D97-AF65-F5344CB8AC3E}">
        <p14:creationId xmlns:p14="http://schemas.microsoft.com/office/powerpoint/2010/main" val="1736028856"/>
      </p:ext>
    </p:extLst>
  </p:cSld>
</p:sld>
</file>

<file path=ppt/slides/slide9.xml><?xml version="1.0" encoding="utf-8"?>
<p:sld xmlns:p="http://schemas.openxmlformats.org/presentationml/2006/main">
  <p:cSld>
    <p:bg>
      <p:bgPr>
        <a:solidFill xmlns:a="http://schemas.openxmlformats.org/drawingml/2006/main">
          <a:srgbClr val="0D1726"/>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B3BFC56-D3D9-405A-AA37-CB7F88BBF5B6}"/>
              </a:ext>
            </a:extLst>
          </p:cNvPr>
          <p:cNvSpPr>
            <a:spLocks xmlns:a="http://schemas.openxmlformats.org/drawingml/2006/main" noGrp="1"/>
          </p:cNvSpPr>
          <p:nvPr/>
        </p:nvSpPr>
        <p:spPr>
          <a:xfrm xmlns:a="http://schemas.openxmlformats.org/drawingml/2006/main">
            <a:off x="571500" y="4000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F3F6FA"/>
                </a:solidFill>
                <a:latin typeface="Helvetica Neue"/>
                <a:ea typeface="Helvetica Neue"/>
                <a:cs typeface="Helvetica Neue"/>
              </a:defRPr>
            </a:pPr>
            <a:r>
              <a:rPr sz="3225" b="1">
                <a:solidFill>
                  <a:srgbClr val="F3F6FA"/>
                </a:solidFill>
                <a:latin typeface="Helvetica Neue"/>
                <a:ea typeface="Helvetica Neue"/>
                <a:cs typeface="Helvetica Neue"/>
              </a:rPr>
              <a:t>AI application evidence path</a:t>
            </a:r>
          </a:p>
        </p:txBody>
      </p:sp>
      <p:sp>
        <p:nvSpPr>
          <p:cNvPr id="2" name="">
            <a:extLst xmlns:a="http://schemas.openxmlformats.org/drawingml/2006/main">
              <a:ext uri="{FF2B5EF4-FFF2-40B4-BE49-F238E27FC236}">
                <a16:creationId xmlns:a16="http://schemas.microsoft.com/office/drawing/2014/main" id="{A730D24A-7923-480F-92E4-C42D4A3915BF}"/>
              </a:ext>
            </a:extLst>
          </p:cNvPr>
          <p:cNvSpPr>
            <a:spLocks xmlns:a="http://schemas.openxmlformats.org/drawingml/2006/main" noGrp="1"/>
          </p:cNvSpPr>
          <p:nvPr/>
        </p:nvSpPr>
        <p:spPr>
          <a:xfrm xmlns:a="http://schemas.openxmlformats.org/drawingml/2006/main">
            <a:off x="571500" y="6400800"/>
            <a:ext cx="523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B7C5D7"/>
                </a:solidFill>
                <a:latin typeface="Helvetica Neue"/>
                <a:ea typeface="Helvetica Neue"/>
                <a:cs typeface="Helvetica Neue"/>
              </a:defRPr>
            </a:pPr>
            <a:r>
              <a:rPr sz="1350" b="0">
                <a:solidFill>
                  <a:srgbClr val="B7C5D7"/>
                </a:solidFill>
                <a:latin typeface="Helvetica Neue"/>
                <a:ea typeface="Helvetica Neue"/>
                <a:cs typeface="Helvetica Neue"/>
              </a:rPr>
              <a:t>Proposed test design</a:t>
            </a:r>
          </a:p>
        </p:txBody>
      </p:sp>
      <p:sp>
        <p:nvSpPr>
          <p:cNvPr id="3" name="">
            <a:extLst xmlns:a="http://schemas.openxmlformats.org/drawingml/2006/main">
              <a:ext uri="{FF2B5EF4-FFF2-40B4-BE49-F238E27FC236}">
                <a16:creationId xmlns:a16="http://schemas.microsoft.com/office/drawing/2014/main" id="{71E0E54E-77B7-439A-A278-9F7018E25604}"/>
              </a:ext>
            </a:extLst>
          </p:cNvPr>
          <p:cNvSpPr>
            <a:spLocks xmlns:a="http://schemas.openxmlformats.org/drawingml/2006/main" noGrp="1"/>
          </p:cNvSpPr>
          <p:nvPr/>
        </p:nvSpPr>
        <p:spPr>
          <a:xfrm xmlns:a="http://schemas.openxmlformats.org/drawingml/2006/main">
            <a:off x="11334750" y="64008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B7C5D7"/>
                </a:solidFill>
                <a:latin typeface="Helvetica Neue"/>
                <a:ea typeface="Helvetica Neue"/>
                <a:cs typeface="Helvetica Neue"/>
              </a:defRPr>
            </a:pPr>
            <a:r>
              <a:rPr sz="1350" b="0">
                <a:solidFill>
                  <a:srgbClr val="B7C5D7"/>
                </a:solidFill>
                <a:latin typeface="Helvetica Neue"/>
                <a:ea typeface="Helvetica Neue"/>
                <a:cs typeface="Helvetica Neue"/>
              </a:rPr>
              <a:t>09</a:t>
            </a:r>
          </a:p>
        </p:txBody>
      </p:sp>
      <p:sp>
        <p:nvSpPr>
          <p:cNvPr id="4" name="">
            <a:extLst xmlns:a="http://schemas.openxmlformats.org/drawingml/2006/main">
              <a:ext uri="{FF2B5EF4-FFF2-40B4-BE49-F238E27FC236}">
                <a16:creationId xmlns:a16="http://schemas.microsoft.com/office/drawing/2014/main" id="{6ACA5A46-39F4-44A8-8F8C-F44D3AD1E8C0}"/>
              </a:ext>
            </a:extLst>
          </p:cNvPr>
          <p:cNvSpPr>
            <a:spLocks xmlns:a="http://schemas.openxmlformats.org/drawingml/2006/main" noGrp="1"/>
          </p:cNvSpPr>
          <p:nvPr/>
        </p:nvSpPr>
        <p:spPr>
          <a:xfrm xmlns:a="http://schemas.openxmlformats.org/drawingml/2006/main">
            <a:off x="571500" y="2286000"/>
            <a:ext cx="2286000" cy="952500"/>
          </a:xfrm>
          <a:prstGeom xmlns:a="http://schemas.openxmlformats.org/drawingml/2006/main" prst="rect">
            <a:avLst/>
          </a:prstGeom>
          <a:solidFill xmlns:a="http://schemas.openxmlformats.org/drawingml/2006/main">
            <a:srgbClr val="142236"/>
          </a:solidFill>
          <a:ln xmlns:a="http://schemas.openxmlformats.org/drawingml/2006/main" w="19050">
            <a:solidFill>
              <a:srgbClr val="5EE3EE"/>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Synthetic</a:t>
            </a:r>
          </a:p>
          <a:p xmlns:a="http://schemas.openxmlformats.org/drawingml/2006/main">
            <a:pPr algn="ctr">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test inputs</a:t>
            </a:r>
          </a:p>
        </p:txBody>
      </p:sp>
      <p:sp>
        <p:nvSpPr>
          <p:cNvPr id="5" name="">
            <a:extLst xmlns:a="http://schemas.openxmlformats.org/drawingml/2006/main">
              <a:ext uri="{FF2B5EF4-FFF2-40B4-BE49-F238E27FC236}">
                <a16:creationId xmlns:a16="http://schemas.microsoft.com/office/drawing/2014/main" id="{179E8BEC-4E3E-486A-927D-1015ED3F6D08}"/>
              </a:ext>
            </a:extLst>
          </p:cNvPr>
          <p:cNvSpPr>
            <a:spLocks xmlns:a="http://schemas.openxmlformats.org/drawingml/2006/main" noGrp="1"/>
          </p:cNvSpPr>
          <p:nvPr/>
        </p:nvSpPr>
        <p:spPr>
          <a:xfrm xmlns:a="http://schemas.openxmlformats.org/drawingml/2006/main">
            <a:off x="3524250" y="2286000"/>
            <a:ext cx="2286000" cy="952500"/>
          </a:xfrm>
          <a:prstGeom xmlns:a="http://schemas.openxmlformats.org/drawingml/2006/main" prst="rect">
            <a:avLst/>
          </a:prstGeom>
          <a:solidFill xmlns:a="http://schemas.openxmlformats.org/drawingml/2006/main">
            <a:srgbClr val="142236"/>
          </a:solidFill>
          <a:ln xmlns:a="http://schemas.openxmlformats.org/drawingml/2006/main" w="19050">
            <a:solidFill>
              <a:srgbClr val="5EE3EE"/>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AI target</a:t>
            </a:r>
          </a:p>
          <a:p xmlns:a="http://schemas.openxmlformats.org/drawingml/2006/main">
            <a:pPr algn="ctr">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via adapter</a:t>
            </a:r>
          </a:p>
        </p:txBody>
      </p:sp>
      <p:sp>
        <p:nvSpPr>
          <p:cNvPr id="6" name="">
            <a:extLst xmlns:a="http://schemas.openxmlformats.org/drawingml/2006/main">
              <a:ext uri="{FF2B5EF4-FFF2-40B4-BE49-F238E27FC236}">
                <a16:creationId xmlns:a16="http://schemas.microsoft.com/office/drawing/2014/main" id="{2A73E5AF-F400-4EBC-AFC9-D284CB171A07}"/>
              </a:ext>
            </a:extLst>
          </p:cNvPr>
          <p:cNvSpPr>
            <a:spLocks xmlns:a="http://schemas.openxmlformats.org/drawingml/2006/main" noGrp="1"/>
          </p:cNvSpPr>
          <p:nvPr/>
        </p:nvSpPr>
        <p:spPr>
          <a:xfrm xmlns:a="http://schemas.openxmlformats.org/drawingml/2006/main">
            <a:off x="6477000" y="2286000"/>
            <a:ext cx="2286000" cy="952500"/>
          </a:xfrm>
          <a:prstGeom xmlns:a="http://schemas.openxmlformats.org/drawingml/2006/main" prst="rect">
            <a:avLst/>
          </a:prstGeom>
          <a:solidFill xmlns:a="http://schemas.openxmlformats.org/drawingml/2006/main">
            <a:srgbClr val="142236"/>
          </a:solidFill>
          <a:ln xmlns:a="http://schemas.openxmlformats.org/drawingml/2006/main" w="19050">
            <a:solidFill>
              <a:srgbClr val="85E7B5"/>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Observed data</a:t>
            </a:r>
          </a:p>
          <a:p xmlns:a="http://schemas.openxmlformats.org/drawingml/2006/main">
            <a:pPr algn="ctr">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and effects</a:t>
            </a:r>
          </a:p>
        </p:txBody>
      </p:sp>
      <p:sp>
        <p:nvSpPr>
          <p:cNvPr id="7" name="">
            <a:extLst xmlns:a="http://schemas.openxmlformats.org/drawingml/2006/main">
              <a:ext uri="{FF2B5EF4-FFF2-40B4-BE49-F238E27FC236}">
                <a16:creationId xmlns:a16="http://schemas.microsoft.com/office/drawing/2014/main" id="{89CCFCE0-E3DB-4754-BF1B-17B6AB8961EB}"/>
              </a:ext>
            </a:extLst>
          </p:cNvPr>
          <p:cNvSpPr>
            <a:spLocks xmlns:a="http://schemas.openxmlformats.org/drawingml/2006/main" noGrp="1"/>
          </p:cNvSpPr>
          <p:nvPr/>
        </p:nvSpPr>
        <p:spPr>
          <a:xfrm xmlns:a="http://schemas.openxmlformats.org/drawingml/2006/main">
            <a:off x="9620250" y="2286000"/>
            <a:ext cx="2000250" cy="952500"/>
          </a:xfrm>
          <a:prstGeom xmlns:a="http://schemas.openxmlformats.org/drawingml/2006/main" prst="rect">
            <a:avLst/>
          </a:prstGeom>
          <a:solidFill xmlns:a="http://schemas.openxmlformats.org/drawingml/2006/main">
            <a:srgbClr val="142236"/>
          </a:solidFill>
          <a:ln xmlns:a="http://schemas.openxmlformats.org/drawingml/2006/main" w="19050">
            <a:solidFill>
              <a:srgbClr val="BEAAFF"/>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Human</a:t>
            </a:r>
          </a:p>
          <a:p xmlns:a="http://schemas.openxmlformats.org/drawingml/2006/main">
            <a:pPr algn="ctr">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review</a:t>
            </a:r>
          </a:p>
        </p:txBody>
      </p: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a:off x="2857500" y="2762250"/>
            <a:ext cx="666750" cy="0"/>
          </a:xfrm>
          <a:prstGeom xmlns:a="http://schemas.openxmlformats.org/drawingml/2006/main" prst="straightConnector1">
            <a:avLst/>
          </a:prstGeom>
          <a:ln xmlns:a="http://schemas.openxmlformats.org/drawingml/2006/main" w="19050">
            <a:solidFill>
              <a:srgbClr val="5D718A"/>
            </a:solidFill>
            <a:tailEnd type="triangle" w="sm" len="sm"/>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5810250" y="2762250"/>
            <a:ext cx="666750" cy="0"/>
          </a:xfrm>
          <a:prstGeom xmlns:a="http://schemas.openxmlformats.org/drawingml/2006/main" prst="straightConnector1">
            <a:avLst/>
          </a:prstGeom>
          <a:ln xmlns:a="http://schemas.openxmlformats.org/drawingml/2006/main" w="19050">
            <a:solidFill>
              <a:srgbClr val="5D718A"/>
            </a:solidFill>
            <a:tailEnd type="triangle" w="sm" len="sm"/>
          </a:ln>
        </p:spPr>
      </p:cxnSp>
      <p:cxnSp>
        <p:nvCxnSpPr>
          <p:cNvPr id="22" name=""/>
          <p:cNvCxnSpPr>
            <a:stCxn xmlns:a="http://schemas.openxmlformats.org/drawingml/2006/main" id="6" idx="3"/>
            <a:endCxn xmlns:a="http://schemas.openxmlformats.org/drawingml/2006/main" id="7" idx="1"/>
          </p:cNvCxnSpPr>
          <p:nvPr/>
        </p:nvCxnSpPr>
        <p:spPr>
          <a:xfrm xmlns:a="http://schemas.openxmlformats.org/drawingml/2006/main">
            <a:off x="8763000" y="2762250"/>
            <a:ext cx="857250" cy="0"/>
          </a:xfrm>
          <a:prstGeom xmlns:a="http://schemas.openxmlformats.org/drawingml/2006/main" prst="straightConnector1">
            <a:avLst/>
          </a:prstGeom>
          <a:ln xmlns:a="http://schemas.openxmlformats.org/drawingml/2006/main" w="19050">
            <a:solidFill>
              <a:srgbClr val="5D718A"/>
            </a:solidFill>
            <a:tailEnd type="triangle" w="sm" len="sm"/>
          </a:ln>
        </p:spPr>
      </p:cxnSp>
      <p:sp>
        <p:nvSpPr>
          <p:cNvPr id="11" name="">
            <a:extLst xmlns:a="http://schemas.openxmlformats.org/drawingml/2006/main">
              <a:ext uri="{FF2B5EF4-FFF2-40B4-BE49-F238E27FC236}">
                <a16:creationId xmlns:a16="http://schemas.microsoft.com/office/drawing/2014/main" id="{0EEDD317-6B1F-4271-BC02-DECB9621BF13}"/>
              </a:ext>
            </a:extLst>
          </p:cNvPr>
          <p:cNvSpPr>
            <a:spLocks xmlns:a="http://schemas.openxmlformats.org/drawingml/2006/main" noGrp="1"/>
          </p:cNvSpPr>
          <p:nvPr/>
        </p:nvSpPr>
        <p:spPr>
          <a:xfrm xmlns:a="http://schemas.openxmlformats.org/drawingml/2006/main">
            <a:off x="571500" y="409575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550" b="0">
                <a:solidFill>
                  <a:srgbClr val="F3F6FA"/>
                </a:solidFill>
                <a:latin typeface="Helvetica Neue"/>
                <a:ea typeface="Helvetica Neue"/>
                <a:cs typeface="Helvetica Neue"/>
              </a:defRPr>
            </a:pPr>
            <a:r>
              <a:rPr sz="2550" b="0">
                <a:solidFill>
                  <a:srgbClr val="F3F6FA"/>
                </a:solidFill>
                <a:latin typeface="Helvetica Neue"/>
                <a:ea typeface="Helvetica Neue"/>
                <a:cs typeface="Helvetica Neue"/>
              </a:rPr>
              <a:t>Compare results with known expected outcomes.</a:t>
            </a:r>
          </a:p>
        </p:txBody>
      </p:sp>
      <p:sp>
        <p:nvSpPr>
          <p:cNvPr id="12" name="">
            <a:extLst xmlns:a="http://schemas.openxmlformats.org/drawingml/2006/main">
              <a:ext uri="{FF2B5EF4-FFF2-40B4-BE49-F238E27FC236}">
                <a16:creationId xmlns:a16="http://schemas.microsoft.com/office/drawing/2014/main" id="{4A572D1F-BCCB-41F9-9055-7FFF12CB1CB7}"/>
              </a:ext>
            </a:extLst>
          </p:cNvPr>
          <p:cNvSpPr>
            <a:spLocks xmlns:a="http://schemas.openxmlformats.org/drawingml/2006/main" noGrp="1"/>
          </p:cNvSpPr>
          <p:nvPr/>
        </p:nvSpPr>
        <p:spPr>
          <a:xfrm xmlns:a="http://schemas.openxmlformats.org/drawingml/2006/main">
            <a:off x="571500" y="5381625"/>
            <a:ext cx="10763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FFD080"/>
                </a:solidFill>
                <a:latin typeface="Helvetica Neue"/>
                <a:ea typeface="Helvetica Neue"/>
                <a:cs typeface="Helvetica Neue"/>
              </a:defRPr>
            </a:pPr>
            <a:r>
              <a:rPr sz="2100" b="0">
                <a:solidFill>
                  <a:srgbClr val="FFD080"/>
                </a:solidFill>
                <a:latin typeface="Helvetica Neue"/>
                <a:ea typeface="Helvetica Neue"/>
                <a:cs typeface="Helvetica Neue"/>
              </a:rPr>
              <a:t>PyRIT currently exports and checks test inputs. It does not execute these evaluations.</a:t>
            </a:r>
          </a:p>
        </p:txBody>
      </p:sp>
    </p:spTree>
    <p:extLst>
      <p:ext uri="{BB962C8B-B14F-4D97-AF65-F5344CB8AC3E}">
        <p14:creationId xmlns:p14="http://schemas.microsoft.com/office/powerpoint/2010/main" val="727900579"/>
      </p:ext>
    </p:extLst>
  </p:cSld>
</p:sld>
</file>

<file path=ppt/slides/slide10.xml><?xml version="1.0" encoding="utf-8"?>
<p:sld xmlns:p="http://schemas.openxmlformats.org/presentationml/2006/main">
  <p:cSld>
    <p:bg>
      <p:bgPr>
        <a:solidFill xmlns:a="http://schemas.openxmlformats.org/drawingml/2006/main">
          <a:srgbClr val="0D1726"/>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4A8F4D5-304A-4C66-BDE4-4C3F99797023}"/>
              </a:ext>
            </a:extLst>
          </p:cNvPr>
          <p:cNvSpPr>
            <a:spLocks xmlns:a="http://schemas.openxmlformats.org/drawingml/2006/main" noGrp="1"/>
          </p:cNvSpPr>
          <p:nvPr/>
        </p:nvSpPr>
        <p:spPr>
          <a:xfrm xmlns:a="http://schemas.openxmlformats.org/drawingml/2006/main">
            <a:off x="571500" y="4000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F3F6FA"/>
                </a:solidFill>
                <a:latin typeface="Helvetica Neue"/>
                <a:ea typeface="Helvetica Neue"/>
                <a:cs typeface="Helvetica Neue"/>
              </a:defRPr>
            </a:pPr>
            <a:r>
              <a:rPr sz="3225" b="1">
                <a:solidFill>
                  <a:srgbClr val="F3F6FA"/>
                </a:solidFill>
                <a:latin typeface="Helvetica Neue"/>
                <a:ea typeface="Helvetica Neue"/>
                <a:cs typeface="Helvetica Neue"/>
              </a:rPr>
              <a:t>AI agent testing</a:t>
            </a:r>
          </a:p>
        </p:txBody>
      </p:sp>
      <p:sp>
        <p:nvSpPr>
          <p:cNvPr id="2" name="">
            <a:extLst xmlns:a="http://schemas.openxmlformats.org/drawingml/2006/main">
              <a:ext uri="{FF2B5EF4-FFF2-40B4-BE49-F238E27FC236}">
                <a16:creationId xmlns:a16="http://schemas.microsoft.com/office/drawing/2014/main" id="{F8A80AE8-F2CC-428C-84F6-483D6837AB49}"/>
              </a:ext>
            </a:extLst>
          </p:cNvPr>
          <p:cNvSpPr>
            <a:spLocks xmlns:a="http://schemas.openxmlformats.org/drawingml/2006/main" noGrp="1"/>
          </p:cNvSpPr>
          <p:nvPr/>
        </p:nvSpPr>
        <p:spPr>
          <a:xfrm xmlns:a="http://schemas.openxmlformats.org/drawingml/2006/main">
            <a:off x="571500" y="6400800"/>
            <a:ext cx="523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B7C5D7"/>
                </a:solidFill>
                <a:latin typeface="Helvetica Neue"/>
                <a:ea typeface="Helvetica Neue"/>
                <a:cs typeface="Helvetica Neue"/>
              </a:defRPr>
            </a:pPr>
            <a:r>
              <a:rPr sz="1350" b="0">
                <a:solidFill>
                  <a:srgbClr val="B7C5D7"/>
                </a:solidFill>
                <a:latin typeface="Helvetica Neue"/>
                <a:ea typeface="Helvetica Neue"/>
                <a:cs typeface="Helvetica Neue"/>
              </a:rPr>
              <a:t>Proposed test design</a:t>
            </a:r>
          </a:p>
        </p:txBody>
      </p:sp>
      <p:sp>
        <p:nvSpPr>
          <p:cNvPr id="3" name="">
            <a:extLst xmlns:a="http://schemas.openxmlformats.org/drawingml/2006/main">
              <a:ext uri="{FF2B5EF4-FFF2-40B4-BE49-F238E27FC236}">
                <a16:creationId xmlns:a16="http://schemas.microsoft.com/office/drawing/2014/main" id="{10284CDB-A201-49DC-9D8D-85641B0CFB0D}"/>
              </a:ext>
            </a:extLst>
          </p:cNvPr>
          <p:cNvSpPr>
            <a:spLocks xmlns:a="http://schemas.openxmlformats.org/drawingml/2006/main" noGrp="1"/>
          </p:cNvSpPr>
          <p:nvPr/>
        </p:nvSpPr>
        <p:spPr>
          <a:xfrm xmlns:a="http://schemas.openxmlformats.org/drawingml/2006/main">
            <a:off x="11334750" y="64008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B7C5D7"/>
                </a:solidFill>
                <a:latin typeface="Helvetica Neue"/>
                <a:ea typeface="Helvetica Neue"/>
                <a:cs typeface="Helvetica Neue"/>
              </a:defRPr>
            </a:pPr>
            <a:r>
              <a:rPr sz="1350" b="0">
                <a:solidFill>
                  <a:srgbClr val="B7C5D7"/>
                </a:solidFill>
                <a:latin typeface="Helvetica Neue"/>
                <a:ea typeface="Helvetica Neue"/>
                <a:cs typeface="Helvetica Neue"/>
              </a:rPr>
              <a:t>10</a:t>
            </a:r>
          </a:p>
        </p:txBody>
      </p:sp>
      <p:sp>
        <p:nvSpPr>
          <p:cNvPr id="4" name="">
            <a:extLst xmlns:a="http://schemas.openxmlformats.org/drawingml/2006/main">
              <a:ext uri="{FF2B5EF4-FFF2-40B4-BE49-F238E27FC236}">
                <a16:creationId xmlns:a16="http://schemas.microsoft.com/office/drawing/2014/main" id="{E896DD87-FA3E-44B9-B86C-EBF5102359C8}"/>
              </a:ext>
            </a:extLst>
          </p:cNvPr>
          <p:cNvSpPr>
            <a:spLocks xmlns:a="http://schemas.openxmlformats.org/drawingml/2006/main" noGrp="1"/>
          </p:cNvSpPr>
          <p:nvPr/>
        </p:nvSpPr>
        <p:spPr>
          <a:xfrm xmlns:a="http://schemas.openxmlformats.org/drawingml/2006/main">
            <a:off x="571500" y="2286000"/>
            <a:ext cx="2190750" cy="952500"/>
          </a:xfrm>
          <a:prstGeom xmlns:a="http://schemas.openxmlformats.org/drawingml/2006/main" prst="rect">
            <a:avLst/>
          </a:prstGeom>
          <a:solidFill xmlns:a="http://schemas.openxmlformats.org/drawingml/2006/main">
            <a:srgbClr val="142236"/>
          </a:solidFill>
          <a:ln xmlns:a="http://schemas.openxmlformats.org/drawingml/2006/main" w="19050">
            <a:solidFill>
              <a:srgbClr val="5EE3EE"/>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Target agent</a:t>
            </a:r>
          </a:p>
        </p:txBody>
      </p:sp>
      <p:sp>
        <p:nvSpPr>
          <p:cNvPr id="5" name="">
            <a:extLst xmlns:a="http://schemas.openxmlformats.org/drawingml/2006/main">
              <a:ext uri="{FF2B5EF4-FFF2-40B4-BE49-F238E27FC236}">
                <a16:creationId xmlns:a16="http://schemas.microsoft.com/office/drawing/2014/main" id="{CE4F75AD-7BD5-42A5-ABE4-81703696BD04}"/>
              </a:ext>
            </a:extLst>
          </p:cNvPr>
          <p:cNvSpPr>
            <a:spLocks xmlns:a="http://schemas.openxmlformats.org/drawingml/2006/main" noGrp="1"/>
          </p:cNvSpPr>
          <p:nvPr/>
        </p:nvSpPr>
        <p:spPr>
          <a:xfrm xmlns:a="http://schemas.openxmlformats.org/drawingml/2006/main">
            <a:off x="3762375" y="2286000"/>
            <a:ext cx="2476500" cy="952500"/>
          </a:xfrm>
          <a:prstGeom xmlns:a="http://schemas.openxmlformats.org/drawingml/2006/main" prst="rect">
            <a:avLst/>
          </a:prstGeom>
          <a:solidFill xmlns:a="http://schemas.openxmlformats.org/drawingml/2006/main">
            <a:srgbClr val="142236"/>
          </a:solidFill>
          <a:ln xmlns:a="http://schemas.openxmlformats.org/drawingml/2006/main" w="19050">
            <a:solidFill>
              <a:srgbClr val="5EE3EE"/>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Target action</a:t>
            </a:r>
          </a:p>
          <a:p xmlns:a="http://schemas.openxmlformats.org/drawingml/2006/main">
            <a:pPr algn="ctr">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controls</a:t>
            </a:r>
          </a:p>
        </p:txBody>
      </p:sp>
      <p:sp>
        <p:nvSpPr>
          <p:cNvPr id="6" name="">
            <a:extLst xmlns:a="http://schemas.openxmlformats.org/drawingml/2006/main">
              <a:ext uri="{FF2B5EF4-FFF2-40B4-BE49-F238E27FC236}">
                <a16:creationId xmlns:a16="http://schemas.microsoft.com/office/drawing/2014/main" id="{1559E676-7951-4C66-BFCE-3EC2D6F5C4A2}"/>
              </a:ext>
            </a:extLst>
          </p:cNvPr>
          <p:cNvSpPr>
            <a:spLocks xmlns:a="http://schemas.openxmlformats.org/drawingml/2006/main" noGrp="1"/>
          </p:cNvSpPr>
          <p:nvPr/>
        </p:nvSpPr>
        <p:spPr>
          <a:xfrm xmlns:a="http://schemas.openxmlformats.org/drawingml/2006/main">
            <a:off x="7239000" y="2286000"/>
            <a:ext cx="2190750" cy="952500"/>
          </a:xfrm>
          <a:prstGeom xmlns:a="http://schemas.openxmlformats.org/drawingml/2006/main" prst="rect">
            <a:avLst/>
          </a:prstGeom>
          <a:solidFill xmlns:a="http://schemas.openxmlformats.org/drawingml/2006/main">
            <a:srgbClr val="142236"/>
          </a:solidFill>
          <a:ln xmlns:a="http://schemas.openxmlformats.org/drawingml/2006/main" w="19050">
            <a:solidFill>
              <a:srgbClr val="5EE3EE"/>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Approved</a:t>
            </a:r>
          </a:p>
          <a:p xmlns:a="http://schemas.openxmlformats.org/drawingml/2006/main">
            <a:pPr algn="ctr">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tool action</a:t>
            </a:r>
          </a:p>
        </p:txBody>
      </p:sp>
      <p:sp>
        <p:nvSpPr>
          <p:cNvPr id="7" name="">
            <a:extLst xmlns:a="http://schemas.openxmlformats.org/drawingml/2006/main">
              <a:ext uri="{FF2B5EF4-FFF2-40B4-BE49-F238E27FC236}">
                <a16:creationId xmlns:a16="http://schemas.microsoft.com/office/drawing/2014/main" id="{EFE26C8C-4D1B-41F0-A05F-E01A9B3B0326}"/>
              </a:ext>
            </a:extLst>
          </p:cNvPr>
          <p:cNvSpPr>
            <a:spLocks xmlns:a="http://schemas.openxmlformats.org/drawingml/2006/main" noGrp="1"/>
          </p:cNvSpPr>
          <p:nvPr/>
        </p:nvSpPr>
        <p:spPr>
          <a:xfrm xmlns:a="http://schemas.openxmlformats.org/drawingml/2006/main">
            <a:off x="10001250" y="2286000"/>
            <a:ext cx="1619250" cy="952500"/>
          </a:xfrm>
          <a:prstGeom xmlns:a="http://schemas.openxmlformats.org/drawingml/2006/main" prst="rect">
            <a:avLst/>
          </a:prstGeom>
          <a:solidFill xmlns:a="http://schemas.openxmlformats.org/drawingml/2006/main">
            <a:srgbClr val="142236"/>
          </a:solidFill>
          <a:ln xmlns:a="http://schemas.openxmlformats.org/drawingml/2006/main" w="19050">
            <a:solidFill>
              <a:srgbClr val="85E7B5"/>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Observed</a:t>
            </a:r>
          </a:p>
          <a:p xmlns:a="http://schemas.openxmlformats.org/drawingml/2006/main">
            <a:pPr algn="ctr">
              <a:defRPr sz="1800" b="1">
                <a:solidFill>
                  <a:srgbClr val="F3F6FA"/>
                </a:solidFill>
                <a:latin typeface="Helvetica Neue"/>
                <a:ea typeface="Helvetica Neue"/>
                <a:cs typeface="Helvetica Neue"/>
              </a:defRPr>
            </a:pPr>
            <a:r>
              <a:rPr sz="1800" b="1">
                <a:solidFill>
                  <a:srgbClr val="F3F6FA"/>
                </a:solidFill>
                <a:latin typeface="Helvetica Neue"/>
                <a:ea typeface="Helvetica Neue"/>
                <a:cs typeface="Helvetica Neue"/>
              </a:rPr>
              <a:t>state</a:t>
            </a:r>
          </a:p>
        </p:txBody>
      </p: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a:off x="2762250" y="2762250"/>
            <a:ext cx="1000125" cy="0"/>
          </a:xfrm>
          <a:prstGeom xmlns:a="http://schemas.openxmlformats.org/drawingml/2006/main" prst="straightConnector1">
            <a:avLst/>
          </a:prstGeom>
          <a:ln xmlns:a="http://schemas.openxmlformats.org/drawingml/2006/main" w="19050">
            <a:solidFill>
              <a:srgbClr val="5D718A"/>
            </a:solidFill>
            <a:tailEnd type="triangle" w="sm" len="sm"/>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6238875" y="2762250"/>
            <a:ext cx="1000125" cy="0"/>
          </a:xfrm>
          <a:prstGeom xmlns:a="http://schemas.openxmlformats.org/drawingml/2006/main" prst="straightConnector1">
            <a:avLst/>
          </a:prstGeom>
          <a:ln xmlns:a="http://schemas.openxmlformats.org/drawingml/2006/main" w="19050">
            <a:solidFill>
              <a:srgbClr val="5D718A"/>
            </a:solidFill>
            <a:tailEnd type="triangle" w="sm" len="sm"/>
          </a:ln>
        </p:spPr>
      </p:cxnSp>
      <p:cxnSp>
        <p:nvCxnSpPr>
          <p:cNvPr id="22" name=""/>
          <p:cNvCxnSpPr>
            <a:stCxn xmlns:a="http://schemas.openxmlformats.org/drawingml/2006/main" id="6" idx="3"/>
            <a:endCxn xmlns:a="http://schemas.openxmlformats.org/drawingml/2006/main" id="7" idx="1"/>
          </p:cNvCxnSpPr>
          <p:nvPr/>
        </p:nvCxnSpPr>
        <p:spPr>
          <a:xfrm xmlns:a="http://schemas.openxmlformats.org/drawingml/2006/main">
            <a:off x="9429750" y="2762250"/>
            <a:ext cx="571500" cy="0"/>
          </a:xfrm>
          <a:prstGeom xmlns:a="http://schemas.openxmlformats.org/drawingml/2006/main" prst="straightConnector1">
            <a:avLst/>
          </a:prstGeom>
          <a:ln xmlns:a="http://schemas.openxmlformats.org/drawingml/2006/main" w="19050">
            <a:solidFill>
              <a:srgbClr val="5D718A"/>
            </a:solidFill>
            <a:tailEnd type="triangle" w="sm" len="sm"/>
          </a:ln>
        </p:spPr>
      </p:cxnSp>
      <p:sp>
        <p:nvSpPr>
          <p:cNvPr id="11" name="">
            <a:extLst xmlns:a="http://schemas.openxmlformats.org/drawingml/2006/main">
              <a:ext uri="{FF2B5EF4-FFF2-40B4-BE49-F238E27FC236}">
                <a16:creationId xmlns:a16="http://schemas.microsoft.com/office/drawing/2014/main" id="{43747CB3-0EE1-4B7E-AD96-EA33B93104F8}"/>
              </a:ext>
            </a:extLst>
          </p:cNvPr>
          <p:cNvSpPr>
            <a:spLocks xmlns:a="http://schemas.openxmlformats.org/drawingml/2006/main" noGrp="1"/>
          </p:cNvSpPr>
          <p:nvPr/>
        </p:nvSpPr>
        <p:spPr>
          <a:xfrm xmlns:a="http://schemas.openxmlformats.org/drawingml/2006/main">
            <a:off x="571500" y="409575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550" b="0">
                <a:solidFill>
                  <a:srgbClr val="F3F6FA"/>
                </a:solidFill>
                <a:latin typeface="Helvetica Neue"/>
                <a:ea typeface="Helvetica Neue"/>
                <a:cs typeface="Helvetica Neue"/>
              </a:defRPr>
            </a:pPr>
            <a:r>
              <a:rPr sz="2550" b="0">
                <a:solidFill>
                  <a:srgbClr val="F3F6FA"/>
                </a:solidFill>
                <a:latin typeface="Helvetica Neue"/>
                <a:ea typeface="Helvetica Neue"/>
                <a:cs typeface="Helvetica Neue"/>
              </a:rPr>
              <a:t>Check the agent’s actual actions and resulting state.</a:t>
            </a:r>
          </a:p>
        </p:txBody>
      </p:sp>
      <p:sp>
        <p:nvSpPr>
          <p:cNvPr id="12" name="">
            <a:extLst xmlns:a="http://schemas.openxmlformats.org/drawingml/2006/main">
              <a:ext uri="{FF2B5EF4-FFF2-40B4-BE49-F238E27FC236}">
                <a16:creationId xmlns:a16="http://schemas.microsoft.com/office/drawing/2014/main" id="{B05BDA52-206C-4FF1-93AE-CBB1DD9CCFFE}"/>
              </a:ext>
            </a:extLst>
          </p:cNvPr>
          <p:cNvSpPr>
            <a:spLocks xmlns:a="http://schemas.openxmlformats.org/drawingml/2006/main" noGrp="1"/>
          </p:cNvSpPr>
          <p:nvPr/>
        </p:nvSpPr>
        <p:spPr>
          <a:xfrm xmlns:a="http://schemas.openxmlformats.org/drawingml/2006/main">
            <a:off x="571500" y="5410200"/>
            <a:ext cx="1076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FFD080"/>
                </a:solidFill>
                <a:latin typeface="Helvetica Neue"/>
                <a:ea typeface="Helvetica Neue"/>
                <a:cs typeface="Helvetica Neue"/>
              </a:defRPr>
            </a:pPr>
            <a:r>
              <a:rPr sz="2100" b="0">
                <a:solidFill>
                  <a:srgbClr val="FFD080"/>
                </a:solidFill>
                <a:latin typeface="Helvetica Neue"/>
                <a:ea typeface="Helvetica Neue"/>
                <a:cs typeface="Helvetica Neue"/>
              </a:rPr>
              <a:t>A refusal in model text alone does not prove that execution stopped.</a:t>
            </a:r>
          </a:p>
        </p:txBody>
      </p:sp>
    </p:spTree>
    <p:extLst>
      <p:ext uri="{BB962C8B-B14F-4D97-AF65-F5344CB8AC3E}">
        <p14:creationId xmlns:p14="http://schemas.microsoft.com/office/powerpoint/2010/main" val="1215167752"/>
      </p:ext>
    </p:extLst>
  </p:cSld>
</p:sld>
</file>

<file path=ppt/slides/slide11.xml><?xml version="1.0" encoding="utf-8"?>
<p:sld xmlns:p="http://schemas.openxmlformats.org/presentationml/2006/main">
  <p:cSld>
    <p:bg>
      <p:bgPr>
        <a:solidFill xmlns:a="http://schemas.openxmlformats.org/drawingml/2006/main">
          <a:srgbClr val="0D1726"/>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C3D434B-2E38-43AF-ADE5-5F11B5D5F996}"/>
              </a:ext>
            </a:extLst>
          </p:cNvPr>
          <p:cNvSpPr>
            <a:spLocks xmlns:a="http://schemas.openxmlformats.org/drawingml/2006/main" noGrp="1"/>
          </p:cNvSpPr>
          <p:nvPr/>
        </p:nvSpPr>
        <p:spPr>
          <a:xfrm xmlns:a="http://schemas.openxmlformats.org/drawingml/2006/main">
            <a:off x="571500" y="4000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F3F6FA"/>
                </a:solidFill>
                <a:latin typeface="Helvetica Neue"/>
                <a:ea typeface="Helvetica Neue"/>
                <a:cs typeface="Helvetica Neue"/>
              </a:defRPr>
            </a:pPr>
            <a:r>
              <a:rPr sz="3225" b="1">
                <a:solidFill>
                  <a:srgbClr val="F3F6FA"/>
                </a:solidFill>
                <a:latin typeface="Helvetica Neue"/>
                <a:ea typeface="Helvetica Neue"/>
                <a:cs typeface="Helvetica Neue"/>
              </a:rPr>
              <a:t>AI agent test cases</a:t>
            </a:r>
          </a:p>
        </p:txBody>
      </p:sp>
      <p:sp>
        <p:nvSpPr>
          <p:cNvPr id="2" name="">
            <a:extLst xmlns:a="http://schemas.openxmlformats.org/drawingml/2006/main">
              <a:ext uri="{FF2B5EF4-FFF2-40B4-BE49-F238E27FC236}">
                <a16:creationId xmlns:a16="http://schemas.microsoft.com/office/drawing/2014/main" id="{BA878D9E-E7E3-4231-97E3-77C444926C46}"/>
              </a:ext>
            </a:extLst>
          </p:cNvPr>
          <p:cNvSpPr>
            <a:spLocks xmlns:a="http://schemas.openxmlformats.org/drawingml/2006/main" noGrp="1"/>
          </p:cNvSpPr>
          <p:nvPr/>
        </p:nvSpPr>
        <p:spPr>
          <a:xfrm xmlns:a="http://schemas.openxmlformats.org/drawingml/2006/main">
            <a:off x="571500" y="6400800"/>
            <a:ext cx="523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B7C5D7"/>
                </a:solidFill>
                <a:latin typeface="Helvetica Neue"/>
                <a:ea typeface="Helvetica Neue"/>
                <a:cs typeface="Helvetica Neue"/>
              </a:defRPr>
            </a:pPr>
            <a:r>
              <a:rPr sz="1350" b="0">
                <a:solidFill>
                  <a:srgbClr val="B7C5D7"/>
                </a:solidFill>
                <a:latin typeface="Helvetica Neue"/>
                <a:ea typeface="Helvetica Neue"/>
                <a:cs typeface="Helvetica Neue"/>
              </a:rPr>
              <a:t>Proposed test design</a:t>
            </a:r>
          </a:p>
        </p:txBody>
      </p:sp>
      <p:sp>
        <p:nvSpPr>
          <p:cNvPr id="3" name="">
            <a:extLst xmlns:a="http://schemas.openxmlformats.org/drawingml/2006/main">
              <a:ext uri="{FF2B5EF4-FFF2-40B4-BE49-F238E27FC236}">
                <a16:creationId xmlns:a16="http://schemas.microsoft.com/office/drawing/2014/main" id="{EABEEBE5-0F33-4E5A-A265-630E2D5D6D4A}"/>
              </a:ext>
            </a:extLst>
          </p:cNvPr>
          <p:cNvSpPr>
            <a:spLocks xmlns:a="http://schemas.openxmlformats.org/drawingml/2006/main" noGrp="1"/>
          </p:cNvSpPr>
          <p:nvPr/>
        </p:nvSpPr>
        <p:spPr>
          <a:xfrm xmlns:a="http://schemas.openxmlformats.org/drawingml/2006/main">
            <a:off x="11334750" y="64008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B7C5D7"/>
                </a:solidFill>
                <a:latin typeface="Helvetica Neue"/>
                <a:ea typeface="Helvetica Neue"/>
                <a:cs typeface="Helvetica Neue"/>
              </a:defRPr>
            </a:pPr>
            <a:r>
              <a:rPr sz="1350" b="0">
                <a:solidFill>
                  <a:srgbClr val="B7C5D7"/>
                </a:solidFill>
                <a:latin typeface="Helvetica Neue"/>
                <a:ea typeface="Helvetica Neue"/>
                <a:cs typeface="Helvetica Neue"/>
              </a:rPr>
              <a:t>11</a:t>
            </a:r>
          </a:p>
        </p:txBody>
      </p:sp>
      <p:sp>
        <p:nvSpPr>
          <p:cNvPr id="4" name="">
            <a:extLst xmlns:a="http://schemas.openxmlformats.org/drawingml/2006/main">
              <a:ext uri="{FF2B5EF4-FFF2-40B4-BE49-F238E27FC236}">
                <a16:creationId xmlns:a16="http://schemas.microsoft.com/office/drawing/2014/main" id="{F720D95E-F9F1-42B6-8DD6-C1E894BBAE4F}"/>
              </a:ext>
            </a:extLst>
          </p:cNvPr>
          <p:cNvSpPr>
            <a:spLocks xmlns:a="http://schemas.openxmlformats.org/drawingml/2006/main" noGrp="1"/>
          </p:cNvSpPr>
          <p:nvPr/>
        </p:nvSpPr>
        <p:spPr>
          <a:xfrm xmlns:a="http://schemas.openxmlformats.org/drawingml/2006/main">
            <a:off x="571500" y="142875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5EE3EE"/>
                </a:solidFill>
                <a:latin typeface="Helvetica Neue"/>
                <a:ea typeface="Helvetica Neue"/>
                <a:cs typeface="Helvetica Neue"/>
              </a:defRPr>
            </a:pPr>
            <a:r>
              <a:rPr sz="2175" b="1">
                <a:solidFill>
                  <a:srgbClr val="5EE3EE"/>
                </a:solidFill>
                <a:latin typeface="Helvetica Neue"/>
                <a:ea typeface="Helvetica Neue"/>
                <a:cs typeface="Helvetica Neue"/>
              </a:rPr>
              <a:t>Scope and permissions</a:t>
            </a:r>
          </a:p>
        </p:txBody>
      </p:sp>
      <p:sp>
        <p:nvSpPr>
          <p:cNvPr id="5" name="">
            <a:extLst xmlns:a="http://schemas.openxmlformats.org/drawingml/2006/main">
              <a:ext uri="{FF2B5EF4-FFF2-40B4-BE49-F238E27FC236}">
                <a16:creationId xmlns:a16="http://schemas.microsoft.com/office/drawing/2014/main" id="{4E5F6BAD-20DB-475C-95F2-38879F33EB62}"/>
              </a:ext>
            </a:extLst>
          </p:cNvPr>
          <p:cNvSpPr>
            <a:spLocks xmlns:a="http://schemas.openxmlformats.org/drawingml/2006/main" noGrp="1"/>
          </p:cNvSpPr>
          <p:nvPr/>
        </p:nvSpPr>
        <p:spPr>
          <a:xfrm xmlns:a="http://schemas.openxmlformats.org/drawingml/2006/main">
            <a:off x="4000500" y="1428750"/>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F3F6FA"/>
                </a:solidFill>
                <a:latin typeface="Helvetica Neue"/>
                <a:ea typeface="Helvetica Neue"/>
                <a:cs typeface="Helvetica Neue"/>
              </a:defRPr>
            </a:pPr>
            <a:r>
              <a:rPr sz="2175" b="0">
                <a:solidFill>
                  <a:srgbClr val="F3F6FA"/>
                </a:solidFill>
                <a:latin typeface="Helvetica Neue"/>
                <a:ea typeface="Helvetica Neue"/>
                <a:cs typeface="Helvetica Neue"/>
              </a:rPr>
              <a:t>Hostile content cannot authorize an action outside scope.</a:t>
            </a:r>
          </a:p>
        </p:txBody>
      </p:sp>
      <p:sp>
        <p:nvSpPr>
          <p:cNvPr id="6" name="">
            <a:extLst xmlns:a="http://schemas.openxmlformats.org/drawingml/2006/main">
              <a:ext uri="{FF2B5EF4-FFF2-40B4-BE49-F238E27FC236}">
                <a16:creationId xmlns:a16="http://schemas.microsoft.com/office/drawing/2014/main" id="{154EE9E3-1606-4E59-8BF4-D625BC4F8213}"/>
              </a:ext>
            </a:extLst>
          </p:cNvPr>
          <p:cNvSpPr>
            <a:spLocks xmlns:a="http://schemas.openxmlformats.org/drawingml/2006/main" noGrp="1"/>
          </p:cNvSpPr>
          <p:nvPr/>
        </p:nvSpPr>
        <p:spPr>
          <a:xfrm xmlns:a="http://schemas.openxmlformats.org/drawingml/2006/main">
            <a:off x="571500" y="245745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5EE3EE"/>
                </a:solidFill>
                <a:latin typeface="Helvetica Neue"/>
                <a:ea typeface="Helvetica Neue"/>
                <a:cs typeface="Helvetica Neue"/>
              </a:defRPr>
            </a:pPr>
            <a:r>
              <a:rPr sz="2175" b="1">
                <a:solidFill>
                  <a:srgbClr val="5EE3EE"/>
                </a:solidFill>
                <a:latin typeface="Helvetica Neue"/>
                <a:ea typeface="Helvetica Neue"/>
                <a:cs typeface="Helvetica Neue"/>
              </a:rPr>
              <a:t>User identity</a:t>
            </a:r>
          </a:p>
        </p:txBody>
      </p:sp>
      <p:sp>
        <p:nvSpPr>
          <p:cNvPr id="7" name="">
            <a:extLst xmlns:a="http://schemas.openxmlformats.org/drawingml/2006/main">
              <a:ext uri="{FF2B5EF4-FFF2-40B4-BE49-F238E27FC236}">
                <a16:creationId xmlns:a16="http://schemas.microsoft.com/office/drawing/2014/main" id="{F4C04D5A-3D90-4E18-98DB-DA3D92C7D2B5}"/>
              </a:ext>
            </a:extLst>
          </p:cNvPr>
          <p:cNvSpPr>
            <a:spLocks xmlns:a="http://schemas.openxmlformats.org/drawingml/2006/main" noGrp="1"/>
          </p:cNvSpPr>
          <p:nvPr/>
        </p:nvSpPr>
        <p:spPr>
          <a:xfrm xmlns:a="http://schemas.openxmlformats.org/drawingml/2006/main">
            <a:off x="4000500" y="2457450"/>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F3F6FA"/>
                </a:solidFill>
                <a:latin typeface="Helvetica Neue"/>
                <a:ea typeface="Helvetica Neue"/>
                <a:cs typeface="Helvetica Neue"/>
              </a:defRPr>
            </a:pPr>
            <a:r>
              <a:rPr sz="2175" b="0">
                <a:solidFill>
                  <a:srgbClr val="F3F6FA"/>
                </a:solidFill>
                <a:latin typeface="Helvetica Neue"/>
                <a:ea typeface="Helvetica Neue"/>
                <a:cs typeface="Helvetica Neue"/>
              </a:rPr>
              <a:t>A tool denies access to another user’s protected record.</a:t>
            </a:r>
          </a:p>
        </p:txBody>
      </p:sp>
      <p:sp>
        <p:nvSpPr>
          <p:cNvPr id="8" name="">
            <a:extLst xmlns:a="http://schemas.openxmlformats.org/drawingml/2006/main">
              <a:ext uri="{FF2B5EF4-FFF2-40B4-BE49-F238E27FC236}">
                <a16:creationId xmlns:a16="http://schemas.microsoft.com/office/drawing/2014/main" id="{373046D2-562D-4E61-8D88-863249AF7A74}"/>
              </a:ext>
            </a:extLst>
          </p:cNvPr>
          <p:cNvSpPr>
            <a:spLocks xmlns:a="http://schemas.openxmlformats.org/drawingml/2006/main" noGrp="1"/>
          </p:cNvSpPr>
          <p:nvPr/>
        </p:nvSpPr>
        <p:spPr>
          <a:xfrm xmlns:a="http://schemas.openxmlformats.org/drawingml/2006/main">
            <a:off x="571500" y="348615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5EE3EE"/>
                </a:solidFill>
                <a:latin typeface="Helvetica Neue"/>
                <a:ea typeface="Helvetica Neue"/>
                <a:cs typeface="Helvetica Neue"/>
              </a:defRPr>
            </a:pPr>
            <a:r>
              <a:rPr sz="2175" b="1">
                <a:solidFill>
                  <a:srgbClr val="5EE3EE"/>
                </a:solidFill>
                <a:latin typeface="Helvetica Neue"/>
                <a:ea typeface="Helvetica Neue"/>
                <a:cs typeface="Helvetica Neue"/>
              </a:rPr>
              <a:t>Approval rules</a:t>
            </a:r>
          </a:p>
        </p:txBody>
      </p:sp>
      <p:sp>
        <p:nvSpPr>
          <p:cNvPr id="9" name="">
            <a:extLst xmlns:a="http://schemas.openxmlformats.org/drawingml/2006/main">
              <a:ext uri="{FF2B5EF4-FFF2-40B4-BE49-F238E27FC236}">
                <a16:creationId xmlns:a16="http://schemas.microsoft.com/office/drawing/2014/main" id="{DDDF54FD-6A3F-4E1A-8222-C0F2E9F69C01}"/>
              </a:ext>
            </a:extLst>
          </p:cNvPr>
          <p:cNvSpPr>
            <a:spLocks xmlns:a="http://schemas.openxmlformats.org/drawingml/2006/main" noGrp="1"/>
          </p:cNvSpPr>
          <p:nvPr/>
        </p:nvSpPr>
        <p:spPr>
          <a:xfrm xmlns:a="http://schemas.openxmlformats.org/drawingml/2006/main">
            <a:off x="4000500" y="3486150"/>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F3F6FA"/>
                </a:solidFill>
                <a:latin typeface="Helvetica Neue"/>
                <a:ea typeface="Helvetica Neue"/>
                <a:cs typeface="Helvetica Neue"/>
              </a:defRPr>
            </a:pPr>
            <a:r>
              <a:rPr sz="2175" b="0">
                <a:solidFill>
                  <a:srgbClr val="F3F6FA"/>
                </a:solidFill>
                <a:latin typeface="Helvetica Neue"/>
                <a:ea typeface="Helvetica Neue"/>
                <a:cs typeface="Helvetica Neue"/>
              </a:rPr>
              <a:t>Restricted actions wait for valid approval. Changed actions need new approval.</a:t>
            </a:r>
          </a:p>
        </p:txBody>
      </p:sp>
      <p:sp>
        <p:nvSpPr>
          <p:cNvPr id="10" name="">
            <a:extLst xmlns:a="http://schemas.openxmlformats.org/drawingml/2006/main">
              <a:ext uri="{FF2B5EF4-FFF2-40B4-BE49-F238E27FC236}">
                <a16:creationId xmlns:a16="http://schemas.microsoft.com/office/drawing/2014/main" id="{FA0D5DCC-27B4-4320-BCE1-C55CA9BB6434}"/>
              </a:ext>
            </a:extLst>
          </p:cNvPr>
          <p:cNvSpPr>
            <a:spLocks xmlns:a="http://schemas.openxmlformats.org/drawingml/2006/main" noGrp="1"/>
          </p:cNvSpPr>
          <p:nvPr/>
        </p:nvSpPr>
        <p:spPr>
          <a:xfrm xmlns:a="http://schemas.openxmlformats.org/drawingml/2006/main">
            <a:off x="571500" y="451485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5EE3EE"/>
                </a:solidFill>
                <a:latin typeface="Helvetica Neue"/>
                <a:ea typeface="Helvetica Neue"/>
                <a:cs typeface="Helvetica Neue"/>
              </a:defRPr>
            </a:pPr>
            <a:r>
              <a:rPr sz="2175" b="1">
                <a:solidFill>
                  <a:srgbClr val="5EE3EE"/>
                </a:solidFill>
                <a:latin typeface="Helvetica Neue"/>
                <a:ea typeface="Helvetica Neue"/>
                <a:cs typeface="Helvetica Neue"/>
              </a:rPr>
              <a:t>Stop and limits</a:t>
            </a:r>
          </a:p>
        </p:txBody>
      </p:sp>
      <p:sp>
        <p:nvSpPr>
          <p:cNvPr id="11" name="">
            <a:extLst xmlns:a="http://schemas.openxmlformats.org/drawingml/2006/main">
              <a:ext uri="{FF2B5EF4-FFF2-40B4-BE49-F238E27FC236}">
                <a16:creationId xmlns:a16="http://schemas.microsoft.com/office/drawing/2014/main" id="{794CCFA3-8370-49C3-81D8-8DAC5DBBA9AD}"/>
              </a:ext>
            </a:extLst>
          </p:cNvPr>
          <p:cNvSpPr>
            <a:spLocks xmlns:a="http://schemas.openxmlformats.org/drawingml/2006/main" noGrp="1"/>
          </p:cNvSpPr>
          <p:nvPr/>
        </p:nvSpPr>
        <p:spPr>
          <a:xfrm xmlns:a="http://schemas.openxmlformats.org/drawingml/2006/main">
            <a:off x="4000500" y="4514850"/>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F3F6FA"/>
                </a:solidFill>
                <a:latin typeface="Helvetica Neue"/>
                <a:ea typeface="Helvetica Neue"/>
                <a:cs typeface="Helvetica Neue"/>
              </a:defRPr>
            </a:pPr>
            <a:r>
              <a:rPr sz="2175" b="0">
                <a:solidFill>
                  <a:srgbClr val="F3F6FA"/>
                </a:solidFill>
                <a:latin typeface="Helvetica Neue"/>
                <a:ea typeface="Helvetica Neue"/>
                <a:cs typeface="Helvetica Neue"/>
              </a:rPr>
              <a:t>Check that new actions stop. Preserve tool events and final state.</a:t>
            </a:r>
          </a:p>
        </p:txBody>
      </p:sp>
      <p:sp>
        <p:nvSpPr>
          <p:cNvPr id="12" name="">
            <a:extLst xmlns:a="http://schemas.openxmlformats.org/drawingml/2006/main">
              <a:ext uri="{FF2B5EF4-FFF2-40B4-BE49-F238E27FC236}">
                <a16:creationId xmlns:a16="http://schemas.microsoft.com/office/drawing/2014/main" id="{F7CF7EC2-A6FC-4545-AFCB-DB5A55F1F09B}"/>
              </a:ext>
            </a:extLst>
          </p:cNvPr>
          <p:cNvSpPr>
            <a:spLocks xmlns:a="http://schemas.openxmlformats.org/drawingml/2006/main" noGrp="1"/>
          </p:cNvSpPr>
          <p:nvPr/>
        </p:nvSpPr>
        <p:spPr>
          <a:xfrm xmlns:a="http://schemas.openxmlformats.org/drawingml/2006/main">
            <a:off x="571500" y="5734050"/>
            <a:ext cx="1076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FFD080"/>
                </a:solidFill>
                <a:latin typeface="Helvetica Neue"/>
                <a:ea typeface="Helvetica Neue"/>
                <a:cs typeface="Helvetica Neue"/>
              </a:defRPr>
            </a:pPr>
            <a:r>
              <a:rPr sz="2025" b="0">
                <a:solidFill>
                  <a:srgbClr val="FFD080"/>
                </a:solidFill>
                <a:latin typeface="Helvetica Neue"/>
                <a:ea typeface="Helvetica Neue"/>
                <a:cs typeface="Helvetica Neue"/>
              </a:rPr>
              <a:t>Keep proposed actions, policy decisions, execution events, and observed effects.</a:t>
            </a:r>
          </a:p>
        </p:txBody>
      </p:sp>
    </p:spTree>
    <p:extLst>
      <p:ext uri="{BB962C8B-B14F-4D97-AF65-F5344CB8AC3E}">
        <p14:creationId xmlns:p14="http://schemas.microsoft.com/office/powerpoint/2010/main" val="353948396"/>
      </p:ext>
    </p:extLst>
  </p:cSld>
</p:sld>
</file>

<file path=ppt/slides/slide12.xml><?xml version="1.0" encoding="utf-8"?>
<p:sld xmlns:p="http://schemas.openxmlformats.org/presentationml/2006/main">
  <p:cSld>
    <p:bg>
      <p:bgPr>
        <a:solidFill xmlns:a="http://schemas.openxmlformats.org/drawingml/2006/main">
          <a:srgbClr val="0D1726"/>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DCD98D7-6B61-4401-8FED-9B16673CBBC1}"/>
              </a:ext>
            </a:extLst>
          </p:cNvPr>
          <p:cNvSpPr>
            <a:spLocks xmlns:a="http://schemas.openxmlformats.org/drawingml/2006/main" noGrp="1"/>
          </p:cNvSpPr>
          <p:nvPr/>
        </p:nvSpPr>
        <p:spPr>
          <a:xfrm xmlns:a="http://schemas.openxmlformats.org/drawingml/2006/main">
            <a:off x="571500" y="4000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F3F6FA"/>
                </a:solidFill>
                <a:latin typeface="Helvetica Neue"/>
                <a:ea typeface="Helvetica Neue"/>
                <a:cs typeface="Helvetica Neue"/>
              </a:defRPr>
            </a:pPr>
            <a:r>
              <a:rPr sz="3225" b="1">
                <a:solidFill>
                  <a:srgbClr val="F3F6FA"/>
                </a:solidFill>
                <a:latin typeface="Helvetica Neue"/>
                <a:ea typeface="Helvetica Neue"/>
                <a:cs typeface="Helvetica Neue"/>
              </a:rPr>
              <a:t>Implementation status and next steps</a:t>
            </a:r>
          </a:p>
        </p:txBody>
      </p:sp>
      <p:sp>
        <p:nvSpPr>
          <p:cNvPr id="2" name="">
            <a:extLst xmlns:a="http://schemas.openxmlformats.org/drawingml/2006/main">
              <a:ext uri="{FF2B5EF4-FFF2-40B4-BE49-F238E27FC236}">
                <a16:creationId xmlns:a16="http://schemas.microsoft.com/office/drawing/2014/main" id="{D608F4C6-2946-44FC-9C8E-199C0B526F84}"/>
              </a:ext>
            </a:extLst>
          </p:cNvPr>
          <p:cNvSpPr>
            <a:spLocks xmlns:a="http://schemas.openxmlformats.org/drawingml/2006/main" noGrp="1"/>
          </p:cNvSpPr>
          <p:nvPr/>
        </p:nvSpPr>
        <p:spPr>
          <a:xfrm xmlns:a="http://schemas.openxmlformats.org/drawingml/2006/main">
            <a:off x="571500" y="6400800"/>
            <a:ext cx="523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B7C5D7"/>
                </a:solidFill>
                <a:latin typeface="Helvetica Neue"/>
                <a:ea typeface="Helvetica Neue"/>
                <a:cs typeface="Helvetica Neue"/>
              </a:defRPr>
            </a:pPr>
            <a:r>
              <a:rPr sz="1350" b="0">
                <a:solidFill>
                  <a:srgbClr val="B7C5D7"/>
                </a:solidFill>
                <a:latin typeface="Helvetica Neue"/>
                <a:ea typeface="Helvetica Neue"/>
                <a:cs typeface="Helvetica Neue"/>
              </a:rPr>
              <a:t>Proposed test design</a:t>
            </a:r>
          </a:p>
        </p:txBody>
      </p:sp>
      <p:sp>
        <p:nvSpPr>
          <p:cNvPr id="3" name="">
            <a:extLst xmlns:a="http://schemas.openxmlformats.org/drawingml/2006/main">
              <a:ext uri="{FF2B5EF4-FFF2-40B4-BE49-F238E27FC236}">
                <a16:creationId xmlns:a16="http://schemas.microsoft.com/office/drawing/2014/main" id="{3EB484E6-CAC6-4073-89BA-88B568C92258}"/>
              </a:ext>
            </a:extLst>
          </p:cNvPr>
          <p:cNvSpPr>
            <a:spLocks xmlns:a="http://schemas.openxmlformats.org/drawingml/2006/main" noGrp="1"/>
          </p:cNvSpPr>
          <p:nvPr/>
        </p:nvSpPr>
        <p:spPr>
          <a:xfrm xmlns:a="http://schemas.openxmlformats.org/drawingml/2006/main">
            <a:off x="11334750" y="640080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B7C5D7"/>
                </a:solidFill>
                <a:latin typeface="Helvetica Neue"/>
                <a:ea typeface="Helvetica Neue"/>
                <a:cs typeface="Helvetica Neue"/>
              </a:defRPr>
            </a:pPr>
            <a:r>
              <a:rPr sz="1350" b="0">
                <a:solidFill>
                  <a:srgbClr val="B7C5D7"/>
                </a:solidFill>
                <a:latin typeface="Helvetica Neue"/>
                <a:ea typeface="Helvetica Neue"/>
                <a:cs typeface="Helvetica Neue"/>
              </a:rPr>
              <a:t>12</a:t>
            </a:r>
          </a:p>
        </p:txBody>
      </p:sp>
      <p:sp>
        <p:nvSpPr>
          <p:cNvPr id="4" name="">
            <a:extLst xmlns:a="http://schemas.openxmlformats.org/drawingml/2006/main">
              <a:ext uri="{FF2B5EF4-FFF2-40B4-BE49-F238E27FC236}">
                <a16:creationId xmlns:a16="http://schemas.microsoft.com/office/drawing/2014/main" id="{88149286-8C74-4F2B-9251-8A692BE51DB8}"/>
              </a:ext>
            </a:extLst>
          </p:cNvPr>
          <p:cNvSpPr>
            <a:spLocks xmlns:a="http://schemas.openxmlformats.org/drawingml/2006/main" noGrp="1"/>
          </p:cNvSpPr>
          <p:nvPr/>
        </p:nvSpPr>
        <p:spPr>
          <a:xfrm xmlns:a="http://schemas.openxmlformats.org/drawingml/2006/main">
            <a:off x="571500" y="142875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5EE3EE"/>
                </a:solidFill>
                <a:latin typeface="Helvetica Neue"/>
                <a:ea typeface="Helvetica Neue"/>
                <a:cs typeface="Helvetica Neue"/>
              </a:defRPr>
            </a:pPr>
            <a:r>
              <a:rPr sz="2175" b="1">
                <a:solidFill>
                  <a:srgbClr val="5EE3EE"/>
                </a:solidFill>
                <a:latin typeface="Helvetica Neue"/>
                <a:ea typeface="Helvetica Neue"/>
                <a:cs typeface="Helvetica Neue"/>
              </a:rPr>
              <a:t>Existing prototype</a:t>
            </a:r>
          </a:p>
        </p:txBody>
      </p:sp>
      <p:sp>
        <p:nvSpPr>
          <p:cNvPr id="5" name="">
            <a:extLst xmlns:a="http://schemas.openxmlformats.org/drawingml/2006/main">
              <a:ext uri="{FF2B5EF4-FFF2-40B4-BE49-F238E27FC236}">
                <a16:creationId xmlns:a16="http://schemas.microsoft.com/office/drawing/2014/main" id="{9FABA0F2-FA98-4554-90C0-D0ADAAC2BCB4}"/>
              </a:ext>
            </a:extLst>
          </p:cNvPr>
          <p:cNvSpPr>
            <a:spLocks xmlns:a="http://schemas.openxmlformats.org/drawingml/2006/main" noGrp="1"/>
          </p:cNvSpPr>
          <p:nvPr/>
        </p:nvSpPr>
        <p:spPr>
          <a:xfrm xmlns:a="http://schemas.openxmlformats.org/drawingml/2006/main">
            <a:off x="4000500" y="1428750"/>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F3F6FA"/>
                </a:solidFill>
                <a:latin typeface="Helvetica Neue"/>
                <a:ea typeface="Helvetica Neue"/>
                <a:cs typeface="Helvetica Neue"/>
              </a:defRPr>
            </a:pPr>
            <a:r>
              <a:rPr sz="2175" b="0">
                <a:solidFill>
                  <a:srgbClr val="F3F6FA"/>
                </a:solidFill>
                <a:latin typeface="Helvetica Neue"/>
                <a:ea typeface="Helvetica Neue"/>
                <a:cs typeface="Helvetica Neue"/>
              </a:rPr>
              <a:t>Local harness, limited WAF collector, and saved local test evidence.</a:t>
            </a:r>
          </a:p>
        </p:txBody>
      </p:sp>
      <p:sp>
        <p:nvSpPr>
          <p:cNvPr id="6" name="">
            <a:extLst xmlns:a="http://schemas.openxmlformats.org/drawingml/2006/main">
              <a:ext uri="{FF2B5EF4-FFF2-40B4-BE49-F238E27FC236}">
                <a16:creationId xmlns:a16="http://schemas.microsoft.com/office/drawing/2014/main" id="{A7215FF5-639D-449B-A287-0DD6044A6287}"/>
              </a:ext>
            </a:extLst>
          </p:cNvPr>
          <p:cNvSpPr>
            <a:spLocks xmlns:a="http://schemas.openxmlformats.org/drawingml/2006/main" noGrp="1"/>
          </p:cNvSpPr>
          <p:nvPr/>
        </p:nvSpPr>
        <p:spPr>
          <a:xfrm xmlns:a="http://schemas.openxmlformats.org/drawingml/2006/main">
            <a:off x="571500" y="266700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5EE3EE"/>
                </a:solidFill>
                <a:latin typeface="Helvetica Neue"/>
                <a:ea typeface="Helvetica Neue"/>
                <a:cs typeface="Helvetica Neue"/>
              </a:defRPr>
            </a:pPr>
            <a:r>
              <a:rPr sz="2175" b="1">
                <a:solidFill>
                  <a:srgbClr val="5EE3EE"/>
                </a:solidFill>
                <a:latin typeface="Helvetica Neue"/>
                <a:ea typeface="Helvetica Neue"/>
                <a:cs typeface="Helvetica Neue"/>
              </a:rPr>
              <a:t>Web testing next</a:t>
            </a:r>
          </a:p>
        </p:txBody>
      </p:sp>
      <p:sp>
        <p:nvSpPr>
          <p:cNvPr id="7" name="">
            <a:extLst xmlns:a="http://schemas.openxmlformats.org/drawingml/2006/main">
              <a:ext uri="{FF2B5EF4-FFF2-40B4-BE49-F238E27FC236}">
                <a16:creationId xmlns:a16="http://schemas.microsoft.com/office/drawing/2014/main" id="{9EDF9217-9C42-484B-BDF8-5311822E5DED}"/>
              </a:ext>
            </a:extLst>
          </p:cNvPr>
          <p:cNvSpPr>
            <a:spLocks xmlns:a="http://schemas.openxmlformats.org/drawingml/2006/main" noGrp="1"/>
          </p:cNvSpPr>
          <p:nvPr/>
        </p:nvSpPr>
        <p:spPr>
          <a:xfrm xmlns:a="http://schemas.openxmlformats.org/drawingml/2006/main">
            <a:off x="4000500" y="2667000"/>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F3F6FA"/>
                </a:solidFill>
                <a:latin typeface="Helvetica Neue"/>
                <a:ea typeface="Helvetica Neue"/>
                <a:cs typeface="Helvetica Neue"/>
              </a:defRPr>
            </a:pPr>
            <a:r>
              <a:rPr sz="2175" b="0">
                <a:solidFill>
                  <a:srgbClr val="F3F6FA"/>
                </a:solidFill>
                <a:latin typeface="Helvetica Neue"/>
                <a:ea typeface="Helvetica Neue"/>
                <a:cs typeface="Helvetica Neue"/>
              </a:rPr>
              <a:t>Approve case contracts. Add adapters, shared controls, and isolated execution.</a:t>
            </a:r>
          </a:p>
        </p:txBody>
      </p:sp>
      <p:sp>
        <p:nvSpPr>
          <p:cNvPr id="8" name="">
            <a:extLst xmlns:a="http://schemas.openxmlformats.org/drawingml/2006/main">
              <a:ext uri="{FF2B5EF4-FFF2-40B4-BE49-F238E27FC236}">
                <a16:creationId xmlns:a16="http://schemas.microsoft.com/office/drawing/2014/main" id="{BCDD8B10-3E83-457A-8F14-08508745F343}"/>
              </a:ext>
            </a:extLst>
          </p:cNvPr>
          <p:cNvSpPr>
            <a:spLocks xmlns:a="http://schemas.openxmlformats.org/drawingml/2006/main" noGrp="1"/>
          </p:cNvSpPr>
          <p:nvPr/>
        </p:nvSpPr>
        <p:spPr>
          <a:xfrm xmlns:a="http://schemas.openxmlformats.org/drawingml/2006/main">
            <a:off x="571500" y="390525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5EE3EE"/>
                </a:solidFill>
                <a:latin typeface="Helvetica Neue"/>
                <a:ea typeface="Helvetica Neue"/>
                <a:cs typeface="Helvetica Neue"/>
              </a:defRPr>
            </a:pPr>
            <a:r>
              <a:rPr sz="2175" b="1">
                <a:solidFill>
                  <a:srgbClr val="5EE3EE"/>
                </a:solidFill>
                <a:latin typeface="Helvetica Neue"/>
                <a:ea typeface="Helvetica Neue"/>
                <a:cs typeface="Helvetica Neue"/>
              </a:rPr>
              <a:t>AI testing next</a:t>
            </a:r>
          </a:p>
        </p:txBody>
      </p:sp>
      <p:sp>
        <p:nvSpPr>
          <p:cNvPr id="9" name="">
            <a:extLst xmlns:a="http://schemas.openxmlformats.org/drawingml/2006/main">
              <a:ext uri="{FF2B5EF4-FFF2-40B4-BE49-F238E27FC236}">
                <a16:creationId xmlns:a16="http://schemas.microsoft.com/office/drawing/2014/main" id="{7B1A0B7A-1F86-4D2A-BD4D-7B18B102598D}"/>
              </a:ext>
            </a:extLst>
          </p:cNvPr>
          <p:cNvSpPr>
            <a:spLocks xmlns:a="http://schemas.openxmlformats.org/drawingml/2006/main" noGrp="1"/>
          </p:cNvSpPr>
          <p:nvPr/>
        </p:nvSpPr>
        <p:spPr>
          <a:xfrm xmlns:a="http://schemas.openxmlformats.org/drawingml/2006/main">
            <a:off x="4000500" y="3905250"/>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F3F6FA"/>
                </a:solidFill>
                <a:latin typeface="Helvetica Neue"/>
                <a:ea typeface="Helvetica Neue"/>
                <a:cs typeface="Helvetica Neue"/>
              </a:defRPr>
            </a:pPr>
            <a:r>
              <a:rPr sz="2175" b="0">
                <a:solidFill>
                  <a:srgbClr val="F3F6FA"/>
                </a:solidFill>
                <a:latin typeface="Helvetica Neue"/>
                <a:ea typeface="Helvetica Neue"/>
                <a:cs typeface="Helvetica Neue"/>
              </a:rPr>
              <a:t>Add a target adapter, known outcomes, and checks of actual effects.</a:t>
            </a:r>
          </a:p>
        </p:txBody>
      </p:sp>
      <p:sp>
        <p:nvSpPr>
          <p:cNvPr id="10" name="">
            <a:extLst xmlns:a="http://schemas.openxmlformats.org/drawingml/2006/main">
              <a:ext uri="{FF2B5EF4-FFF2-40B4-BE49-F238E27FC236}">
                <a16:creationId xmlns:a16="http://schemas.microsoft.com/office/drawing/2014/main" id="{3339E1D5-CA0F-40F0-8B1A-F3913138ED8A}"/>
              </a:ext>
            </a:extLst>
          </p:cNvPr>
          <p:cNvSpPr>
            <a:spLocks xmlns:a="http://schemas.openxmlformats.org/drawingml/2006/main" noGrp="1"/>
          </p:cNvSpPr>
          <p:nvPr/>
        </p:nvSpPr>
        <p:spPr>
          <a:xfrm xmlns:a="http://schemas.openxmlformats.org/drawingml/2006/main">
            <a:off x="571500" y="514350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5EE3EE"/>
                </a:solidFill>
                <a:latin typeface="Helvetica Neue"/>
                <a:ea typeface="Helvetica Neue"/>
                <a:cs typeface="Helvetica Neue"/>
              </a:defRPr>
            </a:pPr>
            <a:r>
              <a:rPr sz="2175" b="1">
                <a:solidFill>
                  <a:srgbClr val="5EE3EE"/>
                </a:solidFill>
                <a:latin typeface="Helvetica Neue"/>
                <a:ea typeface="Helvetica Neue"/>
                <a:cs typeface="Helvetica Neue"/>
              </a:rPr>
              <a:t>Agent testing next</a:t>
            </a:r>
          </a:p>
        </p:txBody>
      </p:sp>
      <p:sp>
        <p:nvSpPr>
          <p:cNvPr id="11" name="">
            <a:extLst xmlns:a="http://schemas.openxmlformats.org/drawingml/2006/main">
              <a:ext uri="{FF2B5EF4-FFF2-40B4-BE49-F238E27FC236}">
                <a16:creationId xmlns:a16="http://schemas.microsoft.com/office/drawing/2014/main" id="{D363D6DF-65AE-457C-9B50-97018C9FFE05}"/>
              </a:ext>
            </a:extLst>
          </p:cNvPr>
          <p:cNvSpPr>
            <a:spLocks xmlns:a="http://schemas.openxmlformats.org/drawingml/2006/main" noGrp="1"/>
          </p:cNvSpPr>
          <p:nvPr/>
        </p:nvSpPr>
        <p:spPr>
          <a:xfrm xmlns:a="http://schemas.openxmlformats.org/drawingml/2006/main">
            <a:off x="4000500" y="5143500"/>
            <a:ext cx="742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F3F6FA"/>
                </a:solidFill>
                <a:latin typeface="Helvetica Neue"/>
                <a:ea typeface="Helvetica Neue"/>
                <a:cs typeface="Helvetica Neue"/>
              </a:defRPr>
            </a:pPr>
            <a:r>
              <a:rPr sz="2175" b="0">
                <a:solidFill>
                  <a:srgbClr val="F3F6FA"/>
                </a:solidFill>
                <a:latin typeface="Helvetica Neue"/>
                <a:ea typeface="Helvetica Neue"/>
                <a:cs typeface="Helvetica Neue"/>
              </a:rPr>
              <a:t>Record permissions, approval decisions, tool events, and final state.</a:t>
            </a:r>
          </a:p>
        </p:txBody>
      </p:sp>
    </p:spTree>
    <p:extLst>
      <p:ext uri="{BB962C8B-B14F-4D97-AF65-F5344CB8AC3E}">
        <p14:creationId xmlns:p14="http://schemas.microsoft.com/office/powerpoint/2010/main" val="15674721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2026-10-05T15:06:13.4750000Z</dcterms:created>
  <dcterms:modified xsi:type="dcterms:W3CDTF">2026-10-05T15:06:13.4750000Z</dcterms:modified>
</coreProperties>
</file>