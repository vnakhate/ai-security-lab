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63eb87066b4ecc" /><Relationship Type="http://schemas.openxmlformats.org/officeDocument/2006/relationships/extended-properties" Target="/docProps/app.xml" Id="Rfc2be5c8d60f47c4" /><Relationship Type="http://schemas.openxmlformats.org/officeDocument/2006/relationships/officeDocument" Target="/ppt/presentation.xml" Id="Re82e17604efd4933" /></Relationships>
</file>

<file path=ppt/presentation.xml><?xml version="1.0" encoding="utf-8"?>
<p:presentation xmlns:p="http://schemas.openxmlformats.org/presentationml/2006/main">
  <p:sldMasterIdLst>
    <p:sldMasterId xmlns:r="http://schemas.openxmlformats.org/officeDocument/2006/relationships" id="2147483648" r:id="Rcd8d4772e81b4ec2"/>
  </p:sldMasterIdLst>
  <p:notesMasterIdLst>
    <p:notesMasterId xmlns:r="http://schemas.openxmlformats.org/officeDocument/2006/relationships" r:id="R30994ae8e69e4a29"/>
  </p:notesMasterIdLst>
  <p:sldIdLst>
    <p:sldId xmlns:r="http://schemas.openxmlformats.org/officeDocument/2006/relationships" id="256" r:id="Rcbf7b91e847b4062"/>
    <p:sldId xmlns:r="http://schemas.openxmlformats.org/officeDocument/2006/relationships" id="257" r:id="R6b2e40af7caa4d04"/>
    <p:sldId xmlns:r="http://schemas.openxmlformats.org/officeDocument/2006/relationships" id="258" r:id="R47aacab6585f45bc"/>
    <p:sldId xmlns:r="http://schemas.openxmlformats.org/officeDocument/2006/relationships" id="259" r:id="Rd2b18f41691c483e"/>
    <p:sldId xmlns:r="http://schemas.openxmlformats.org/officeDocument/2006/relationships" id="260" r:id="R58ecedb8358d49df"/>
    <p:sldId xmlns:r="http://schemas.openxmlformats.org/officeDocument/2006/relationships" id="261" r:id="R7b0b20fe71264340"/>
    <p:sldId xmlns:r="http://schemas.openxmlformats.org/officeDocument/2006/relationships" id="262" r:id="Re097808a67d64ae7"/>
    <p:sldId xmlns:r="http://schemas.openxmlformats.org/officeDocument/2006/relationships" id="263" r:id="R7c86c457c6d64219"/>
    <p:sldId xmlns:r="http://schemas.openxmlformats.org/officeDocument/2006/relationships" id="264" r:id="R64a2a9b1be4d4af4"/>
    <p:sldId xmlns:r="http://schemas.openxmlformats.org/officeDocument/2006/relationships" id="265" r:id="R0337ce0bad0843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3e643989ce4200" /><Relationship Type="http://schemas.openxmlformats.org/officeDocument/2006/relationships/slideMaster" Target="/ppt/slideMasters/slideMaster1.xml" Id="Rcd8d4772e81b4ec2" /><Relationship Type="http://schemas.openxmlformats.org/officeDocument/2006/relationships/notesMaster" Target="/ppt/notesMasters/notesMaster1.xml" Id="R30994ae8e69e4a29" /><Relationship Type="http://schemas.openxmlformats.org/officeDocument/2006/relationships/presProps" Target="/ppt/presProps.xml" Id="R6d77d244017b4b0a" /><Relationship Type="http://schemas.openxmlformats.org/officeDocument/2006/relationships/tableStyles" Target="/ppt/tableStyles.xml" Id="R57180c777ec448c5" /><Relationship Type="http://schemas.openxmlformats.org/officeDocument/2006/relationships/slide" Target="/ppt/slides/slide1.xml" Id="Rcbf7b91e847b4062" /><Relationship Type="http://schemas.openxmlformats.org/officeDocument/2006/relationships/slide" Target="/ppt/slides/slide2.xml" Id="R6b2e40af7caa4d04" /><Relationship Type="http://schemas.openxmlformats.org/officeDocument/2006/relationships/slide" Target="/ppt/slides/slide3.xml" Id="R47aacab6585f45bc" /><Relationship Type="http://schemas.openxmlformats.org/officeDocument/2006/relationships/slide" Target="/ppt/slides/slide4.xml" Id="Rd2b18f41691c483e" /><Relationship Type="http://schemas.openxmlformats.org/officeDocument/2006/relationships/slide" Target="/ppt/slides/slide5.xml" Id="R58ecedb8358d49df" /><Relationship Type="http://schemas.openxmlformats.org/officeDocument/2006/relationships/slide" Target="/ppt/slides/slide6.xml" Id="R7b0b20fe71264340" /><Relationship Type="http://schemas.openxmlformats.org/officeDocument/2006/relationships/slide" Target="/ppt/slides/slide7.xml" Id="Re097808a67d64ae7" /><Relationship Type="http://schemas.openxmlformats.org/officeDocument/2006/relationships/slide" Target="/ppt/slides/slide8.xml" Id="R7c86c457c6d64219" /><Relationship Type="http://schemas.openxmlformats.org/officeDocument/2006/relationships/slide" Target="/ppt/slides/slide9.xml" Id="R64a2a9b1be4d4af4" /><Relationship Type="http://schemas.openxmlformats.org/officeDocument/2006/relationships/slide" Target="/ppt/slides/slide10.xml" Id="R0337ce0bad0843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d26c1122824d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8cec170109430b" /><Relationship Type="http://schemas.openxmlformats.org/officeDocument/2006/relationships/notesMaster" Target="/ppt/notesMasters/notesMaster1.xml" Id="Rc9d87466885543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3c7173b9614cd9" /><Relationship Type="http://schemas.openxmlformats.org/officeDocument/2006/relationships/notesMaster" Target="/ppt/notesMasters/notesMaster1.xml" Id="Rb3eb77387c0e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f9e87a31c74319" /><Relationship Type="http://schemas.openxmlformats.org/officeDocument/2006/relationships/notesMaster" Target="/ppt/notesMasters/notesMaster1.xml" Id="Raaea08429a434b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c9bf2fdff146ef" /><Relationship Type="http://schemas.openxmlformats.org/officeDocument/2006/relationships/notesMaster" Target="/ppt/notesMasters/notesMaster1.xml" Id="Raed51f4a40d14d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48f9a7212e42a5" /><Relationship Type="http://schemas.openxmlformats.org/officeDocument/2006/relationships/notesMaster" Target="/ppt/notesMasters/notesMaster1.xml" Id="Rdb9d6bf0a26046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ae2b041aa44c46" /><Relationship Type="http://schemas.openxmlformats.org/officeDocument/2006/relationships/notesMaster" Target="/ppt/notesMasters/notesMaster1.xml" Id="R0046b69a8edb48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3b8730b6174787" /><Relationship Type="http://schemas.openxmlformats.org/officeDocument/2006/relationships/notesMaster" Target="/ppt/notesMasters/notesMaster1.xml" Id="R8d31b2cc2f5e40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cccbbad85443e5" /><Relationship Type="http://schemas.openxmlformats.org/officeDocument/2006/relationships/notesMaster" Target="/ppt/notesMasters/notesMaster1.xml" Id="R705982173da04b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6163abb1824c94" /><Relationship Type="http://schemas.openxmlformats.org/officeDocument/2006/relationships/notesMaster" Target="/ppt/notesMasters/notesMaster1.xml" Id="Rfd65ca043f334d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09c9d4499c467e" /><Relationship Type="http://schemas.openxmlformats.org/officeDocument/2006/relationships/notesMaster" Target="/ppt/notesMasters/notesMaster1.xml" Id="R5ceb875118c940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describes the proposed lab for two operators. It also describes tests of an approved preproduction corporate website behind a WAF. Hardware and integration remain pending. The operator proposed Grok 3.7 Cyber. Its exact API contract remains unconfirmed.</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goal is a local AI lab with results checked against known outcomes. The second goal is an authorized external WAF assessment with supporting evidence. Existing local tests demonstrate prototype behavior only. Start with one campaign and two named accounts. A campaign is a planned group of tests.</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and command-line interface (CLI) connect to one host service. The engine enforces scope and stop controls. It dispatches tests and records evidence. Scope specifies the approved targets, routes, methods, and limits. The runner executes tools in a disposable virtual machine (VM). The host copies output files into restricted evidence folders. Model replies suggest actions. The engine controls allowed actions. The diagram omits network equipment and simplifies return paths. Back up SQLite and the evidence files. The system owner manages backend services. Direct tests of these services need additional scope.</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records the exact target, credential reference, allowed actions, approval expiry, and shared limits. The second operator reviews scope. Check that each adapter is ready. An adapter converts lab instructions into tool or target requests. Check normal requests as the baseline. If the WAF blocks a normal baseline request, stop further requests. A stop ends the tool process and its child processes. It retains partial evidence. It cannot undo requests that the runner already sent. Review application evidence before accepting a tool finding.</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access module belongs to the host service. Start with a separate inference service on the same lab computer. An inference service executes a model and returns its output. Accounts restrict access. They do not isolate GPU or host failures. Move inference to a dedicated GPU host when measurements or isolation requirements justify the change. A cluster remains a later option for larger models or sustained concurrent demand. Local model records include source, license, weight hash, runtime, and quantization. External model records include endpoint, exact model ID, access terms, retention, and allowed data. The operator proposed Grok 3.7 Cyber. Public API documentation did not independently establish this endpoint. Local mode prevents external model calls and automatic use of cloud models. A relay forwards model requests and enforces limits. Keep provider keys on the host.</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all 15 supplied repositories in the campaign inventory. Record a status for each repository: selected, blocked, deferred, or not applicable. A comprehensive profile executes all applicable adapters after checks against known results. All tools use shared limits. Repositories with test methods supply procedures. Do not record these procedures as executed tests. A wrapper alone cannot control every internal request from an autonomous agent. An installed tool does not prove that the tool is ready for a campaign. The full registry is pentest-tools/manifests/lab-tool-coverage.json.</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WAF fronts a large corporate website. Start with one approved hostname and a small set of routes. Add routes only after the initial checks pass. Include normal requests to detect false positives. For each case, record the method, input, account role, expected response, and allowed actions. Third-party services, discovered origins, and other hostnames need explicit scope. The current collector supports unauthenticated GET requests with query inputs and enforced limits. Authentication, POST or JSON inputs, and browser workflows need approved adapters. HTTP 403 alone proves neither the reason for a block nor a vulnerability.</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stores run metadata and links to files. Evidence folders store large output files. Evidence includes scope, redacted requests and responses, tool output, exit status, model records, and reviewer decisions. The host service imports new evidence. The disposable VM cannot change earlier evidence. A separate backup supports recovery. It does not independently prove that evidence remains unchanged. If a normal request receives HTTP 403, stop further requests. Match the response to logs before any active test.</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 these controls before operational use. Check each control before approval. The private dashboard requires named accounts. Give the runner campaign inputs and only the test credentials it needs. Deny host folders, personal credentials, management access, and the host Docker socket. Enforce target scope with network controls independently of prompts. Model suggestions cannot change approval. Authenticate the model relay. Enforce provider rules, data rules, timeouts, and cost limits. Check adapters against synthetic targets with known results. Check stop behavior.</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contains a local application harness and a scoped WAF collector. It also contains saved local test evidence. These results do not establish a deployed lab, checks of actual models, or an external corporate assessment. Build the view of run records first. Then build shared execution through the dashboard and CLI. Isolate the runner. Add deterministic tool adapters. Check local models against known results. Add one external provider adapter after approval of its data policy and contract. The proposed hardware budget is $6,000–$10,000, excluding the Mac. Hardware purchase and installation remain unconfirmed. For acceptance, start a run through the dashboard. Check it through the CLI. Stop it through either interface. Recover matching records and evidence. Then complete an authorized external assessment with human review.</a:t>
            </a:r>
          </a:p>
          <a:p xmlns:a="http://schemas.openxmlformats.org/drawingml/2006/main">
            <a:r>
              <a:t>Sources: ai-security-lab-proposal.md, architecture/consolidated-lab-architecture.json, pentest-tools/manifests/lab-tool-coverage.json. The design remains proposed unless the slide states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2330d3abfd4f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87246045624620" /><Relationship Type="http://schemas.openxmlformats.org/officeDocument/2006/relationships/slideLayout" Target="/ppt/slideLayouts/slideLayout1.xml" Id="R2f2d1cf9d0cb43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2d1cf9d0cb43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2cfea1fbb848bc" /><Relationship Type="http://schemas.openxmlformats.org/officeDocument/2006/relationships/notesSlide" Target="/ppt/notesSlides/notesSlide1.xml" Id="R6c4b98a0222a47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6fbe6e0a7a4e61" /><Relationship Type="http://schemas.openxmlformats.org/officeDocument/2006/relationships/notesSlide" Target="/ppt/notesSlides/notesSlide2.xml" Id="R3d0f9c1a4401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5b40b8ae6d4cde" /><Relationship Type="http://schemas.openxmlformats.org/officeDocument/2006/relationships/notesSlide" Target="/ppt/notesSlides/notesSlide3.xml" Id="R58580732f2e744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1fa37a98534ae0" /><Relationship Type="http://schemas.openxmlformats.org/officeDocument/2006/relationships/notesSlide" Target="/ppt/notesSlides/notesSlide4.xml" Id="Red94596d2de84a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9c45cddb354522" /><Relationship Type="http://schemas.openxmlformats.org/officeDocument/2006/relationships/notesSlide" Target="/ppt/notesSlides/notesSlide5.xml" Id="R06e200c6fd0d4a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f7187194064354" /><Relationship Type="http://schemas.openxmlformats.org/officeDocument/2006/relationships/notesSlide" Target="/ppt/notesSlides/notesSlide6.xml" Id="Rba277fc27f0e44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fe565b7d6d40d2" /><Relationship Type="http://schemas.openxmlformats.org/officeDocument/2006/relationships/notesSlide" Target="/ppt/notesSlides/notesSlide7.xml" Id="R0a0c176e9b4240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54c2c261444bb8" /><Relationship Type="http://schemas.openxmlformats.org/officeDocument/2006/relationships/notesSlide" Target="/ppt/notesSlides/notesSlide8.xml" Id="Rf43cd07a704340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26fd1d93304b47" /><Relationship Type="http://schemas.openxmlformats.org/officeDocument/2006/relationships/notesSlide" Target="/ppt/notesSlides/notesSlide9.xml" Id="R7d68bd8196cb49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d4b94ac882473d" /><Relationship Type="http://schemas.openxmlformats.org/officeDocument/2006/relationships/notesSlide" Target="/ppt/notesSlides/notesSlide10.xml" Id="R0cb4e4eed0d44f42" /></Relationships>
</file>

<file path=ppt/slides/slide1.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0C244D-8589-4867-95E9-1C87A0CBE00D}"/>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Security Lab</a:t>
            </a:r>
          </a:p>
        </p:txBody>
      </p:sp>
      <p:sp>
        <p:nvSpPr>
          <p:cNvPr id="2" name="">
            <a:extLst xmlns:a="http://schemas.openxmlformats.org/drawingml/2006/main">
              <a:ext uri="{FF2B5EF4-FFF2-40B4-BE49-F238E27FC236}">
                <a16:creationId xmlns:a16="http://schemas.microsoft.com/office/drawing/2014/main" id="{F38265C7-36B8-4014-9BC3-46A45A906C63}"/>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318DDB5-0E14-465F-981B-78661A67F388}"/>
              </a:ext>
            </a:extLst>
          </p:cNvPr>
          <p:cNvSpPr>
            <a:spLocks xmlns:a="http://schemas.openxmlformats.org/drawingml/2006/main" noGrp="1"/>
          </p:cNvSpPr>
          <p:nvPr/>
        </p:nvSpPr>
        <p:spPr>
          <a:xfrm xmlns:a="http://schemas.openxmlformats.org/drawingml/2006/main">
            <a:off x="571500" y="209550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00" b="1">
                <a:solidFill>
                  <a:srgbClr val="F3F6FA"/>
                </a:solidFill>
                <a:latin typeface="Helvetica Neue"/>
                <a:ea typeface="Helvetica Neue"/>
                <a:cs typeface="Helvetica Neue"/>
              </a:defRPr>
            </a:pPr>
            <a:r>
              <a:rPr sz="4200" b="1">
                <a:solidFill>
                  <a:srgbClr val="F3F6FA"/>
                </a:solidFill>
                <a:latin typeface="Helvetica Neue"/>
                <a:ea typeface="Helvetica Neue"/>
                <a:cs typeface="Helvetica Neue"/>
              </a:rPr>
              <a:t>Minimal architecture and corporate WAF testing</a:t>
            </a:r>
          </a:p>
        </p:txBody>
      </p:sp>
      <p:sp>
        <p:nvSpPr>
          <p:cNvPr id="4" name="">
            <a:extLst xmlns:a="http://schemas.openxmlformats.org/drawingml/2006/main">
              <a:ext uri="{FF2B5EF4-FFF2-40B4-BE49-F238E27FC236}">
                <a16:creationId xmlns:a16="http://schemas.microsoft.com/office/drawing/2014/main" id="{2AAC4BEC-3623-47E2-8CDD-73E71537EE47}"/>
              </a:ext>
            </a:extLst>
          </p:cNvPr>
          <p:cNvSpPr>
            <a:spLocks xmlns:a="http://schemas.openxmlformats.org/drawingml/2006/main" noGrp="1"/>
          </p:cNvSpPr>
          <p:nvPr/>
        </p:nvSpPr>
        <p:spPr>
          <a:xfrm xmlns:a="http://schemas.openxmlformats.org/drawingml/2006/main">
            <a:off x="571500" y="40290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5EE3EE"/>
                </a:solidFill>
                <a:latin typeface="Helvetica Neue"/>
                <a:ea typeface="Helvetica Neue"/>
                <a:cs typeface="Helvetica Neue"/>
              </a:defRPr>
            </a:pPr>
            <a:r>
              <a:rPr sz="2400" b="0">
                <a:solidFill>
                  <a:srgbClr val="5EE3EE"/>
                </a:solidFill>
                <a:latin typeface="Helvetica Neue"/>
                <a:ea typeface="Helvetica Neue"/>
                <a:cs typeface="Helvetica Neue"/>
              </a:rPr>
              <a:t>Two operators. One dedicated lab computer.</a:t>
            </a:r>
          </a:p>
        </p:txBody>
      </p:sp>
      <p:sp>
        <p:nvSpPr>
          <p:cNvPr id="5" name="">
            <a:extLst xmlns:a="http://schemas.openxmlformats.org/drawingml/2006/main">
              <a:ext uri="{FF2B5EF4-FFF2-40B4-BE49-F238E27FC236}">
                <a16:creationId xmlns:a16="http://schemas.microsoft.com/office/drawing/2014/main" id="{08829FB8-B0D2-4A7B-9C7B-EF775D47577E}"/>
              </a:ext>
            </a:extLst>
          </p:cNvPr>
          <p:cNvSpPr>
            <a:spLocks xmlns:a="http://schemas.openxmlformats.org/drawingml/2006/main" noGrp="1"/>
          </p:cNvSpPr>
          <p:nvPr/>
        </p:nvSpPr>
        <p:spPr>
          <a:xfrm xmlns:a="http://schemas.openxmlformats.org/drawingml/2006/main">
            <a:off x="571500" y="5286375"/>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Proposed design</a:t>
            </a:r>
          </a:p>
          <a:p xmlns:a="http://schemas.openxmlformats.org/drawingml/2006/main">
            <a:pPr>
              <a:buNone/>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4 October 2026</a:t>
            </a:r>
          </a:p>
        </p:txBody>
      </p:sp>
    </p:spTree>
    <p:extLst>
      <p:ext uri="{BB962C8B-B14F-4D97-AF65-F5344CB8AC3E}">
        <p14:creationId xmlns:p14="http://schemas.microsoft.com/office/powerpoint/2010/main" val="1675457614"/>
      </p:ext>
    </p:extLst>
  </p:cSld>
</p:sld>
</file>

<file path=ppt/slides/slide2.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BF9380-604C-440F-BA74-8D9D3B2F669C}"/>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Purpose and operating model</a:t>
            </a:r>
          </a:p>
        </p:txBody>
      </p:sp>
      <p:sp>
        <p:nvSpPr>
          <p:cNvPr id="2" name="">
            <a:extLst xmlns:a="http://schemas.openxmlformats.org/drawingml/2006/main">
              <a:ext uri="{FF2B5EF4-FFF2-40B4-BE49-F238E27FC236}">
                <a16:creationId xmlns:a16="http://schemas.microsoft.com/office/drawing/2014/main" id="{881AFAAD-9E19-4D58-8193-A917363113E5}"/>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874C56D-1911-4390-9792-80AD61209539}"/>
              </a:ext>
            </a:extLst>
          </p:cNvPr>
          <p:cNvSpPr>
            <a:spLocks xmlns:a="http://schemas.openxmlformats.org/drawingml/2006/main" noGrp="1"/>
          </p:cNvSpPr>
          <p:nvPr/>
        </p:nvSpPr>
        <p:spPr>
          <a:xfrm xmlns:a="http://schemas.openxmlformats.org/drawingml/2006/main">
            <a:off x="571500" y="1619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Local AI lab</a:t>
            </a:r>
          </a:p>
        </p:txBody>
      </p:sp>
      <p:sp>
        <p:nvSpPr>
          <p:cNvPr id="4" name="">
            <a:extLst xmlns:a="http://schemas.openxmlformats.org/drawingml/2006/main">
              <a:ext uri="{FF2B5EF4-FFF2-40B4-BE49-F238E27FC236}">
                <a16:creationId xmlns:a16="http://schemas.microsoft.com/office/drawing/2014/main" id="{8EE41B11-DF22-4653-8409-E064D1FEF6C0}"/>
              </a:ext>
            </a:extLst>
          </p:cNvPr>
          <p:cNvSpPr>
            <a:spLocks xmlns:a="http://schemas.openxmlformats.org/drawingml/2006/main" noGrp="1"/>
          </p:cNvSpPr>
          <p:nvPr/>
        </p:nvSpPr>
        <p:spPr>
          <a:xfrm xmlns:a="http://schemas.openxmlformats.org/drawingml/2006/main">
            <a:off x="4000500" y="1619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models and tools against synthetic cases with known results.</a:t>
            </a:r>
          </a:p>
        </p:txBody>
      </p:sp>
      <p:sp>
        <p:nvSpPr>
          <p:cNvPr id="5" name="">
            <a:extLst xmlns:a="http://schemas.openxmlformats.org/drawingml/2006/main">
              <a:ext uri="{FF2B5EF4-FFF2-40B4-BE49-F238E27FC236}">
                <a16:creationId xmlns:a16="http://schemas.microsoft.com/office/drawing/2014/main" id="{6343BC3D-64DD-4AB6-B37D-5D8106CA0611}"/>
              </a:ext>
            </a:extLst>
          </p:cNvPr>
          <p:cNvSpPr>
            <a:spLocks xmlns:a="http://schemas.openxmlformats.org/drawingml/2006/main" noGrp="1"/>
          </p:cNvSpPr>
          <p:nvPr/>
        </p:nvSpPr>
        <p:spPr>
          <a:xfrm xmlns:a="http://schemas.openxmlformats.org/drawingml/2006/main">
            <a:off x="571500" y="2952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Corporate WAF assessment</a:t>
            </a:r>
          </a:p>
        </p:txBody>
      </p:sp>
      <p:sp>
        <p:nvSpPr>
          <p:cNvPr id="6" name="">
            <a:extLst xmlns:a="http://schemas.openxmlformats.org/drawingml/2006/main">
              <a:ext uri="{FF2B5EF4-FFF2-40B4-BE49-F238E27FC236}">
                <a16:creationId xmlns:a16="http://schemas.microsoft.com/office/drawing/2014/main" id="{175F1F98-4488-4FCE-B459-C4CC11B921C0}"/>
              </a:ext>
            </a:extLst>
          </p:cNvPr>
          <p:cNvSpPr>
            <a:spLocks xmlns:a="http://schemas.openxmlformats.org/drawingml/2006/main" noGrp="1"/>
          </p:cNvSpPr>
          <p:nvPr/>
        </p:nvSpPr>
        <p:spPr>
          <a:xfrm xmlns:a="http://schemas.openxmlformats.org/drawingml/2006/main">
            <a:off x="4000500" y="2952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approved website routes. Review WAF decisions against application evidence.</a:t>
            </a:r>
          </a:p>
        </p:txBody>
      </p:sp>
      <p:sp>
        <p:nvSpPr>
          <p:cNvPr id="7" name="">
            <a:extLst xmlns:a="http://schemas.openxmlformats.org/drawingml/2006/main">
              <a:ext uri="{FF2B5EF4-FFF2-40B4-BE49-F238E27FC236}">
                <a16:creationId xmlns:a16="http://schemas.microsoft.com/office/drawing/2014/main" id="{A887D20E-EA31-4529-8F85-7DA595A8C6E6}"/>
              </a:ext>
            </a:extLst>
          </p:cNvPr>
          <p:cNvSpPr>
            <a:spLocks xmlns:a="http://schemas.openxmlformats.org/drawingml/2006/main" noGrp="1"/>
          </p:cNvSpPr>
          <p:nvPr/>
        </p:nvSpPr>
        <p:spPr>
          <a:xfrm xmlns:a="http://schemas.openxmlformats.org/drawingml/2006/main">
            <a:off x="571500" y="4286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Two operators</a:t>
            </a:r>
          </a:p>
        </p:txBody>
      </p:sp>
      <p:sp>
        <p:nvSpPr>
          <p:cNvPr id="8" name="">
            <a:extLst xmlns:a="http://schemas.openxmlformats.org/drawingml/2006/main">
              <a:ext uri="{FF2B5EF4-FFF2-40B4-BE49-F238E27FC236}">
                <a16:creationId xmlns:a16="http://schemas.microsoft.com/office/drawing/2014/main" id="{1B31F448-961E-4207-A18D-B7CC7B59850C}"/>
              </a:ext>
            </a:extLst>
          </p:cNvPr>
          <p:cNvSpPr>
            <a:spLocks xmlns:a="http://schemas.openxmlformats.org/drawingml/2006/main" noGrp="1"/>
          </p:cNvSpPr>
          <p:nvPr/>
        </p:nvSpPr>
        <p:spPr>
          <a:xfrm xmlns:a="http://schemas.openxmlformats.org/drawingml/2006/main">
            <a:off x="4000500" y="4286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One operator prepares the campaign and executes tests. The other reviews scope and findings.</a:t>
            </a:r>
          </a:p>
        </p:txBody>
      </p:sp>
      <p:sp>
        <p:nvSpPr>
          <p:cNvPr id="9" name="">
            <a:extLst xmlns:a="http://schemas.openxmlformats.org/drawingml/2006/main">
              <a:ext uri="{FF2B5EF4-FFF2-40B4-BE49-F238E27FC236}">
                <a16:creationId xmlns:a16="http://schemas.microsoft.com/office/drawing/2014/main" id="{78A624A2-DD6A-4156-96EF-64E2700FA12E}"/>
              </a:ext>
            </a:extLst>
          </p:cNvPr>
          <p:cNvSpPr>
            <a:spLocks xmlns:a="http://schemas.openxmlformats.org/drawingml/2006/main" noGrp="1"/>
          </p:cNvSpPr>
          <p:nvPr/>
        </p:nvSpPr>
        <p:spPr>
          <a:xfrm xmlns:a="http://schemas.openxmlformats.org/drawingml/2006/main">
            <a:off x="571500" y="58102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Both goals still need operational checks and approval.</a:t>
            </a:r>
          </a:p>
        </p:txBody>
      </p:sp>
    </p:spTree>
    <p:extLst>
      <p:ext uri="{BB962C8B-B14F-4D97-AF65-F5344CB8AC3E}">
        <p14:creationId xmlns:p14="http://schemas.microsoft.com/office/powerpoint/2010/main" val="210333948"/>
      </p:ext>
    </p:extLst>
  </p:cSld>
</p:sld>
</file>

<file path=ppt/slides/slide3.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8CF0F9C-336A-4CCF-9E0F-275D766095F1}"/>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Consolidated architecture</a:t>
            </a:r>
          </a:p>
        </p:txBody>
      </p:sp>
      <p:sp>
        <p:nvSpPr>
          <p:cNvPr id="2" name="">
            <a:extLst xmlns:a="http://schemas.openxmlformats.org/drawingml/2006/main">
              <a:ext uri="{FF2B5EF4-FFF2-40B4-BE49-F238E27FC236}">
                <a16:creationId xmlns:a16="http://schemas.microsoft.com/office/drawing/2014/main" id="{7939401E-EE07-4CCB-8397-3E148D04E5DC}"/>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084184A5-C5E8-4993-998B-295A6682A2D2}"/>
              </a:ext>
            </a:extLst>
          </p:cNvPr>
          <p:cNvSpPr>
            <a:spLocks xmlns:a="http://schemas.openxmlformats.org/drawingml/2006/main" noGrp="1"/>
          </p:cNvSpPr>
          <p:nvPr/>
        </p:nvSpPr>
        <p:spPr>
          <a:xfrm xmlns:a="http://schemas.openxmlformats.org/drawingml/2006/main">
            <a:off x="33337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Dashboard</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and CLI</a:t>
            </a:r>
          </a:p>
        </p:txBody>
      </p:sp>
      <p:sp>
        <p:nvSpPr>
          <p:cNvPr id="4" name="">
            <a:extLst xmlns:a="http://schemas.openxmlformats.org/drawingml/2006/main">
              <a:ext uri="{FF2B5EF4-FFF2-40B4-BE49-F238E27FC236}">
                <a16:creationId xmlns:a16="http://schemas.microsoft.com/office/drawing/2014/main" id="{98E1F6F2-1DDC-4BC7-982D-5022F54E0184}"/>
              </a:ext>
            </a:extLst>
          </p:cNvPr>
          <p:cNvSpPr>
            <a:spLocks xmlns:a="http://schemas.openxmlformats.org/drawingml/2006/main" noGrp="1"/>
          </p:cNvSpPr>
          <p:nvPr/>
        </p:nvSpPr>
        <p:spPr>
          <a:xfrm xmlns:a="http://schemas.openxmlformats.org/drawingml/2006/main">
            <a:off x="2667000"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5" name="">
            <a:extLst xmlns:a="http://schemas.openxmlformats.org/drawingml/2006/main">
              <a:ext uri="{FF2B5EF4-FFF2-40B4-BE49-F238E27FC236}">
                <a16:creationId xmlns:a16="http://schemas.microsoft.com/office/drawing/2014/main" id="{BDF6F312-C50C-4E9C-ADD3-809C02CAC372}"/>
              </a:ext>
            </a:extLst>
          </p:cNvPr>
          <p:cNvSpPr>
            <a:spLocks xmlns:a="http://schemas.openxmlformats.org/drawingml/2006/main" noGrp="1"/>
          </p:cNvSpPr>
          <p:nvPr/>
        </p:nvSpPr>
        <p:spPr>
          <a:xfrm xmlns:a="http://schemas.openxmlformats.org/drawingml/2006/main">
            <a:off x="500062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Tool runner</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Disposable VM</a:t>
            </a:r>
          </a:p>
        </p:txBody>
      </p:sp>
      <p:sp>
        <p:nvSpPr>
          <p:cNvPr id="6" name="">
            <a:extLst xmlns:a="http://schemas.openxmlformats.org/drawingml/2006/main">
              <a:ext uri="{FF2B5EF4-FFF2-40B4-BE49-F238E27FC236}">
                <a16:creationId xmlns:a16="http://schemas.microsoft.com/office/drawing/2014/main" id="{930BAE8D-283E-4BFD-B7F5-4A5FE9C55689}"/>
              </a:ext>
            </a:extLst>
          </p:cNvPr>
          <p:cNvSpPr>
            <a:spLocks xmlns:a="http://schemas.openxmlformats.org/drawingml/2006/main" noGrp="1"/>
          </p:cNvSpPr>
          <p:nvPr/>
        </p:nvSpPr>
        <p:spPr>
          <a:xfrm xmlns:a="http://schemas.openxmlformats.org/drawingml/2006/main">
            <a:off x="7334250"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Corporate</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WAF</a:t>
            </a:r>
          </a:p>
        </p:txBody>
      </p:sp>
      <p:sp>
        <p:nvSpPr>
          <p:cNvPr id="7" name="">
            <a:extLst xmlns:a="http://schemas.openxmlformats.org/drawingml/2006/main">
              <a:ext uri="{FF2B5EF4-FFF2-40B4-BE49-F238E27FC236}">
                <a16:creationId xmlns:a16="http://schemas.microsoft.com/office/drawing/2014/main" id="{E4284213-3B6B-400C-BEDE-B39E4C3CD08D}"/>
              </a:ext>
            </a:extLst>
          </p:cNvPr>
          <p:cNvSpPr>
            <a:spLocks xmlns:a="http://schemas.openxmlformats.org/drawingml/2006/main" noGrp="1"/>
          </p:cNvSpPr>
          <p:nvPr/>
        </p:nvSpPr>
        <p:spPr>
          <a:xfrm xmlns:a="http://schemas.openxmlformats.org/drawingml/2006/main">
            <a:off x="966787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Website</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and APIs</a:t>
            </a:r>
          </a:p>
        </p:txBody>
      </p:sp>
      <p:cxnSp>
        <p:nvCxnSpPr>
          <p:cNvPr id="61" name=""/>
          <p:cNvCxnSpPr>
            <a:stCxn xmlns:a="http://schemas.openxmlformats.org/drawingml/2006/main" id="3" idx="3"/>
            <a:endCxn xmlns:a="http://schemas.openxmlformats.org/drawingml/2006/main" id="4" idx="1"/>
          </p:cNvCxnSpPr>
          <p:nvPr/>
        </p:nvCxnSpPr>
        <p:spPr>
          <a:xfrm xmlns:a="http://schemas.openxmlformats.org/drawingml/2006/main">
            <a:off x="2143125"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62" name=""/>
          <p:cNvCxnSpPr>
            <a:stCxn xmlns:a="http://schemas.openxmlformats.org/drawingml/2006/main" id="4" idx="3"/>
            <a:endCxn xmlns:a="http://schemas.openxmlformats.org/drawingml/2006/main" id="5" idx="1"/>
          </p:cNvCxnSpPr>
          <p:nvPr/>
        </p:nvCxnSpPr>
        <p:spPr>
          <a:xfrm xmlns:a="http://schemas.openxmlformats.org/drawingml/2006/main">
            <a:off x="4476750"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63" name=""/>
          <p:cNvCxnSpPr>
            <a:stCxn xmlns:a="http://schemas.openxmlformats.org/drawingml/2006/main" id="5" idx="3"/>
            <a:endCxn xmlns:a="http://schemas.openxmlformats.org/drawingml/2006/main" id="6" idx="1"/>
          </p:cNvCxnSpPr>
          <p:nvPr/>
        </p:nvCxnSpPr>
        <p:spPr>
          <a:xfrm xmlns:a="http://schemas.openxmlformats.org/drawingml/2006/main">
            <a:off x="6810375"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64" name=""/>
          <p:cNvCxnSpPr>
            <a:stCxn xmlns:a="http://schemas.openxmlformats.org/drawingml/2006/main" id="6" idx="3"/>
            <a:endCxn xmlns:a="http://schemas.openxmlformats.org/drawingml/2006/main" id="7" idx="1"/>
          </p:cNvCxnSpPr>
          <p:nvPr/>
        </p:nvCxnSpPr>
        <p:spPr>
          <a:xfrm xmlns:a="http://schemas.openxmlformats.org/drawingml/2006/main">
            <a:off x="9144000"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2" name="">
            <a:extLst xmlns:a="http://schemas.openxmlformats.org/drawingml/2006/main">
              <a:ext uri="{FF2B5EF4-FFF2-40B4-BE49-F238E27FC236}">
                <a16:creationId xmlns:a16="http://schemas.microsoft.com/office/drawing/2014/main" id="{D4015756-E10B-480E-A773-DF0A9BF3C786}"/>
              </a:ext>
            </a:extLst>
          </p:cNvPr>
          <p:cNvSpPr>
            <a:spLocks xmlns:a="http://schemas.openxmlformats.org/drawingml/2006/main" noGrp="1"/>
          </p:cNvSpPr>
          <p:nvPr/>
        </p:nvSpPr>
        <p:spPr>
          <a:xfrm xmlns:a="http://schemas.openxmlformats.org/drawingml/2006/main">
            <a:off x="2667000" y="14763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SQLite</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index</a:t>
            </a:r>
          </a:p>
        </p:txBody>
      </p:sp>
      <p:sp>
        <p:nvSpPr>
          <p:cNvPr id="13" name="">
            <a:extLst xmlns:a="http://schemas.openxmlformats.org/drawingml/2006/main">
              <a:ext uri="{FF2B5EF4-FFF2-40B4-BE49-F238E27FC236}">
                <a16:creationId xmlns:a16="http://schemas.microsoft.com/office/drawing/2014/main" id="{3A4C1791-CAB3-4C6F-ACE1-449C5B4BB3DF}"/>
              </a:ext>
            </a:extLst>
          </p:cNvPr>
          <p:cNvSpPr>
            <a:spLocks xmlns:a="http://schemas.openxmlformats.org/drawingml/2006/main" noGrp="1"/>
          </p:cNvSpPr>
          <p:nvPr/>
        </p:nvSpPr>
        <p:spPr>
          <a:xfrm xmlns:a="http://schemas.openxmlformats.org/drawingml/2006/main">
            <a:off x="5000625" y="14763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Evidence</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folders</a:t>
            </a:r>
          </a:p>
        </p:txBody>
      </p:sp>
      <p:cxnSp>
        <p:nvCxnSpPr>
          <p:cNvPr id="67" name=""/>
          <p:cNvCxnSpPr>
            <a:stCxn xmlns:a="http://schemas.openxmlformats.org/drawingml/2006/main" id="4" idx="0"/>
            <a:endCxn xmlns:a="http://schemas.openxmlformats.org/drawingml/2006/main" id="12" idx="2"/>
          </p:cNvCxnSpPr>
          <p:nvPr/>
        </p:nvCxnSpPr>
        <p:spPr>
          <a:xfrm xmlns:a="http://schemas.openxmlformats.org/drawingml/2006/main" flipV="1">
            <a:off x="3571875" y="2257425"/>
            <a:ext cx="0" cy="695325"/>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68" name=""/>
          <p:cNvCxnSpPr>
            <a:stCxn xmlns:a="http://schemas.openxmlformats.org/drawingml/2006/main" id="5" idx="0"/>
            <a:endCxn xmlns:a="http://schemas.openxmlformats.org/drawingml/2006/main" id="13" idx="2"/>
          </p:cNvCxnSpPr>
          <p:nvPr/>
        </p:nvCxnSpPr>
        <p:spPr>
          <a:xfrm xmlns:a="http://schemas.openxmlformats.org/drawingml/2006/main" flipV="1">
            <a:off x="5905500" y="2257425"/>
            <a:ext cx="0" cy="695325"/>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6" name="">
            <a:extLst xmlns:a="http://schemas.openxmlformats.org/drawingml/2006/main">
              <a:ext uri="{FF2B5EF4-FFF2-40B4-BE49-F238E27FC236}">
                <a16:creationId xmlns:a16="http://schemas.microsoft.com/office/drawing/2014/main" id="{26DB61EE-DB2C-4925-AB2B-D4EB09B965CC}"/>
              </a:ext>
            </a:extLst>
          </p:cNvPr>
          <p:cNvSpPr>
            <a:spLocks xmlns:a="http://schemas.openxmlformats.org/drawingml/2006/main" noGrp="1"/>
          </p:cNvSpPr>
          <p:nvPr/>
        </p:nvSpPr>
        <p:spPr>
          <a:xfrm xmlns:a="http://schemas.openxmlformats.org/drawingml/2006/main">
            <a:off x="2667000"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Model access</a:t>
            </a:r>
          </a:p>
        </p:txBody>
      </p:sp>
      <p:sp>
        <p:nvSpPr>
          <p:cNvPr id="17" name="">
            <a:extLst xmlns:a="http://schemas.openxmlformats.org/drawingml/2006/main">
              <a:ext uri="{FF2B5EF4-FFF2-40B4-BE49-F238E27FC236}">
                <a16:creationId xmlns:a16="http://schemas.microsoft.com/office/drawing/2014/main" id="{225A9381-14B9-4FA9-8430-40A393462049}"/>
              </a:ext>
            </a:extLst>
          </p:cNvPr>
          <p:cNvSpPr>
            <a:spLocks xmlns:a="http://schemas.openxmlformats.org/drawingml/2006/main" noGrp="1"/>
          </p:cNvSpPr>
          <p:nvPr/>
        </p:nvSpPr>
        <p:spPr>
          <a:xfrm xmlns:a="http://schemas.openxmlformats.org/drawingml/2006/main">
            <a:off x="5000625"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Local model</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Open weights</a:t>
            </a:r>
          </a:p>
        </p:txBody>
      </p:sp>
      <p:sp>
        <p:nvSpPr>
          <p:cNvPr id="18" name="">
            <a:extLst xmlns:a="http://schemas.openxmlformats.org/drawingml/2006/main">
              <a:ext uri="{FF2B5EF4-FFF2-40B4-BE49-F238E27FC236}">
                <a16:creationId xmlns:a16="http://schemas.microsoft.com/office/drawing/2014/main" id="{5337B715-915A-4C33-A3E6-6D6683E9B833}"/>
              </a:ext>
            </a:extLst>
          </p:cNvPr>
          <p:cNvSpPr>
            <a:spLocks xmlns:a="http://schemas.openxmlformats.org/drawingml/2006/main" noGrp="1"/>
          </p:cNvSpPr>
          <p:nvPr/>
        </p:nvSpPr>
        <p:spPr>
          <a:xfrm xmlns:a="http://schemas.openxmlformats.org/drawingml/2006/main">
            <a:off x="7334250"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Grok 3.7</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Cyber API</a:t>
            </a:r>
          </a:p>
        </p:txBody>
      </p:sp>
      <p:sp>
        <p:nvSpPr>
          <p:cNvPr id="19" name="">
            <a:extLst xmlns:a="http://schemas.openxmlformats.org/drawingml/2006/main">
              <a:ext uri="{FF2B5EF4-FFF2-40B4-BE49-F238E27FC236}">
                <a16:creationId xmlns:a16="http://schemas.microsoft.com/office/drawing/2014/main" id="{6981C705-E71F-42F6-9683-5E5A8E5591B8}"/>
              </a:ext>
            </a:extLst>
          </p:cNvPr>
          <p:cNvSpPr>
            <a:spLocks xmlns:a="http://schemas.openxmlformats.org/drawingml/2006/main" noGrp="1"/>
          </p:cNvSpPr>
          <p:nvPr/>
        </p:nvSpPr>
        <p:spPr>
          <a:xfrm xmlns:a="http://schemas.openxmlformats.org/drawingml/2006/main">
            <a:off x="9667875"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Backend</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services</a:t>
            </a:r>
          </a:p>
        </p:txBody>
      </p:sp>
      <p:cxnSp>
        <p:nvCxnSpPr>
          <p:cNvPr id="73" name=""/>
          <p:cNvCxnSpPr>
            <a:stCxn xmlns:a="http://schemas.openxmlformats.org/drawingml/2006/main" id="4" idx="2"/>
            <a:endCxn xmlns:a="http://schemas.openxmlformats.org/drawingml/2006/main" id="16" idx="0"/>
          </p:cNvCxnSpPr>
          <p:nvPr/>
        </p:nvCxnSpPr>
        <p:spPr>
          <a:xfrm xmlns:a="http://schemas.openxmlformats.org/drawingml/2006/main">
            <a:off x="3571875" y="3733800"/>
            <a:ext cx="0" cy="981075"/>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74" name=""/>
          <p:cNvCxnSpPr>
            <a:stCxn xmlns:a="http://schemas.openxmlformats.org/drawingml/2006/main" id="16" idx="3"/>
            <a:endCxn xmlns:a="http://schemas.openxmlformats.org/drawingml/2006/main" id="17" idx="1"/>
          </p:cNvCxnSpPr>
          <p:nvPr/>
        </p:nvCxnSpPr>
        <p:spPr>
          <a:xfrm xmlns:a="http://schemas.openxmlformats.org/drawingml/2006/main">
            <a:off x="4476750" y="5105400"/>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75" name=""/>
          <p:cNvCxnSpPr>
            <a:stCxn xmlns:a="http://schemas.openxmlformats.org/drawingml/2006/main" id="7" idx="2"/>
            <a:endCxn xmlns:a="http://schemas.openxmlformats.org/drawingml/2006/main" id="19" idx="0"/>
          </p:cNvCxnSpPr>
          <p:nvPr/>
        </p:nvCxnSpPr>
        <p:spPr>
          <a:xfrm xmlns:a="http://schemas.openxmlformats.org/drawingml/2006/main">
            <a:off x="10572750" y="3733800"/>
            <a:ext cx="0" cy="981075"/>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23" name="">
            <a:extLst xmlns:a="http://schemas.openxmlformats.org/drawingml/2006/main">
              <a:ext uri="{FF2B5EF4-FFF2-40B4-BE49-F238E27FC236}">
                <a16:creationId xmlns:a16="http://schemas.microsoft.com/office/drawing/2014/main" id="{9710B3DC-443E-486B-9AFF-3E13120AD87F}"/>
              </a:ext>
            </a:extLst>
          </p:cNvPr>
          <p:cNvSpPr>
            <a:spLocks xmlns:a="http://schemas.openxmlformats.org/drawingml/2006/main" noGrp="1"/>
          </p:cNvSpPr>
          <p:nvPr/>
        </p:nvSpPr>
        <p:spPr>
          <a:xfrm xmlns:a="http://schemas.openxmlformats.org/drawingml/2006/main">
            <a:off x="3552825" y="5934075"/>
            <a:ext cx="38100" cy="38100"/>
          </a:xfrm>
          <a:prstGeom xmlns:a="http://schemas.openxmlformats.org/drawingml/2006/main" prst="rect">
            <a:avLst/>
          </a:prstGeom>
          <a:noFill xmlns:a="http://schemas.openxmlformats.org/drawingml/2006/main"/>
          <a:ln xmlns:a="http://schemas.openxmlformats.org/drawingml/2006/main" w="0">
            <a:noFill/>
          </a:ln>
        </p:spPr>
      </p:sp>
      <p:cxnSp>
        <p:nvCxnSpPr>
          <p:cNvPr id="77" name=""/>
          <p:cNvCxnSpPr>
            <a:stCxn xmlns:a="http://schemas.openxmlformats.org/drawingml/2006/main" id="16" idx="2"/>
            <a:endCxn xmlns:a="http://schemas.openxmlformats.org/drawingml/2006/main" id="23" idx="0"/>
          </p:cNvCxnSpPr>
          <p:nvPr/>
        </p:nvCxnSpPr>
        <p:spPr>
          <a:xfrm xmlns:a="http://schemas.openxmlformats.org/drawingml/2006/main">
            <a:off x="3571875" y="5495925"/>
            <a:ext cx="0" cy="438150"/>
          </a:xfrm>
          <a:prstGeom xmlns:a="http://schemas.openxmlformats.org/drawingml/2006/main" prst="straightConnector1">
            <a:avLst/>
          </a:prstGeom>
          <a:ln xmlns:a="http://schemas.openxmlformats.org/drawingml/2006/main" w="19050">
            <a:solidFill>
              <a:srgbClr val="BEAAFF"/>
            </a:solidFill>
            <a:tailEnd type="triangle" w="sm" len="sm"/>
          </a:ln>
        </p:spPr>
      </p:cxnSp>
      <p:cxnSp>
        <p:nvCxnSpPr>
          <p:cNvPr id="78" name=""/>
          <p:cNvCxnSpPr>
            <a:stCxn xmlns:a="http://schemas.openxmlformats.org/drawingml/2006/main" id="23" idx="3"/>
            <a:endCxn xmlns:a="http://schemas.openxmlformats.org/drawingml/2006/main" id="18" idx="2"/>
          </p:cNvCxnSpPr>
          <p:nvPr/>
        </p:nvCxnSpPr>
        <p:spPr>
          <a:xfrm xmlns:a="http://schemas.openxmlformats.org/drawingml/2006/main" flipV="1">
            <a:off x="3590925" y="5495925"/>
            <a:ext cx="4648200" cy="457200"/>
          </a:xfrm>
          <a:prstGeom xmlns:a="http://schemas.openxmlformats.org/drawingml/2006/main" prst="bentConnector4">
            <a:avLst>
              <a:gd name="adj1" fmla="val 4918"/>
              <a:gd name="adj2" fmla="val 50000"/>
            </a:avLst>
          </a:prstGeom>
          <a:ln xmlns:a="http://schemas.openxmlformats.org/drawingml/2006/main" w="19050">
            <a:solidFill>
              <a:srgbClr val="BEAAFF"/>
            </a:solidFill>
            <a:tailEnd type="triangle" w="med" len="med"/>
          </a:ln>
        </p:spPr>
      </p:cxnSp>
      <p:sp>
        <p:nvSpPr>
          <p:cNvPr id="26" name="">
            <a:extLst xmlns:a="http://schemas.openxmlformats.org/drawingml/2006/main">
              <a:ext uri="{FF2B5EF4-FFF2-40B4-BE49-F238E27FC236}">
                <a16:creationId xmlns:a16="http://schemas.microsoft.com/office/drawing/2014/main" id="{EAAA2F3A-3989-4ADC-BBAC-4F124219A65E}"/>
              </a:ext>
            </a:extLst>
          </p:cNvPr>
          <p:cNvSpPr>
            <a:spLocks xmlns:a="http://schemas.openxmlformats.org/drawingml/2006/main" noGrp="1"/>
          </p:cNvSpPr>
          <p:nvPr/>
        </p:nvSpPr>
        <p:spPr>
          <a:xfrm xmlns:a="http://schemas.openxmlformats.org/drawingml/2006/main">
            <a:off x="2667000" y="11430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5EE3EE"/>
                </a:solidFill>
                <a:latin typeface="Helvetica Neue"/>
                <a:ea typeface="Helvetica Neue"/>
                <a:cs typeface="Helvetica Neue"/>
              </a:defRPr>
            </a:pPr>
            <a:r>
              <a:rPr sz="1650" b="0">
                <a:solidFill>
                  <a:srgbClr val="5EE3EE"/>
                </a:solidFill>
                <a:latin typeface="Helvetica Neue"/>
                <a:ea typeface="Helvetica Neue"/>
                <a:cs typeface="Helvetica Neue"/>
              </a:rPr>
              <a:t>Lab host services</a:t>
            </a:r>
          </a:p>
        </p:txBody>
      </p:sp>
      <p:sp>
        <p:nvSpPr>
          <p:cNvPr id="27" name="">
            <a:extLst xmlns:a="http://schemas.openxmlformats.org/drawingml/2006/main">
              <a:ext uri="{FF2B5EF4-FFF2-40B4-BE49-F238E27FC236}">
                <a16:creationId xmlns:a16="http://schemas.microsoft.com/office/drawing/2014/main" id="{5AA08B98-7C80-4695-A3A4-27696C810820}"/>
              </a:ext>
            </a:extLst>
          </p:cNvPr>
          <p:cNvSpPr>
            <a:spLocks xmlns:a="http://schemas.openxmlformats.org/drawingml/2006/main" noGrp="1"/>
          </p:cNvSpPr>
          <p:nvPr/>
        </p:nvSpPr>
        <p:spPr>
          <a:xfrm xmlns:a="http://schemas.openxmlformats.org/drawingml/2006/main">
            <a:off x="7334250" y="24765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FFD080"/>
                </a:solidFill>
                <a:latin typeface="Helvetica Neue"/>
                <a:ea typeface="Helvetica Neue"/>
                <a:cs typeface="Helvetica Neue"/>
              </a:defRPr>
            </a:pPr>
            <a:r>
              <a:rPr sz="1650" b="0">
                <a:solidFill>
                  <a:srgbClr val="FFD080"/>
                </a:solidFill>
                <a:latin typeface="Helvetica Neue"/>
                <a:ea typeface="Helvetica Neue"/>
                <a:cs typeface="Helvetica Neue"/>
              </a:rPr>
              <a:t>External target</a:t>
            </a:r>
          </a:p>
        </p:txBody>
      </p:sp>
      <p:sp>
        <p:nvSpPr>
          <p:cNvPr id="28" name="">
            <a:extLst xmlns:a="http://schemas.openxmlformats.org/drawingml/2006/main">
              <a:ext uri="{FF2B5EF4-FFF2-40B4-BE49-F238E27FC236}">
                <a16:creationId xmlns:a16="http://schemas.microsoft.com/office/drawing/2014/main" id="{0E588B4F-1F4E-4119-B4B1-ED821A2A3782}"/>
              </a:ext>
            </a:extLst>
          </p:cNvPr>
          <p:cNvSpPr>
            <a:spLocks xmlns:a="http://schemas.openxmlformats.org/drawingml/2006/main" noGrp="1"/>
          </p:cNvSpPr>
          <p:nvPr/>
        </p:nvSpPr>
        <p:spPr>
          <a:xfrm xmlns:a="http://schemas.openxmlformats.org/drawingml/2006/main">
            <a:off x="4572000" y="590550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BEAAFF"/>
                </a:solidFill>
                <a:latin typeface="Helvetica Neue"/>
                <a:ea typeface="Helvetica Neue"/>
                <a:cs typeface="Helvetica Neue"/>
              </a:defRPr>
            </a:pPr>
            <a:r>
              <a:rPr sz="1725" b="0">
                <a:solidFill>
                  <a:srgbClr val="BEAAFF"/>
                </a:solidFill>
                <a:latin typeface="Helvetica Neue"/>
                <a:ea typeface="Helvetica Neue"/>
                <a:cs typeface="Helvetica Neue"/>
              </a:rPr>
              <a:t>Approved external model calls</a:t>
            </a:r>
          </a:p>
        </p:txBody>
      </p:sp>
    </p:spTree>
    <p:extLst>
      <p:ext uri="{BB962C8B-B14F-4D97-AF65-F5344CB8AC3E}">
        <p14:creationId xmlns:p14="http://schemas.microsoft.com/office/powerpoint/2010/main" val="1968838963"/>
      </p:ext>
    </p:extLst>
  </p:cSld>
</p:sld>
</file>

<file path=ppt/slides/slide4.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B20BAE-D240-4875-B265-A8F37CB4289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Campaign workflow</a:t>
            </a:r>
          </a:p>
        </p:txBody>
      </p:sp>
      <p:sp>
        <p:nvSpPr>
          <p:cNvPr id="2" name="">
            <a:extLst xmlns:a="http://schemas.openxmlformats.org/drawingml/2006/main">
              <a:ext uri="{FF2B5EF4-FFF2-40B4-BE49-F238E27FC236}">
                <a16:creationId xmlns:a16="http://schemas.microsoft.com/office/drawing/2014/main" id="{2C457C17-8075-45DB-999A-FBCE6177C276}"/>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618CBE2-CBBF-4C7D-BB95-B5607E086A1D}"/>
              </a:ext>
            </a:extLst>
          </p:cNvPr>
          <p:cNvSpPr>
            <a:spLocks xmlns:a="http://schemas.openxmlformats.org/drawingml/2006/main" noGrp="1"/>
          </p:cNvSpPr>
          <p:nvPr/>
        </p:nvSpPr>
        <p:spPr>
          <a:xfrm xmlns:a="http://schemas.openxmlformats.org/drawingml/2006/main">
            <a:off x="5715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Prepare</a:t>
            </a:r>
          </a:p>
        </p:txBody>
      </p:sp>
      <p:sp>
        <p:nvSpPr>
          <p:cNvPr id="4" name="">
            <a:extLst xmlns:a="http://schemas.openxmlformats.org/drawingml/2006/main">
              <a:ext uri="{FF2B5EF4-FFF2-40B4-BE49-F238E27FC236}">
                <a16:creationId xmlns:a16="http://schemas.microsoft.com/office/drawing/2014/main" id="{C6BB04BB-FFF4-476C-A5A9-7D1C5463B30A}"/>
              </a:ext>
            </a:extLst>
          </p:cNvPr>
          <p:cNvSpPr>
            <a:spLocks xmlns:a="http://schemas.openxmlformats.org/drawingml/2006/main" noGrp="1"/>
          </p:cNvSpPr>
          <p:nvPr/>
        </p:nvSpPr>
        <p:spPr>
          <a:xfrm xmlns:a="http://schemas.openxmlformats.org/drawingml/2006/main">
            <a:off x="5715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Target and scope</a:t>
            </a:r>
          </a:p>
        </p:txBody>
      </p:sp>
      <p:sp>
        <p:nvSpPr>
          <p:cNvPr id="5" name="">
            <a:extLst xmlns:a="http://schemas.openxmlformats.org/drawingml/2006/main">
              <a:ext uri="{FF2B5EF4-FFF2-40B4-BE49-F238E27FC236}">
                <a16:creationId xmlns:a16="http://schemas.microsoft.com/office/drawing/2014/main" id="{9D2D2072-183D-4D8C-AF5B-562467ED42F7}"/>
              </a:ext>
            </a:extLst>
          </p:cNvPr>
          <p:cNvSpPr>
            <a:spLocks xmlns:a="http://schemas.openxmlformats.org/drawingml/2006/main" noGrp="1"/>
          </p:cNvSpPr>
          <p:nvPr/>
        </p:nvSpPr>
        <p:spPr>
          <a:xfrm xmlns:a="http://schemas.openxmlformats.org/drawingml/2006/main">
            <a:off x="28765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Check</a:t>
            </a:r>
          </a:p>
        </p:txBody>
      </p:sp>
      <p:cxnSp>
        <p:nvCxnSpPr>
          <p:cNvPr id="39" name=""/>
          <p:cNvCxnSpPr>
            <a:stCxn xmlns:a="http://schemas.openxmlformats.org/drawingml/2006/main" id="3" idx="3"/>
            <a:endCxn xmlns:a="http://schemas.openxmlformats.org/drawingml/2006/main" id="5" idx="1"/>
          </p:cNvCxnSpPr>
          <p:nvPr/>
        </p:nvCxnSpPr>
        <p:spPr>
          <a:xfrm xmlns:a="http://schemas.openxmlformats.org/drawingml/2006/main">
            <a:off x="23812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7" name="">
            <a:extLst xmlns:a="http://schemas.openxmlformats.org/drawingml/2006/main">
              <a:ext uri="{FF2B5EF4-FFF2-40B4-BE49-F238E27FC236}">
                <a16:creationId xmlns:a16="http://schemas.microsoft.com/office/drawing/2014/main" id="{C1E4349C-DE28-4438-84D0-B0B008805118}"/>
              </a:ext>
            </a:extLst>
          </p:cNvPr>
          <p:cNvSpPr>
            <a:spLocks xmlns:a="http://schemas.openxmlformats.org/drawingml/2006/main" noGrp="1"/>
          </p:cNvSpPr>
          <p:nvPr/>
        </p:nvSpPr>
        <p:spPr>
          <a:xfrm xmlns:a="http://schemas.openxmlformats.org/drawingml/2006/main">
            <a:off x="28765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Adapters and baseline</a:t>
            </a:r>
          </a:p>
        </p:txBody>
      </p:sp>
      <p:sp>
        <p:nvSpPr>
          <p:cNvPr id="8" name="">
            <a:extLst xmlns:a="http://schemas.openxmlformats.org/drawingml/2006/main">
              <a:ext uri="{FF2B5EF4-FFF2-40B4-BE49-F238E27FC236}">
                <a16:creationId xmlns:a16="http://schemas.microsoft.com/office/drawing/2014/main" id="{EE154BC0-5222-4C23-93D9-CAE6FA8436E3}"/>
              </a:ext>
            </a:extLst>
          </p:cNvPr>
          <p:cNvSpPr>
            <a:spLocks xmlns:a="http://schemas.openxmlformats.org/drawingml/2006/main" noGrp="1"/>
          </p:cNvSpPr>
          <p:nvPr/>
        </p:nvSpPr>
        <p:spPr>
          <a:xfrm xmlns:a="http://schemas.openxmlformats.org/drawingml/2006/main">
            <a:off x="51816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a:t>
            </a:r>
          </a:p>
        </p:txBody>
      </p:sp>
      <p:cxnSp>
        <p:nvCxnSpPr>
          <p:cNvPr id="42" name=""/>
          <p:cNvCxnSpPr>
            <a:stCxn xmlns:a="http://schemas.openxmlformats.org/drawingml/2006/main" id="5" idx="3"/>
            <a:endCxn xmlns:a="http://schemas.openxmlformats.org/drawingml/2006/main" id="8" idx="1"/>
          </p:cNvCxnSpPr>
          <p:nvPr/>
        </p:nvCxnSpPr>
        <p:spPr>
          <a:xfrm xmlns:a="http://schemas.openxmlformats.org/drawingml/2006/main">
            <a:off x="46863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0" name="">
            <a:extLst xmlns:a="http://schemas.openxmlformats.org/drawingml/2006/main">
              <a:ext uri="{FF2B5EF4-FFF2-40B4-BE49-F238E27FC236}">
                <a16:creationId xmlns:a16="http://schemas.microsoft.com/office/drawing/2014/main" id="{825EFBA9-9FCC-4971-9DAE-4B4C89DC4A4C}"/>
              </a:ext>
            </a:extLst>
          </p:cNvPr>
          <p:cNvSpPr>
            <a:spLocks xmlns:a="http://schemas.openxmlformats.org/drawingml/2006/main" noGrp="1"/>
          </p:cNvSpPr>
          <p:nvPr/>
        </p:nvSpPr>
        <p:spPr>
          <a:xfrm xmlns:a="http://schemas.openxmlformats.org/drawingml/2006/main">
            <a:off x="51816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Shared limits</a:t>
            </a:r>
          </a:p>
        </p:txBody>
      </p:sp>
      <p:sp>
        <p:nvSpPr>
          <p:cNvPr id="11" name="">
            <a:extLst xmlns:a="http://schemas.openxmlformats.org/drawingml/2006/main">
              <a:ext uri="{FF2B5EF4-FFF2-40B4-BE49-F238E27FC236}">
                <a16:creationId xmlns:a16="http://schemas.microsoft.com/office/drawing/2014/main" id="{748FD49C-AC9C-4C3B-84DE-CA65D23C7DAF}"/>
              </a:ext>
            </a:extLst>
          </p:cNvPr>
          <p:cNvSpPr>
            <a:spLocks xmlns:a="http://schemas.openxmlformats.org/drawingml/2006/main" noGrp="1"/>
          </p:cNvSpPr>
          <p:nvPr/>
        </p:nvSpPr>
        <p:spPr>
          <a:xfrm xmlns:a="http://schemas.openxmlformats.org/drawingml/2006/main">
            <a:off x="74866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Stop</a:t>
            </a:r>
          </a:p>
        </p:txBody>
      </p:sp>
      <p:cxnSp>
        <p:nvCxnSpPr>
          <p:cNvPr id="45" name=""/>
          <p:cNvCxnSpPr>
            <a:stCxn xmlns:a="http://schemas.openxmlformats.org/drawingml/2006/main" id="8" idx="3"/>
            <a:endCxn xmlns:a="http://schemas.openxmlformats.org/drawingml/2006/main" id="11" idx="1"/>
          </p:cNvCxnSpPr>
          <p:nvPr/>
        </p:nvCxnSpPr>
        <p:spPr>
          <a:xfrm xmlns:a="http://schemas.openxmlformats.org/drawingml/2006/main">
            <a:off x="69913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3" name="">
            <a:extLst xmlns:a="http://schemas.openxmlformats.org/drawingml/2006/main">
              <a:ext uri="{FF2B5EF4-FFF2-40B4-BE49-F238E27FC236}">
                <a16:creationId xmlns:a16="http://schemas.microsoft.com/office/drawing/2014/main" id="{21F89417-02F5-4FEB-A103-1C56A77BE2AC}"/>
              </a:ext>
            </a:extLst>
          </p:cNvPr>
          <p:cNvSpPr>
            <a:spLocks xmlns:a="http://schemas.openxmlformats.org/drawingml/2006/main" noGrp="1"/>
          </p:cNvSpPr>
          <p:nvPr/>
        </p:nvSpPr>
        <p:spPr>
          <a:xfrm xmlns:a="http://schemas.openxmlformats.org/drawingml/2006/main">
            <a:off x="74866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Partial evidence</a:t>
            </a:r>
          </a:p>
        </p:txBody>
      </p:sp>
      <p:sp>
        <p:nvSpPr>
          <p:cNvPr id="14" name="">
            <a:extLst xmlns:a="http://schemas.openxmlformats.org/drawingml/2006/main">
              <a:ext uri="{FF2B5EF4-FFF2-40B4-BE49-F238E27FC236}">
                <a16:creationId xmlns:a16="http://schemas.microsoft.com/office/drawing/2014/main" id="{CDC5E8D1-5B99-4936-94A2-DE1E0D336479}"/>
              </a:ext>
            </a:extLst>
          </p:cNvPr>
          <p:cNvSpPr>
            <a:spLocks xmlns:a="http://schemas.openxmlformats.org/drawingml/2006/main" noGrp="1"/>
          </p:cNvSpPr>
          <p:nvPr/>
        </p:nvSpPr>
        <p:spPr>
          <a:xfrm xmlns:a="http://schemas.openxmlformats.org/drawingml/2006/main">
            <a:off x="97917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Review</a:t>
            </a:r>
          </a:p>
        </p:txBody>
      </p: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92964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6" name="">
            <a:extLst xmlns:a="http://schemas.openxmlformats.org/drawingml/2006/main">
              <a:ext uri="{FF2B5EF4-FFF2-40B4-BE49-F238E27FC236}">
                <a16:creationId xmlns:a16="http://schemas.microsoft.com/office/drawing/2014/main" id="{D429119B-806A-480A-8078-29086E098B76}"/>
              </a:ext>
            </a:extLst>
          </p:cNvPr>
          <p:cNvSpPr>
            <a:spLocks xmlns:a="http://schemas.openxmlformats.org/drawingml/2006/main" noGrp="1"/>
          </p:cNvSpPr>
          <p:nvPr/>
        </p:nvSpPr>
        <p:spPr>
          <a:xfrm xmlns:a="http://schemas.openxmlformats.org/drawingml/2006/main">
            <a:off x="97917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Findings and report</a:t>
            </a:r>
          </a:p>
        </p:txBody>
      </p:sp>
      <p:sp>
        <p:nvSpPr>
          <p:cNvPr id="17" name="">
            <a:extLst xmlns:a="http://schemas.openxmlformats.org/drawingml/2006/main">
              <a:ext uri="{FF2B5EF4-FFF2-40B4-BE49-F238E27FC236}">
                <a16:creationId xmlns:a16="http://schemas.microsoft.com/office/drawing/2014/main" id="{60702DE2-0A76-4409-8F77-5476B42B1311}"/>
              </a:ext>
            </a:extLst>
          </p:cNvPr>
          <p:cNvSpPr>
            <a:spLocks xmlns:a="http://schemas.openxmlformats.org/drawingml/2006/main" noGrp="1"/>
          </p:cNvSpPr>
          <p:nvPr/>
        </p:nvSpPr>
        <p:spPr>
          <a:xfrm xmlns:a="http://schemas.openxmlformats.org/drawingml/2006/main">
            <a:off x="571500" y="4857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0">
                <a:solidFill>
                  <a:srgbClr val="F3F6FA"/>
                </a:solidFill>
                <a:latin typeface="Helvetica Neue"/>
                <a:ea typeface="Helvetica Neue"/>
                <a:cs typeface="Helvetica Neue"/>
              </a:defRPr>
            </a:pPr>
            <a:r>
              <a:rPr sz="2550" b="0">
                <a:solidFill>
                  <a:srgbClr val="F3F6FA"/>
                </a:solidFill>
                <a:latin typeface="Helvetica Neue"/>
                <a:ea typeface="Helvetica Neue"/>
                <a:cs typeface="Helvetica Neue"/>
              </a:rPr>
              <a:t>The dashboard and CLI use the same run ID and controls.</a:t>
            </a:r>
          </a:p>
        </p:txBody>
      </p:sp>
      <p:sp>
        <p:nvSpPr>
          <p:cNvPr id="18" name="">
            <a:extLst xmlns:a="http://schemas.openxmlformats.org/drawingml/2006/main">
              <a:ext uri="{FF2B5EF4-FFF2-40B4-BE49-F238E27FC236}">
                <a16:creationId xmlns:a16="http://schemas.microsoft.com/office/drawing/2014/main" id="{A63698A0-3BDD-4878-9592-C09684C61EEF}"/>
              </a:ext>
            </a:extLst>
          </p:cNvPr>
          <p:cNvSpPr>
            <a:spLocks xmlns:a="http://schemas.openxmlformats.org/drawingml/2006/main" noGrp="1"/>
          </p:cNvSpPr>
          <p:nvPr/>
        </p:nvSpPr>
        <p:spPr>
          <a:xfrm xmlns:a="http://schemas.openxmlformats.org/drawingml/2006/main">
            <a:off x="571500" y="56578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FFD080"/>
                </a:solidFill>
                <a:latin typeface="Helvetica Neue"/>
                <a:ea typeface="Helvetica Neue"/>
                <a:cs typeface="Helvetica Neue"/>
              </a:defRPr>
            </a:pPr>
            <a:r>
              <a:rPr sz="2025" b="0">
                <a:solidFill>
                  <a:srgbClr val="FFD080"/>
                </a:solidFill>
                <a:latin typeface="Helvetica Neue"/>
                <a:ea typeface="Helvetica Neue"/>
                <a:cs typeface="Helvetica Neue"/>
              </a:rPr>
              <a:t>A stop prevents new steps. It cannot undo requests that the runner already sent.</a:t>
            </a:r>
          </a:p>
        </p:txBody>
      </p:sp>
    </p:spTree>
    <p:extLst>
      <p:ext uri="{BB962C8B-B14F-4D97-AF65-F5344CB8AC3E}">
        <p14:creationId xmlns:p14="http://schemas.microsoft.com/office/powerpoint/2010/main" val="814397074"/>
      </p:ext>
    </p:extLst>
  </p:cSld>
</p:sld>
</file>

<file path=ppt/slides/slide5.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935811-6367-4064-B4C6-79CEF54D8149}"/>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Local and external model access</a:t>
            </a:r>
          </a:p>
        </p:txBody>
      </p:sp>
      <p:sp>
        <p:nvSpPr>
          <p:cNvPr id="2" name="">
            <a:extLst xmlns:a="http://schemas.openxmlformats.org/drawingml/2006/main">
              <a:ext uri="{FF2B5EF4-FFF2-40B4-BE49-F238E27FC236}">
                <a16:creationId xmlns:a16="http://schemas.microsoft.com/office/drawing/2014/main" id="{B222CDE7-4162-4C85-A6DA-CFF997AC4B54}"/>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0728A92B-6699-4BB1-AFDE-BB5B58133934}"/>
              </a:ext>
            </a:extLst>
          </p:cNvPr>
          <p:cNvSpPr>
            <a:spLocks xmlns:a="http://schemas.openxmlformats.org/drawingml/2006/main" noGrp="1"/>
          </p:cNvSpPr>
          <p:nvPr/>
        </p:nvSpPr>
        <p:spPr>
          <a:xfrm xmlns:a="http://schemas.openxmlformats.org/drawingml/2006/main">
            <a:off x="571500" y="266700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4" name="">
            <a:extLst xmlns:a="http://schemas.openxmlformats.org/drawingml/2006/main">
              <a:ext uri="{FF2B5EF4-FFF2-40B4-BE49-F238E27FC236}">
                <a16:creationId xmlns:a16="http://schemas.microsoft.com/office/drawing/2014/main" id="{85B89E59-8237-40A9-BBEA-28D610D84175}"/>
              </a:ext>
            </a:extLst>
          </p:cNvPr>
          <p:cNvSpPr>
            <a:spLocks xmlns:a="http://schemas.openxmlformats.org/drawingml/2006/main" noGrp="1"/>
          </p:cNvSpPr>
          <p:nvPr/>
        </p:nvSpPr>
        <p:spPr>
          <a:xfrm xmlns:a="http://schemas.openxmlformats.org/drawingml/2006/main">
            <a:off x="3810000" y="2667000"/>
            <a:ext cx="2571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Model access</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Policy and adapters</a:t>
            </a:r>
          </a:p>
        </p:txBody>
      </p:sp>
      <p:sp>
        <p:nvSpPr>
          <p:cNvPr id="5" name="">
            <a:extLst xmlns:a="http://schemas.openxmlformats.org/drawingml/2006/main">
              <a:ext uri="{FF2B5EF4-FFF2-40B4-BE49-F238E27FC236}">
                <a16:creationId xmlns:a16="http://schemas.microsoft.com/office/drawing/2014/main" id="{7021BC0F-2DA4-4C10-AD14-D69479C935B5}"/>
              </a:ext>
            </a:extLst>
          </p:cNvPr>
          <p:cNvSpPr>
            <a:spLocks xmlns:a="http://schemas.openxmlformats.org/drawingml/2006/main" noGrp="1"/>
          </p:cNvSpPr>
          <p:nvPr/>
        </p:nvSpPr>
        <p:spPr>
          <a:xfrm xmlns:a="http://schemas.openxmlformats.org/drawingml/2006/main">
            <a:off x="7905750" y="1619250"/>
            <a:ext cx="3429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Local model with open weights</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Inference service</a:t>
            </a:r>
          </a:p>
        </p:txBody>
      </p:sp>
      <p:sp>
        <p:nvSpPr>
          <p:cNvPr id="6" name="">
            <a:extLst xmlns:a="http://schemas.openxmlformats.org/drawingml/2006/main">
              <a:ext uri="{FF2B5EF4-FFF2-40B4-BE49-F238E27FC236}">
                <a16:creationId xmlns:a16="http://schemas.microsoft.com/office/drawing/2014/main" id="{4B9C0B36-9F86-4E21-BC68-77BAF186B8C6}"/>
              </a:ext>
            </a:extLst>
          </p:cNvPr>
          <p:cNvSpPr>
            <a:spLocks xmlns:a="http://schemas.openxmlformats.org/drawingml/2006/main" noGrp="1"/>
          </p:cNvSpPr>
          <p:nvPr/>
        </p:nvSpPr>
        <p:spPr>
          <a:xfrm xmlns:a="http://schemas.openxmlformats.org/drawingml/2006/main">
            <a:off x="7905750" y="4000500"/>
            <a:ext cx="3429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Grok 3.7 Cyber</a:t>
            </a:r>
          </a:p>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External API</a:t>
            </a:r>
          </a:p>
        </p:txBody>
      </p:sp>
      <p:cxnSp>
        <p:nvCxnSpPr>
          <p:cNvPr id="28" name=""/>
          <p:cNvCxnSpPr>
            <a:stCxn xmlns:a="http://schemas.openxmlformats.org/drawingml/2006/main" id="3" idx="3"/>
            <a:endCxn xmlns:a="http://schemas.openxmlformats.org/drawingml/2006/main" id="4" idx="1"/>
          </p:cNvCxnSpPr>
          <p:nvPr/>
        </p:nvCxnSpPr>
        <p:spPr>
          <a:xfrm xmlns:a="http://schemas.openxmlformats.org/drawingml/2006/main">
            <a:off x="2762250" y="3143250"/>
            <a:ext cx="1047750"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flipV="1">
            <a:off x="6381750" y="2095500"/>
            <a:ext cx="1524000" cy="1047750"/>
          </a:xfrm>
          <a:prstGeom xmlns:a="http://schemas.openxmlformats.org/drawingml/2006/main" prst="bentConnector3">
            <a:avLst>
              <a:gd name="adj1" fmla="val 50000"/>
            </a:avLst>
          </a:prstGeom>
          <a:ln xmlns:a="http://schemas.openxmlformats.org/drawingml/2006/main" w="19050">
            <a:solidFill>
              <a:srgbClr val="85E7B5"/>
            </a:solidFill>
            <a:tailEnd type="triangle" w="med" len="med"/>
          </a:ln>
        </p:spPr>
      </p:cxnSp>
      <p:cxnSp>
        <p:nvCxnSpPr>
          <p:cNvPr id="30" name=""/>
          <p:cNvCxnSpPr>
            <a:stCxn xmlns:a="http://schemas.openxmlformats.org/drawingml/2006/main" id="4" idx="3"/>
            <a:endCxn xmlns:a="http://schemas.openxmlformats.org/drawingml/2006/main" id="6" idx="1"/>
          </p:cNvCxnSpPr>
          <p:nvPr/>
        </p:nvCxnSpPr>
        <p:spPr>
          <a:xfrm xmlns:a="http://schemas.openxmlformats.org/drawingml/2006/main">
            <a:off x="6381750" y="3143250"/>
            <a:ext cx="1524000" cy="1333500"/>
          </a:xfrm>
          <a:prstGeom xmlns:a="http://schemas.openxmlformats.org/drawingml/2006/main" prst="bentConnector3">
            <a:avLst>
              <a:gd name="adj1" fmla="val 50000"/>
            </a:avLst>
          </a:prstGeom>
          <a:ln xmlns:a="http://schemas.openxmlformats.org/drawingml/2006/main" w="19050">
            <a:solidFill>
              <a:srgbClr val="BEAAFF"/>
            </a:solidFill>
            <a:tailEnd type="triangle" w="med" len="med"/>
          </a:ln>
        </p:spPr>
      </p:cxnSp>
      <p:sp>
        <p:nvSpPr>
          <p:cNvPr id="10" name="">
            <a:extLst xmlns:a="http://schemas.openxmlformats.org/drawingml/2006/main">
              <a:ext uri="{FF2B5EF4-FFF2-40B4-BE49-F238E27FC236}">
                <a16:creationId xmlns:a16="http://schemas.microsoft.com/office/drawing/2014/main" id="{FF95229B-329C-495F-ADBE-B0439677DA78}"/>
              </a:ext>
            </a:extLst>
          </p:cNvPr>
          <p:cNvSpPr>
            <a:spLocks xmlns:a="http://schemas.openxmlformats.org/drawingml/2006/main" noGrp="1"/>
          </p:cNvSpPr>
          <p:nvPr/>
        </p:nvSpPr>
        <p:spPr>
          <a:xfrm xmlns:a="http://schemas.openxmlformats.org/drawingml/2006/main">
            <a:off x="7905750" y="271462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85E7B5"/>
                </a:solidFill>
                <a:latin typeface="Helvetica Neue"/>
                <a:ea typeface="Helvetica Neue"/>
                <a:cs typeface="Helvetica Neue"/>
              </a:defRPr>
            </a:pPr>
            <a:r>
              <a:rPr sz="1950" b="0">
                <a:solidFill>
                  <a:srgbClr val="85E7B5"/>
                </a:solidFill>
                <a:latin typeface="Helvetica Neue"/>
                <a:ea typeface="Helvetica Neue"/>
                <a:cs typeface="Helvetica Neue"/>
              </a:rPr>
              <a:t>Local mode prevents calls to cloud models.</a:t>
            </a:r>
          </a:p>
        </p:txBody>
      </p:sp>
      <p:sp>
        <p:nvSpPr>
          <p:cNvPr id="11" name="">
            <a:extLst xmlns:a="http://schemas.openxmlformats.org/drawingml/2006/main">
              <a:ext uri="{FF2B5EF4-FFF2-40B4-BE49-F238E27FC236}">
                <a16:creationId xmlns:a16="http://schemas.microsoft.com/office/drawing/2014/main" id="{152B10EB-8324-4BBE-A08F-D144D03BE2A3}"/>
              </a:ext>
            </a:extLst>
          </p:cNvPr>
          <p:cNvSpPr>
            <a:spLocks xmlns:a="http://schemas.openxmlformats.org/drawingml/2006/main" noGrp="1"/>
          </p:cNvSpPr>
          <p:nvPr/>
        </p:nvSpPr>
        <p:spPr>
          <a:xfrm xmlns:a="http://schemas.openxmlformats.org/drawingml/2006/main">
            <a:off x="7905750" y="50958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BEAAFF"/>
                </a:solidFill>
                <a:latin typeface="Helvetica Neue"/>
                <a:ea typeface="Helvetica Neue"/>
                <a:cs typeface="Helvetica Neue"/>
              </a:defRPr>
            </a:pPr>
            <a:r>
              <a:rPr sz="1950" b="0">
                <a:solidFill>
                  <a:srgbClr val="BEAAFF"/>
                </a:solidFill>
                <a:latin typeface="Helvetica Neue"/>
                <a:ea typeface="Helvetica Neue"/>
                <a:cs typeface="Helvetica Neue"/>
              </a:rPr>
              <a:t>External mode sends only approved excerpts.</a:t>
            </a:r>
          </a:p>
        </p:txBody>
      </p:sp>
      <p:sp>
        <p:nvSpPr>
          <p:cNvPr id="12" name="">
            <a:extLst xmlns:a="http://schemas.openxmlformats.org/drawingml/2006/main">
              <a:ext uri="{FF2B5EF4-FFF2-40B4-BE49-F238E27FC236}">
                <a16:creationId xmlns:a16="http://schemas.microsoft.com/office/drawing/2014/main" id="{6BA0FA0E-E479-4EDA-B079-B62F6E0ECC67}"/>
              </a:ext>
            </a:extLst>
          </p:cNvPr>
          <p:cNvSpPr>
            <a:spLocks xmlns:a="http://schemas.openxmlformats.org/drawingml/2006/main" noGrp="1"/>
          </p:cNvSpPr>
          <p:nvPr/>
        </p:nvSpPr>
        <p:spPr>
          <a:xfrm xmlns:a="http://schemas.openxmlformats.org/drawingml/2006/main">
            <a:off x="571500" y="5857875"/>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Provider keys stay on the host. A relay limits tool requests to models.</a:t>
            </a:r>
          </a:p>
        </p:txBody>
      </p:sp>
    </p:spTree>
    <p:extLst>
      <p:ext uri="{BB962C8B-B14F-4D97-AF65-F5344CB8AC3E}">
        <p14:creationId xmlns:p14="http://schemas.microsoft.com/office/powerpoint/2010/main" val="344638114"/>
      </p:ext>
    </p:extLst>
  </p:cSld>
</p:sld>
</file>

<file path=ppt/slides/slide6.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D31195-7C2B-488E-B77C-731FFE2F5D0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Tool coverage</a:t>
            </a:r>
          </a:p>
        </p:txBody>
      </p:sp>
      <p:sp>
        <p:nvSpPr>
          <p:cNvPr id="2" name="">
            <a:extLst xmlns:a="http://schemas.openxmlformats.org/drawingml/2006/main">
              <a:ext uri="{FF2B5EF4-FFF2-40B4-BE49-F238E27FC236}">
                <a16:creationId xmlns:a16="http://schemas.microsoft.com/office/drawing/2014/main" id="{119300F5-F65B-46B4-BBF8-706B18429D52}"/>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F508C4C8-20A2-484A-9F6A-856A791BE9F4}"/>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Application assessment</a:t>
            </a:r>
          </a:p>
        </p:txBody>
      </p:sp>
      <p:sp>
        <p:nvSpPr>
          <p:cNvPr id="4" name="">
            <a:extLst xmlns:a="http://schemas.openxmlformats.org/drawingml/2006/main">
              <a:ext uri="{FF2B5EF4-FFF2-40B4-BE49-F238E27FC236}">
                <a16:creationId xmlns:a16="http://schemas.microsoft.com/office/drawing/2014/main" id="{CFC67211-6073-4C07-8071-6EE492B31C05}"/>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Strix, Shannon, Pentest-AI, Numasec, and CyberStrike</a:t>
            </a:r>
          </a:p>
        </p:txBody>
      </p:sp>
      <p:sp>
        <p:nvSpPr>
          <p:cNvPr id="5" name="">
            <a:extLst xmlns:a="http://schemas.openxmlformats.org/drawingml/2006/main">
              <a:ext uri="{FF2B5EF4-FFF2-40B4-BE49-F238E27FC236}">
                <a16:creationId xmlns:a16="http://schemas.microsoft.com/office/drawing/2014/main" id="{A69A4818-A3F5-45DF-9A79-562C74AEF309}"/>
              </a:ext>
            </a:extLst>
          </p:cNvPr>
          <p:cNvSpPr>
            <a:spLocks xmlns:a="http://schemas.openxmlformats.org/drawingml/2006/main" noGrp="1"/>
          </p:cNvSpPr>
          <p:nvPr/>
        </p:nvSpPr>
        <p:spPr>
          <a:xfrm xmlns:a="http://schemas.openxmlformats.org/drawingml/2006/main">
            <a:off x="571500" y="24003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WAF and origin checks</a:t>
            </a:r>
          </a:p>
        </p:txBody>
      </p:sp>
      <p:sp>
        <p:nvSpPr>
          <p:cNvPr id="6" name="">
            <a:extLst xmlns:a="http://schemas.openxmlformats.org/drawingml/2006/main">
              <a:ext uri="{FF2B5EF4-FFF2-40B4-BE49-F238E27FC236}">
                <a16:creationId xmlns:a16="http://schemas.microsoft.com/office/drawing/2014/main" id="{14F09345-0602-43F4-AAB7-7186DCA6A9A9}"/>
              </a:ext>
            </a:extLst>
          </p:cNvPr>
          <p:cNvSpPr>
            <a:spLocks xmlns:a="http://schemas.openxmlformats.org/drawingml/2006/main" noGrp="1"/>
          </p:cNvSpPr>
          <p:nvPr/>
        </p:nvSpPr>
        <p:spPr>
          <a:xfrm xmlns:a="http://schemas.openxmlformats.org/drawingml/2006/main">
            <a:off x="4000500" y="24003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WhatWaf, wafw00f, and DNS-history</a:t>
            </a:r>
          </a:p>
        </p:txBody>
      </p:sp>
      <p:sp>
        <p:nvSpPr>
          <p:cNvPr id="7" name="">
            <a:extLst xmlns:a="http://schemas.openxmlformats.org/drawingml/2006/main">
              <a:ext uri="{FF2B5EF4-FFF2-40B4-BE49-F238E27FC236}">
                <a16:creationId xmlns:a16="http://schemas.microsoft.com/office/drawing/2014/main" id="{F016E831-8D05-472A-B1BD-F5B99013A149}"/>
              </a:ext>
            </a:extLst>
          </p:cNvPr>
          <p:cNvSpPr>
            <a:spLocks xmlns:a="http://schemas.openxmlformats.org/drawingml/2006/main" noGrp="1"/>
          </p:cNvSpPr>
          <p:nvPr/>
        </p:nvSpPr>
        <p:spPr>
          <a:xfrm xmlns:a="http://schemas.openxmlformats.org/drawingml/2006/main">
            <a:off x="571500" y="3371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Source and AI tests</a:t>
            </a:r>
          </a:p>
        </p:txBody>
      </p:sp>
      <p:sp>
        <p:nvSpPr>
          <p:cNvPr id="8" name="">
            <a:extLst xmlns:a="http://schemas.openxmlformats.org/drawingml/2006/main">
              <a:ext uri="{FF2B5EF4-FFF2-40B4-BE49-F238E27FC236}">
                <a16:creationId xmlns:a16="http://schemas.microsoft.com/office/drawing/2014/main" id="{8A78935B-C9C9-452A-AD78-75F3403D2F59}"/>
              </a:ext>
            </a:extLst>
          </p:cNvPr>
          <p:cNvSpPr>
            <a:spLocks xmlns:a="http://schemas.openxmlformats.org/drawingml/2006/main" noGrp="1"/>
          </p:cNvSpPr>
          <p:nvPr/>
        </p:nvSpPr>
        <p:spPr>
          <a:xfrm xmlns:a="http://schemas.openxmlformats.org/drawingml/2006/main">
            <a:off x="4000500" y="3371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Raptor needs source code. PyRIT and its course support tests of AI targets.</a:t>
            </a:r>
          </a:p>
        </p:txBody>
      </p:sp>
      <p:sp>
        <p:nvSpPr>
          <p:cNvPr id="9" name="">
            <a:extLst xmlns:a="http://schemas.openxmlformats.org/drawingml/2006/main">
              <a:ext uri="{FF2B5EF4-FFF2-40B4-BE49-F238E27FC236}">
                <a16:creationId xmlns:a16="http://schemas.microsoft.com/office/drawing/2014/main" id="{BD2F2A40-1616-4AF3-AC9D-24BD36EFE155}"/>
              </a:ext>
            </a:extLst>
          </p:cNvPr>
          <p:cNvSpPr>
            <a:spLocks xmlns:a="http://schemas.openxmlformats.org/drawingml/2006/main" noGrp="1"/>
          </p:cNvSpPr>
          <p:nvPr/>
        </p:nvSpPr>
        <p:spPr>
          <a:xfrm xmlns:a="http://schemas.openxmlformats.org/drawingml/2006/main">
            <a:off x="571500" y="43434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Methods and runtimes</a:t>
            </a:r>
          </a:p>
        </p:txBody>
      </p:sp>
      <p:sp>
        <p:nvSpPr>
          <p:cNvPr id="10" name="">
            <a:extLst xmlns:a="http://schemas.openxmlformats.org/drawingml/2006/main">
              <a:ext uri="{FF2B5EF4-FFF2-40B4-BE49-F238E27FC236}">
                <a16:creationId xmlns:a16="http://schemas.microsoft.com/office/drawing/2014/main" id="{61CEFEFA-74BF-4CF1-B9F1-95ECF0563657}"/>
              </a:ext>
            </a:extLst>
          </p:cNvPr>
          <p:cNvSpPr>
            <a:spLocks xmlns:a="http://schemas.openxmlformats.org/drawingml/2006/main" noGrp="1"/>
          </p:cNvSpPr>
          <p:nvPr/>
        </p:nvSpPr>
        <p:spPr>
          <a:xfrm xmlns:a="http://schemas.openxmlformats.org/drawingml/2006/main">
            <a:off x="4000500" y="43434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10x-pentest, Claude-BugHunter, Hermes, and Pi</a:t>
            </a:r>
          </a:p>
        </p:txBody>
      </p:sp>
      <p:sp>
        <p:nvSpPr>
          <p:cNvPr id="11" name="">
            <a:extLst xmlns:a="http://schemas.openxmlformats.org/drawingml/2006/main">
              <a:ext uri="{FF2B5EF4-FFF2-40B4-BE49-F238E27FC236}">
                <a16:creationId xmlns:a16="http://schemas.microsoft.com/office/drawing/2014/main" id="{CD553C64-6C32-44ED-AFD4-E2EB5685C596}"/>
              </a:ext>
            </a:extLst>
          </p:cNvPr>
          <p:cNvSpPr>
            <a:spLocks xmlns:a="http://schemas.openxmlformats.org/drawingml/2006/main" noGrp="1"/>
          </p:cNvSpPr>
          <p:nvPr/>
        </p:nvSpPr>
        <p:spPr>
          <a:xfrm xmlns:a="http://schemas.openxmlformats.org/drawingml/2006/main">
            <a:off x="571500" y="55911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Each campaign records a tool status: selected, blocked, deferred, or not applicable.</a:t>
            </a:r>
          </a:p>
        </p:txBody>
      </p:sp>
    </p:spTree>
    <p:extLst>
      <p:ext uri="{BB962C8B-B14F-4D97-AF65-F5344CB8AC3E}">
        <p14:creationId xmlns:p14="http://schemas.microsoft.com/office/powerpoint/2010/main" val="289537898"/>
      </p:ext>
    </p:extLst>
  </p:cSld>
</p:sld>
</file>

<file path=ppt/slides/slide7.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C66198-85C1-41B5-AB18-1ED8115B7448}"/>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Corporate website test scope</a:t>
            </a:r>
          </a:p>
        </p:txBody>
      </p:sp>
      <p:sp>
        <p:nvSpPr>
          <p:cNvPr id="2" name="">
            <a:extLst xmlns:a="http://schemas.openxmlformats.org/drawingml/2006/main">
              <a:ext uri="{FF2B5EF4-FFF2-40B4-BE49-F238E27FC236}">
                <a16:creationId xmlns:a16="http://schemas.microsoft.com/office/drawing/2014/main" id="{48A0F850-834D-43F1-8BD7-83759DD376F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1ED2106E-27A0-44BA-91DE-B21C27EACAFE}"/>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First campaign</a:t>
            </a:r>
          </a:p>
        </p:txBody>
      </p:sp>
      <p:sp>
        <p:nvSpPr>
          <p:cNvPr id="4" name="">
            <a:extLst xmlns:a="http://schemas.openxmlformats.org/drawingml/2006/main">
              <a:ext uri="{FF2B5EF4-FFF2-40B4-BE49-F238E27FC236}">
                <a16:creationId xmlns:a16="http://schemas.microsoft.com/office/drawing/2014/main" id="{42FB9510-4C7D-449A-84B1-A4044E34220B}"/>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one approved hostname and a small set of routes. Use normal requests as the baseline.</a:t>
            </a:r>
          </a:p>
        </p:txBody>
      </p:sp>
      <p:sp>
        <p:nvSpPr>
          <p:cNvPr id="5" name="">
            <a:extLst xmlns:a="http://schemas.openxmlformats.org/drawingml/2006/main">
              <a:ext uri="{FF2B5EF4-FFF2-40B4-BE49-F238E27FC236}">
                <a16:creationId xmlns:a16="http://schemas.microsoft.com/office/drawing/2014/main" id="{FDC6F9FC-EF7E-4B50-983B-146F2AE2A56D}"/>
              </a:ext>
            </a:extLst>
          </p:cNvPr>
          <p:cNvSpPr>
            <a:spLocks xmlns:a="http://schemas.openxmlformats.org/drawingml/2006/main" noGrp="1"/>
          </p:cNvSpPr>
          <p:nvPr/>
        </p:nvSpPr>
        <p:spPr>
          <a:xfrm xmlns:a="http://schemas.openxmlformats.org/drawingml/2006/main">
            <a:off x="571500" y="27813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Broader coverage</a:t>
            </a:r>
          </a:p>
        </p:txBody>
      </p:sp>
      <p:sp>
        <p:nvSpPr>
          <p:cNvPr id="6" name="">
            <a:extLst xmlns:a="http://schemas.openxmlformats.org/drawingml/2006/main">
              <a:ext uri="{FF2B5EF4-FFF2-40B4-BE49-F238E27FC236}">
                <a16:creationId xmlns:a16="http://schemas.microsoft.com/office/drawing/2014/main" id="{D99B5531-3DDA-4FA3-AEF2-AEF64F0B9412}"/>
              </a:ext>
            </a:extLst>
          </p:cNvPr>
          <p:cNvSpPr>
            <a:spLocks xmlns:a="http://schemas.openxmlformats.org/drawingml/2006/main" noGrp="1"/>
          </p:cNvSpPr>
          <p:nvPr/>
        </p:nvSpPr>
        <p:spPr>
          <a:xfrm xmlns:a="http://schemas.openxmlformats.org/drawingml/2006/main">
            <a:off x="4000500" y="27813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Add approved APIs and account roles. Apply one request limit to all tools.</a:t>
            </a:r>
          </a:p>
        </p:txBody>
      </p:sp>
      <p:sp>
        <p:nvSpPr>
          <p:cNvPr id="7" name="">
            <a:extLst xmlns:a="http://schemas.openxmlformats.org/drawingml/2006/main">
              <a:ext uri="{FF2B5EF4-FFF2-40B4-BE49-F238E27FC236}">
                <a16:creationId xmlns:a16="http://schemas.microsoft.com/office/drawing/2014/main" id="{06C29AC0-45FC-40B3-B62E-B547D75D0BBC}"/>
              </a:ext>
            </a:extLst>
          </p:cNvPr>
          <p:cNvSpPr>
            <a:spLocks xmlns:a="http://schemas.openxmlformats.org/drawingml/2006/main" noGrp="1"/>
          </p:cNvSpPr>
          <p:nvPr/>
        </p:nvSpPr>
        <p:spPr>
          <a:xfrm xmlns:a="http://schemas.openxmlformats.org/drawingml/2006/main">
            <a:off x="571500" y="4133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Log correlation</a:t>
            </a:r>
          </a:p>
        </p:txBody>
      </p:sp>
      <p:sp>
        <p:nvSpPr>
          <p:cNvPr id="8" name="">
            <a:extLst xmlns:a="http://schemas.openxmlformats.org/drawingml/2006/main">
              <a:ext uri="{FF2B5EF4-FFF2-40B4-BE49-F238E27FC236}">
                <a16:creationId xmlns:a16="http://schemas.microsoft.com/office/drawing/2014/main" id="{EF19954A-58EF-40D2-A36B-B6B8959E112F}"/>
              </a:ext>
            </a:extLst>
          </p:cNvPr>
          <p:cNvSpPr>
            <a:spLocks xmlns:a="http://schemas.openxmlformats.org/drawingml/2006/main" noGrp="1"/>
          </p:cNvSpPr>
          <p:nvPr/>
        </p:nvSpPr>
        <p:spPr>
          <a:xfrm xmlns:a="http://schemas.openxmlformats.org/drawingml/2006/main">
            <a:off x="4000500" y="4133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Match request IDs with WAF decisions and application effects.</a:t>
            </a:r>
          </a:p>
        </p:txBody>
      </p:sp>
      <p:sp>
        <p:nvSpPr>
          <p:cNvPr id="9" name="">
            <a:extLst xmlns:a="http://schemas.openxmlformats.org/drawingml/2006/main">
              <a:ext uri="{FF2B5EF4-FFF2-40B4-BE49-F238E27FC236}">
                <a16:creationId xmlns:a16="http://schemas.microsoft.com/office/drawing/2014/main" id="{B8F6A92B-FE5E-4BB9-9061-E69664F7761B}"/>
              </a:ext>
            </a:extLst>
          </p:cNvPr>
          <p:cNvSpPr>
            <a:spLocks xmlns:a="http://schemas.openxmlformats.org/drawingml/2006/main" noGrp="1"/>
          </p:cNvSpPr>
          <p:nvPr/>
        </p:nvSpPr>
        <p:spPr>
          <a:xfrm xmlns:a="http://schemas.openxmlformats.org/drawingml/2006/main">
            <a:off x="571500" y="56007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The current collector sends unauthenticated GET requests with query inputs.</a:t>
            </a:r>
          </a:p>
        </p:txBody>
      </p:sp>
    </p:spTree>
    <p:extLst>
      <p:ext uri="{BB962C8B-B14F-4D97-AF65-F5344CB8AC3E}">
        <p14:creationId xmlns:p14="http://schemas.microsoft.com/office/powerpoint/2010/main" val="123902981"/>
      </p:ext>
    </p:extLst>
  </p:cSld>
</p:sld>
</file>

<file path=ppt/slides/slide8.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96A9CA-F1BB-48EF-BF67-37C6279EE9DF}"/>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Run index and evidence</a:t>
            </a:r>
          </a:p>
        </p:txBody>
      </p:sp>
      <p:sp>
        <p:nvSpPr>
          <p:cNvPr id="2" name="">
            <a:extLst xmlns:a="http://schemas.openxmlformats.org/drawingml/2006/main">
              <a:ext uri="{FF2B5EF4-FFF2-40B4-BE49-F238E27FC236}">
                <a16:creationId xmlns:a16="http://schemas.microsoft.com/office/drawing/2014/main" id="{27B4420B-F88E-413D-A1F4-89AF65B52A2D}"/>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D057704E-952A-46B8-A170-AECC299F7968}"/>
              </a:ext>
            </a:extLst>
          </p:cNvPr>
          <p:cNvSpPr>
            <a:spLocks xmlns:a="http://schemas.openxmlformats.org/drawingml/2006/main" noGrp="1"/>
          </p:cNvSpPr>
          <p:nvPr/>
        </p:nvSpPr>
        <p:spPr>
          <a:xfrm xmlns:a="http://schemas.openxmlformats.org/drawingml/2006/main">
            <a:off x="571500" y="238125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4" name="">
            <a:extLst xmlns:a="http://schemas.openxmlformats.org/drawingml/2006/main">
              <a:ext uri="{FF2B5EF4-FFF2-40B4-BE49-F238E27FC236}">
                <a16:creationId xmlns:a16="http://schemas.microsoft.com/office/drawing/2014/main" id="{03F021DD-0B6A-498F-95A1-F8930A4AE8BB}"/>
              </a:ext>
            </a:extLst>
          </p:cNvPr>
          <p:cNvSpPr>
            <a:spLocks xmlns:a="http://schemas.openxmlformats.org/drawingml/2006/main" noGrp="1"/>
          </p:cNvSpPr>
          <p:nvPr/>
        </p:nvSpPr>
        <p:spPr>
          <a:xfrm xmlns:a="http://schemas.openxmlformats.org/drawingml/2006/main">
            <a:off x="3905250" y="1714500"/>
            <a:ext cx="3333750" cy="904875"/>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SQLite run index</a:t>
            </a:r>
          </a:p>
        </p:txBody>
      </p:sp>
      <p:sp>
        <p:nvSpPr>
          <p:cNvPr id="5" name="">
            <a:extLst xmlns:a="http://schemas.openxmlformats.org/drawingml/2006/main">
              <a:ext uri="{FF2B5EF4-FFF2-40B4-BE49-F238E27FC236}">
                <a16:creationId xmlns:a16="http://schemas.microsoft.com/office/drawing/2014/main" id="{EAD76911-8E0F-4203-8F9E-7A52B9A5C20A}"/>
              </a:ext>
            </a:extLst>
          </p:cNvPr>
          <p:cNvSpPr>
            <a:spLocks xmlns:a="http://schemas.openxmlformats.org/drawingml/2006/main" noGrp="1"/>
          </p:cNvSpPr>
          <p:nvPr/>
        </p:nvSpPr>
        <p:spPr>
          <a:xfrm xmlns:a="http://schemas.openxmlformats.org/drawingml/2006/main">
            <a:off x="3905250" y="3905250"/>
            <a:ext cx="3333750" cy="904875"/>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Restricted evidence folders</a:t>
            </a:r>
          </a:p>
        </p:txBody>
      </p:sp>
      <p:sp>
        <p:nvSpPr>
          <p:cNvPr id="6" name="">
            <a:extLst xmlns:a="http://schemas.openxmlformats.org/drawingml/2006/main">
              <a:ext uri="{FF2B5EF4-FFF2-40B4-BE49-F238E27FC236}">
                <a16:creationId xmlns:a16="http://schemas.microsoft.com/office/drawing/2014/main" id="{4E29ECCC-430C-4FF3-B82F-8DCBC3202A78}"/>
              </a:ext>
            </a:extLst>
          </p:cNvPr>
          <p:cNvSpPr>
            <a:spLocks xmlns:a="http://schemas.openxmlformats.org/drawingml/2006/main" noGrp="1"/>
          </p:cNvSpPr>
          <p:nvPr/>
        </p:nvSpPr>
        <p:spPr>
          <a:xfrm xmlns:a="http://schemas.openxmlformats.org/drawingml/2006/main">
            <a:off x="8763000" y="2809875"/>
            <a:ext cx="2667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buNone/>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Separate backup</a:t>
            </a:r>
          </a:p>
        </p:txBody>
      </p:sp>
      <p:cxnSp>
        <p:nvCxnSpPr>
          <p:cNvPr id="30" name=""/>
          <p:cNvCxnSpPr>
            <a:stCxn xmlns:a="http://schemas.openxmlformats.org/drawingml/2006/main" id="3" idx="3"/>
            <a:endCxn xmlns:a="http://schemas.openxmlformats.org/drawingml/2006/main" id="4" idx="1"/>
          </p:cNvCxnSpPr>
          <p:nvPr/>
        </p:nvCxnSpPr>
        <p:spPr>
          <a:xfrm xmlns:a="http://schemas.openxmlformats.org/drawingml/2006/main" flipV="1">
            <a:off x="2762250" y="2166938"/>
            <a:ext cx="1143000" cy="690563"/>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31" name=""/>
          <p:cNvCxnSpPr>
            <a:stCxn xmlns:a="http://schemas.openxmlformats.org/drawingml/2006/main" id="3" idx="3"/>
            <a:endCxn xmlns:a="http://schemas.openxmlformats.org/drawingml/2006/main" id="5" idx="1"/>
          </p:cNvCxnSpPr>
          <p:nvPr/>
        </p:nvCxnSpPr>
        <p:spPr>
          <a:xfrm xmlns:a="http://schemas.openxmlformats.org/drawingml/2006/main">
            <a:off x="2762250" y="2857500"/>
            <a:ext cx="1143000" cy="1500188"/>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32" name=""/>
          <p:cNvCxnSpPr>
            <a:stCxn xmlns:a="http://schemas.openxmlformats.org/drawingml/2006/main" id="4" idx="3"/>
            <a:endCxn xmlns:a="http://schemas.openxmlformats.org/drawingml/2006/main" id="6" idx="1"/>
          </p:cNvCxnSpPr>
          <p:nvPr/>
        </p:nvCxnSpPr>
        <p:spPr>
          <a:xfrm xmlns:a="http://schemas.openxmlformats.org/drawingml/2006/main">
            <a:off x="7239000" y="2166938"/>
            <a:ext cx="1524000" cy="1119188"/>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flipV="1">
            <a:off x="7239000" y="3286125"/>
            <a:ext cx="1524000" cy="1071563"/>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sp>
        <p:nvSpPr>
          <p:cNvPr id="11" name="">
            <a:extLst xmlns:a="http://schemas.openxmlformats.org/drawingml/2006/main">
              <a:ext uri="{FF2B5EF4-FFF2-40B4-BE49-F238E27FC236}">
                <a16:creationId xmlns:a16="http://schemas.microsoft.com/office/drawing/2014/main" id="{E438DACD-FCE4-4555-BA9E-BCBCE9B7C63E}"/>
              </a:ext>
            </a:extLst>
          </p:cNvPr>
          <p:cNvSpPr>
            <a:spLocks xmlns:a="http://schemas.openxmlformats.org/drawingml/2006/main" noGrp="1"/>
          </p:cNvSpPr>
          <p:nvPr/>
        </p:nvSpPr>
        <p:spPr>
          <a:xfrm xmlns:a="http://schemas.openxmlformats.org/drawingml/2006/main">
            <a:off x="3905250" y="2714625"/>
            <a:ext cx="3571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Run ID, state, scope,</a:t>
            </a:r>
          </a:p>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tool steps, and file links</a:t>
            </a:r>
          </a:p>
        </p:txBody>
      </p:sp>
      <p:sp>
        <p:nvSpPr>
          <p:cNvPr id="12" name="">
            <a:extLst xmlns:a="http://schemas.openxmlformats.org/drawingml/2006/main">
              <a:ext uri="{FF2B5EF4-FFF2-40B4-BE49-F238E27FC236}">
                <a16:creationId xmlns:a16="http://schemas.microsoft.com/office/drawing/2014/main" id="{B235856A-73CD-497A-838D-7241D76F6D37}"/>
              </a:ext>
            </a:extLst>
          </p:cNvPr>
          <p:cNvSpPr>
            <a:spLocks xmlns:a="http://schemas.openxmlformats.org/drawingml/2006/main" noGrp="1"/>
          </p:cNvSpPr>
          <p:nvPr/>
        </p:nvSpPr>
        <p:spPr>
          <a:xfrm xmlns:a="http://schemas.openxmlformats.org/drawingml/2006/main">
            <a:off x="3905250" y="4933950"/>
            <a:ext cx="4238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Requests, responses, tool output,</a:t>
            </a:r>
          </a:p>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and reviewer decisions</a:t>
            </a:r>
          </a:p>
        </p:txBody>
      </p:sp>
      <p:sp>
        <p:nvSpPr>
          <p:cNvPr id="13" name="">
            <a:extLst xmlns:a="http://schemas.openxmlformats.org/drawingml/2006/main">
              <a:ext uri="{FF2B5EF4-FFF2-40B4-BE49-F238E27FC236}">
                <a16:creationId xmlns:a16="http://schemas.microsoft.com/office/drawing/2014/main" id="{1CAE3B6D-0BE2-4285-B7EB-F39E6576F29B}"/>
              </a:ext>
            </a:extLst>
          </p:cNvPr>
          <p:cNvSpPr>
            <a:spLocks xmlns:a="http://schemas.openxmlformats.org/drawingml/2006/main" noGrp="1"/>
          </p:cNvSpPr>
          <p:nvPr/>
        </p:nvSpPr>
        <p:spPr>
          <a:xfrm xmlns:a="http://schemas.openxmlformats.org/drawingml/2006/main">
            <a:off x="8763000" y="39719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Backup of the database</a:t>
            </a:r>
          </a:p>
          <a:p xmlns:a="http://schemas.openxmlformats.org/drawingml/2006/main">
            <a:pPr>
              <a:buNone/>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and evidence files</a:t>
            </a:r>
          </a:p>
        </p:txBody>
      </p:sp>
    </p:spTree>
    <p:extLst>
      <p:ext uri="{BB962C8B-B14F-4D97-AF65-F5344CB8AC3E}">
        <p14:creationId xmlns:p14="http://schemas.microsoft.com/office/powerpoint/2010/main" val="665509474"/>
      </p:ext>
    </p:extLst>
  </p:cSld>
</p:sld>
</file>

<file path=ppt/slides/slide9.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B38177-0A22-4566-93F8-9FA5ACC211E1}"/>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Security boundaries</a:t>
            </a:r>
          </a:p>
        </p:txBody>
      </p:sp>
      <p:sp>
        <p:nvSpPr>
          <p:cNvPr id="2" name="">
            <a:extLst xmlns:a="http://schemas.openxmlformats.org/drawingml/2006/main">
              <a:ext uri="{FF2B5EF4-FFF2-40B4-BE49-F238E27FC236}">
                <a16:creationId xmlns:a16="http://schemas.microsoft.com/office/drawing/2014/main" id="{3B90A4E4-6620-4491-B4BF-B0B18E8BE98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D80EB5E8-8B9A-4B68-AEFC-1714D10CF8FC}"/>
              </a:ext>
            </a:extLst>
          </p:cNvPr>
          <p:cNvSpPr>
            <a:spLocks xmlns:a="http://schemas.openxmlformats.org/drawingml/2006/main" noGrp="1"/>
          </p:cNvSpPr>
          <p:nvPr/>
        </p:nvSpPr>
        <p:spPr>
          <a:xfrm xmlns:a="http://schemas.openxmlformats.org/drawingml/2006/main">
            <a:off x="571500" y="14763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Operator boundary</a:t>
            </a:r>
          </a:p>
        </p:txBody>
      </p:sp>
      <p:sp>
        <p:nvSpPr>
          <p:cNvPr id="4" name="">
            <a:extLst xmlns:a="http://schemas.openxmlformats.org/drawingml/2006/main">
              <a:ext uri="{FF2B5EF4-FFF2-40B4-BE49-F238E27FC236}">
                <a16:creationId xmlns:a16="http://schemas.microsoft.com/office/drawing/2014/main" id="{9F76EA1C-7D4B-4377-B512-CD11B597CF9E}"/>
              </a:ext>
            </a:extLst>
          </p:cNvPr>
          <p:cNvSpPr>
            <a:spLocks xmlns:a="http://schemas.openxmlformats.org/drawingml/2006/main" noGrp="1"/>
          </p:cNvSpPr>
          <p:nvPr/>
        </p:nvSpPr>
        <p:spPr>
          <a:xfrm xmlns:a="http://schemas.openxmlformats.org/drawingml/2006/main">
            <a:off x="4000500" y="14763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Each operator uses a named account on the private dashboard. The second operator reviews scope.</a:t>
            </a:r>
          </a:p>
        </p:txBody>
      </p:sp>
      <p:sp>
        <p:nvSpPr>
          <p:cNvPr id="5" name="">
            <a:extLst xmlns:a="http://schemas.openxmlformats.org/drawingml/2006/main">
              <a:ext uri="{FF2B5EF4-FFF2-40B4-BE49-F238E27FC236}">
                <a16:creationId xmlns:a16="http://schemas.microsoft.com/office/drawing/2014/main" id="{BC5B602B-617E-42BE-8C96-F203ADCBD3F1}"/>
              </a:ext>
            </a:extLst>
          </p:cNvPr>
          <p:cNvSpPr>
            <a:spLocks xmlns:a="http://schemas.openxmlformats.org/drawingml/2006/main" noGrp="1"/>
          </p:cNvSpPr>
          <p:nvPr/>
        </p:nvSpPr>
        <p:spPr>
          <a:xfrm xmlns:a="http://schemas.openxmlformats.org/drawingml/2006/main">
            <a:off x="571500" y="2714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Runner boundary</a:t>
            </a:r>
          </a:p>
        </p:txBody>
      </p:sp>
      <p:sp>
        <p:nvSpPr>
          <p:cNvPr id="6" name="">
            <a:extLst xmlns:a="http://schemas.openxmlformats.org/drawingml/2006/main">
              <a:ext uri="{FF2B5EF4-FFF2-40B4-BE49-F238E27FC236}">
                <a16:creationId xmlns:a16="http://schemas.microsoft.com/office/drawing/2014/main" id="{BB5F61F8-054C-4370-814A-AEB7345C645F}"/>
              </a:ext>
            </a:extLst>
          </p:cNvPr>
          <p:cNvSpPr>
            <a:spLocks xmlns:a="http://schemas.openxmlformats.org/drawingml/2006/main" noGrp="1"/>
          </p:cNvSpPr>
          <p:nvPr/>
        </p:nvSpPr>
        <p:spPr>
          <a:xfrm xmlns:a="http://schemas.openxmlformats.org/drawingml/2006/main">
            <a:off x="4000500" y="27146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The disposable VM restricts outbound traffic. It has no host folders or provider keys.</a:t>
            </a:r>
          </a:p>
        </p:txBody>
      </p:sp>
      <p:sp>
        <p:nvSpPr>
          <p:cNvPr id="7" name="">
            <a:extLst xmlns:a="http://schemas.openxmlformats.org/drawingml/2006/main">
              <a:ext uri="{FF2B5EF4-FFF2-40B4-BE49-F238E27FC236}">
                <a16:creationId xmlns:a16="http://schemas.microsoft.com/office/drawing/2014/main" id="{57D90BBE-C9C4-473B-8F62-5DB7CB84AB27}"/>
              </a:ext>
            </a:extLst>
          </p:cNvPr>
          <p:cNvSpPr>
            <a:spLocks xmlns:a="http://schemas.openxmlformats.org/drawingml/2006/main" noGrp="1"/>
          </p:cNvSpPr>
          <p:nvPr/>
        </p:nvSpPr>
        <p:spPr>
          <a:xfrm xmlns:a="http://schemas.openxmlformats.org/drawingml/2006/main">
            <a:off x="571500" y="3952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Model boundary</a:t>
            </a:r>
          </a:p>
        </p:txBody>
      </p:sp>
      <p:sp>
        <p:nvSpPr>
          <p:cNvPr id="8" name="">
            <a:extLst xmlns:a="http://schemas.openxmlformats.org/drawingml/2006/main">
              <a:ext uri="{FF2B5EF4-FFF2-40B4-BE49-F238E27FC236}">
                <a16:creationId xmlns:a16="http://schemas.microsoft.com/office/drawing/2014/main" id="{E7158421-5398-41A1-A8A5-D23A79981413}"/>
              </a:ext>
            </a:extLst>
          </p:cNvPr>
          <p:cNvSpPr>
            <a:spLocks xmlns:a="http://schemas.openxmlformats.org/drawingml/2006/main" noGrp="1"/>
          </p:cNvSpPr>
          <p:nvPr/>
        </p:nvSpPr>
        <p:spPr>
          <a:xfrm xmlns:a="http://schemas.openxmlformats.org/drawingml/2006/main">
            <a:off x="4000500" y="39528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Use only approved providers and data. The engine controls allowed actions.</a:t>
            </a:r>
          </a:p>
        </p:txBody>
      </p:sp>
      <p:sp>
        <p:nvSpPr>
          <p:cNvPr id="9" name="">
            <a:extLst xmlns:a="http://schemas.openxmlformats.org/drawingml/2006/main">
              <a:ext uri="{FF2B5EF4-FFF2-40B4-BE49-F238E27FC236}">
                <a16:creationId xmlns:a16="http://schemas.microsoft.com/office/drawing/2014/main" id="{344D66C6-8F07-4BF0-A28A-A5106D5744B2}"/>
              </a:ext>
            </a:extLst>
          </p:cNvPr>
          <p:cNvSpPr>
            <a:spLocks xmlns:a="http://schemas.openxmlformats.org/drawingml/2006/main" noGrp="1"/>
          </p:cNvSpPr>
          <p:nvPr/>
        </p:nvSpPr>
        <p:spPr>
          <a:xfrm xmlns:a="http://schemas.openxmlformats.org/drawingml/2006/main">
            <a:off x="571500" y="51911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Evidence boundary</a:t>
            </a:r>
          </a:p>
        </p:txBody>
      </p:sp>
      <p:sp>
        <p:nvSpPr>
          <p:cNvPr id="10" name="">
            <a:extLst xmlns:a="http://schemas.openxmlformats.org/drawingml/2006/main">
              <a:ext uri="{FF2B5EF4-FFF2-40B4-BE49-F238E27FC236}">
                <a16:creationId xmlns:a16="http://schemas.microsoft.com/office/drawing/2014/main" id="{995253E0-4AEA-4C61-806F-9E2617B61FE7}"/>
              </a:ext>
            </a:extLst>
          </p:cNvPr>
          <p:cNvSpPr>
            <a:spLocks xmlns:a="http://schemas.openxmlformats.org/drawingml/2006/main" noGrp="1"/>
          </p:cNvSpPr>
          <p:nvPr/>
        </p:nvSpPr>
        <p:spPr>
          <a:xfrm xmlns:a="http://schemas.openxmlformats.org/drawingml/2006/main">
            <a:off x="4000500" y="51911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Host services control storage. The runner cannot access earlier records.</a:t>
            </a:r>
          </a:p>
        </p:txBody>
      </p:sp>
    </p:spTree>
    <p:extLst>
      <p:ext uri="{BB962C8B-B14F-4D97-AF65-F5344CB8AC3E}">
        <p14:creationId xmlns:p14="http://schemas.microsoft.com/office/powerpoint/2010/main" val="726269462"/>
      </p:ext>
    </p:extLst>
  </p:cSld>
</p:sld>
</file>

<file path=ppt/slides/slide10.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3CEC02-07B9-43E5-AEE2-06609DCC8CB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Implementation and acceptance</a:t>
            </a:r>
          </a:p>
        </p:txBody>
      </p:sp>
      <p:sp>
        <p:nvSpPr>
          <p:cNvPr id="2" name="">
            <a:extLst xmlns:a="http://schemas.openxmlformats.org/drawingml/2006/main">
              <a:ext uri="{FF2B5EF4-FFF2-40B4-BE49-F238E27FC236}">
                <a16:creationId xmlns:a16="http://schemas.microsoft.com/office/drawing/2014/main" id="{B9EF9312-5AF8-4321-9639-5412710D0B2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8FA5308D-E232-4C69-8423-0E66199A951A}"/>
              </a:ext>
            </a:extLst>
          </p:cNvPr>
          <p:cNvSpPr>
            <a:spLocks xmlns:a="http://schemas.openxmlformats.org/drawingml/2006/main" noGrp="1"/>
          </p:cNvSpPr>
          <p:nvPr/>
        </p:nvSpPr>
        <p:spPr>
          <a:xfrm xmlns:a="http://schemas.openxmlformats.org/drawingml/2006/main">
            <a:off x="571500" y="15240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85E7B5"/>
                </a:solidFill>
                <a:latin typeface="Helvetica Neue"/>
                <a:ea typeface="Helvetica Neue"/>
                <a:cs typeface="Helvetica Neue"/>
              </a:defRPr>
            </a:pPr>
            <a:r>
              <a:rPr sz="2400" b="1">
                <a:solidFill>
                  <a:srgbClr val="85E7B5"/>
                </a:solidFill>
                <a:latin typeface="Helvetica Neue"/>
                <a:ea typeface="Helvetica Neue"/>
                <a:cs typeface="Helvetica Neue"/>
              </a:rPr>
              <a:t>Existing prototype</a:t>
            </a:r>
          </a:p>
        </p:txBody>
      </p:sp>
      <p:sp>
        <p:nvSpPr>
          <p:cNvPr id="4" name="">
            <a:extLst xmlns:a="http://schemas.openxmlformats.org/drawingml/2006/main">
              <a:ext uri="{FF2B5EF4-FFF2-40B4-BE49-F238E27FC236}">
                <a16:creationId xmlns:a16="http://schemas.microsoft.com/office/drawing/2014/main" id="{F2AF50A1-1E07-457B-9B36-185E8245E531}"/>
              </a:ext>
            </a:extLst>
          </p:cNvPr>
          <p:cNvSpPr>
            <a:spLocks xmlns:a="http://schemas.openxmlformats.org/drawingml/2006/main" noGrp="1"/>
          </p:cNvSpPr>
          <p:nvPr/>
        </p:nvSpPr>
        <p:spPr>
          <a:xfrm xmlns:a="http://schemas.openxmlformats.org/drawingml/2006/main">
            <a:off x="571500" y="2162175"/>
            <a:ext cx="4667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Local application harness</a:t>
            </a:r>
          </a:p>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Scoped WAF collector</a:t>
            </a:r>
          </a:p>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Saved local test evidence</a:t>
            </a:r>
          </a:p>
        </p:txBody>
      </p:sp>
      <p:sp>
        <p:nvSpPr>
          <p:cNvPr id="5" name="">
            <a:extLst xmlns:a="http://schemas.openxmlformats.org/drawingml/2006/main">
              <a:ext uri="{FF2B5EF4-FFF2-40B4-BE49-F238E27FC236}">
                <a16:creationId xmlns:a16="http://schemas.microsoft.com/office/drawing/2014/main" id="{39EB0C66-028B-4B07-9D75-996E11CB5A59}"/>
              </a:ext>
            </a:extLst>
          </p:cNvPr>
          <p:cNvSpPr>
            <a:spLocks xmlns:a="http://schemas.openxmlformats.org/drawingml/2006/main" noGrp="1"/>
          </p:cNvSpPr>
          <p:nvPr/>
        </p:nvSpPr>
        <p:spPr>
          <a:xfrm xmlns:a="http://schemas.openxmlformats.org/drawingml/2006/main">
            <a:off x="6191250" y="152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FFD080"/>
                </a:solidFill>
                <a:latin typeface="Helvetica Neue"/>
                <a:ea typeface="Helvetica Neue"/>
                <a:cs typeface="Helvetica Neue"/>
              </a:defRPr>
            </a:pPr>
            <a:r>
              <a:rPr sz="2400" b="1">
                <a:solidFill>
                  <a:srgbClr val="FFD080"/>
                </a:solidFill>
                <a:latin typeface="Helvetica Neue"/>
                <a:ea typeface="Helvetica Neue"/>
                <a:cs typeface="Helvetica Neue"/>
              </a:rPr>
              <a:t>Pending implementation</a:t>
            </a:r>
          </a:p>
        </p:txBody>
      </p:sp>
      <p:sp>
        <p:nvSpPr>
          <p:cNvPr id="6" name="">
            <a:extLst xmlns:a="http://schemas.openxmlformats.org/drawingml/2006/main">
              <a:ext uri="{FF2B5EF4-FFF2-40B4-BE49-F238E27FC236}">
                <a16:creationId xmlns:a16="http://schemas.microsoft.com/office/drawing/2014/main" id="{F8282643-3EEE-449A-BC03-17390DAB814E}"/>
              </a:ext>
            </a:extLst>
          </p:cNvPr>
          <p:cNvSpPr>
            <a:spLocks xmlns:a="http://schemas.openxmlformats.org/drawingml/2006/main" noGrp="1"/>
          </p:cNvSpPr>
          <p:nvPr/>
        </p:nvSpPr>
        <p:spPr>
          <a:xfrm xmlns:a="http://schemas.openxmlformats.org/drawingml/2006/main">
            <a:off x="6191250" y="2162175"/>
            <a:ext cx="5238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Dashboard and shared engine</a:t>
            </a:r>
          </a:p>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Runner isolation and tool adapters</a:t>
            </a:r>
          </a:p>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Model checks and provider contracts</a:t>
            </a:r>
          </a:p>
          <a:p xmlns:a="http://schemas.openxmlformats.org/drawingml/2006/main">
            <a:pPr>
              <a:buNone/>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Authorized external WAF campaign</a:t>
            </a:r>
          </a:p>
        </p:txBody>
      </p:sp>
      <p:sp>
        <p:nvSpPr>
          <p:cNvPr id="7" name="">
            <a:extLst xmlns:a="http://schemas.openxmlformats.org/drawingml/2006/main">
              <a:ext uri="{FF2B5EF4-FFF2-40B4-BE49-F238E27FC236}">
                <a16:creationId xmlns:a16="http://schemas.microsoft.com/office/drawing/2014/main" id="{59257FA3-8E90-45B0-B7BD-2CC7DCF18469}"/>
              </a:ext>
            </a:extLst>
          </p:cNvPr>
          <p:cNvSpPr>
            <a:spLocks xmlns:a="http://schemas.openxmlformats.org/drawingml/2006/main" noGrp="1"/>
          </p:cNvSpPr>
          <p:nvPr/>
        </p:nvSpPr>
        <p:spPr>
          <a:xfrm xmlns:a="http://schemas.openxmlformats.org/drawingml/2006/main">
            <a:off x="571500" y="4810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5EE3EE"/>
                </a:solidFill>
                <a:latin typeface="Helvetica Neue"/>
                <a:ea typeface="Helvetica Neue"/>
                <a:cs typeface="Helvetica Neue"/>
              </a:defRPr>
            </a:pPr>
            <a:r>
              <a:rPr sz="2400" b="1">
                <a:solidFill>
                  <a:srgbClr val="5EE3EE"/>
                </a:solidFill>
                <a:latin typeface="Helvetica Neue"/>
                <a:ea typeface="Helvetica Neue"/>
                <a:cs typeface="Helvetica Neue"/>
              </a:rPr>
              <a:t>Acceptance</a:t>
            </a:r>
          </a:p>
        </p:txBody>
      </p:sp>
      <p:sp>
        <p:nvSpPr>
          <p:cNvPr id="8" name="">
            <a:extLst xmlns:a="http://schemas.openxmlformats.org/drawingml/2006/main">
              <a:ext uri="{FF2B5EF4-FFF2-40B4-BE49-F238E27FC236}">
                <a16:creationId xmlns:a16="http://schemas.microsoft.com/office/drawing/2014/main" id="{8B427B88-66AC-48E8-93AB-38777B0FAE11}"/>
              </a:ext>
            </a:extLst>
          </p:cNvPr>
          <p:cNvSpPr>
            <a:spLocks xmlns:a="http://schemas.openxmlformats.org/drawingml/2006/main" noGrp="1"/>
          </p:cNvSpPr>
          <p:nvPr/>
        </p:nvSpPr>
        <p:spPr>
          <a:xfrm xmlns:a="http://schemas.openxmlformats.org/drawingml/2006/main">
            <a:off x="571500" y="53816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Start in the dashboard. Check in the CLI. Stop through either interface.</a:t>
            </a:r>
          </a:p>
          <a:p xmlns:a="http://schemas.openxmlformats.org/drawingml/2006/main">
            <a:pPr>
              <a:buNone/>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Recover matching records and evidence. Review the target results.</a:t>
            </a:r>
          </a:p>
        </p:txBody>
      </p:sp>
    </p:spTree>
    <p:extLst>
      <p:ext uri="{BB962C8B-B14F-4D97-AF65-F5344CB8AC3E}">
        <p14:creationId xmlns:p14="http://schemas.microsoft.com/office/powerpoint/2010/main" val="360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2026-10-04T17:02:02.3410000Z</dcterms:created>
  <dcterms:modified xsi:type="dcterms:W3CDTF">2026-10-04T17:02:02.3410000Z</dcterms:modified>
</coreProperties>
</file>