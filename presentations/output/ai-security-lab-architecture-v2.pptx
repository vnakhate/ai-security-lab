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2666a2d8c94a72" /><Relationship Type="http://schemas.openxmlformats.org/officeDocument/2006/relationships/extended-properties" Target="/docProps/app.xml" Id="Rd0b006f27e8941a0" /><Relationship Type="http://schemas.openxmlformats.org/officeDocument/2006/relationships/officeDocument" Target="/ppt/presentation.xml" Id="R6df9011533b345da" /></Relationships>
</file>

<file path=ppt/presentation.xml><?xml version="1.0" encoding="utf-8"?>
<p:presentation xmlns:p="http://schemas.openxmlformats.org/presentationml/2006/main">
  <p:sldMasterIdLst>
    <p:sldMasterId xmlns:r="http://schemas.openxmlformats.org/officeDocument/2006/relationships" id="2147483648" r:id="Rf4d9d1039bcf436d"/>
  </p:sldMasterIdLst>
  <p:notesMasterIdLst>
    <p:notesMasterId xmlns:r="http://schemas.openxmlformats.org/officeDocument/2006/relationships" r:id="R2c8879212c34423c"/>
  </p:notesMasterIdLst>
  <p:sldIdLst>
    <p:sldId xmlns:r="http://schemas.openxmlformats.org/officeDocument/2006/relationships" id="256" r:id="R1485a9d4971f40cb"/>
    <p:sldId xmlns:r="http://schemas.openxmlformats.org/officeDocument/2006/relationships" id="257" r:id="R2a680f3847b84bbe"/>
    <p:sldId xmlns:r="http://schemas.openxmlformats.org/officeDocument/2006/relationships" id="258" r:id="Rfbc80ae3c2484f30"/>
    <p:sldId xmlns:r="http://schemas.openxmlformats.org/officeDocument/2006/relationships" id="259" r:id="Rf58e9223873d4015"/>
    <p:sldId xmlns:r="http://schemas.openxmlformats.org/officeDocument/2006/relationships" id="260" r:id="Rc85d5872e20649f2"/>
    <p:sldId xmlns:r="http://schemas.openxmlformats.org/officeDocument/2006/relationships" id="261" r:id="Rfc38d309d4124d46"/>
    <p:sldId xmlns:r="http://schemas.openxmlformats.org/officeDocument/2006/relationships" id="262" r:id="Raa1b9f80ee324603"/>
    <p:sldId xmlns:r="http://schemas.openxmlformats.org/officeDocument/2006/relationships" id="263" r:id="R0a273d98c89f4fd6"/>
    <p:sldId xmlns:r="http://schemas.openxmlformats.org/officeDocument/2006/relationships" id="264" r:id="R0105c12f68594033"/>
    <p:sldId xmlns:r="http://schemas.openxmlformats.org/officeDocument/2006/relationships" id="265" r:id="Rbff76ad2b06a4e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909a15f29c408e" /><Relationship Type="http://schemas.openxmlformats.org/officeDocument/2006/relationships/slideMaster" Target="/ppt/slideMasters/slideMaster1.xml" Id="Rf4d9d1039bcf436d" /><Relationship Type="http://schemas.openxmlformats.org/officeDocument/2006/relationships/notesMaster" Target="/ppt/notesMasters/notesMaster1.xml" Id="R2c8879212c34423c" /><Relationship Type="http://schemas.openxmlformats.org/officeDocument/2006/relationships/presProps" Target="/ppt/presProps.xml" Id="Rb0eabf230c1346b9" /><Relationship Type="http://schemas.openxmlformats.org/officeDocument/2006/relationships/tableStyles" Target="/ppt/tableStyles.xml" Id="R533146ba25704066" /><Relationship Type="http://schemas.openxmlformats.org/officeDocument/2006/relationships/slide" Target="/ppt/slides/slide1.xml" Id="R1485a9d4971f40cb" /><Relationship Type="http://schemas.openxmlformats.org/officeDocument/2006/relationships/slide" Target="/ppt/slides/slide2.xml" Id="R2a680f3847b84bbe" /><Relationship Type="http://schemas.openxmlformats.org/officeDocument/2006/relationships/slide" Target="/ppt/slides/slide3.xml" Id="Rfbc80ae3c2484f30" /><Relationship Type="http://schemas.openxmlformats.org/officeDocument/2006/relationships/slide" Target="/ppt/slides/slide4.xml" Id="Rf58e9223873d4015" /><Relationship Type="http://schemas.openxmlformats.org/officeDocument/2006/relationships/slide" Target="/ppt/slides/slide5.xml" Id="Rc85d5872e20649f2" /><Relationship Type="http://schemas.openxmlformats.org/officeDocument/2006/relationships/slide" Target="/ppt/slides/slide6.xml" Id="Rfc38d309d4124d46" /><Relationship Type="http://schemas.openxmlformats.org/officeDocument/2006/relationships/slide" Target="/ppt/slides/slide7.xml" Id="Raa1b9f80ee324603" /><Relationship Type="http://schemas.openxmlformats.org/officeDocument/2006/relationships/slide" Target="/ppt/slides/slide8.xml" Id="R0a273d98c89f4fd6" /><Relationship Type="http://schemas.openxmlformats.org/officeDocument/2006/relationships/slide" Target="/ppt/slides/slide9.xml" Id="R0105c12f68594033" /><Relationship Type="http://schemas.openxmlformats.org/officeDocument/2006/relationships/slide" Target="/ppt/slides/slide10.xml" Id="Rbff76ad2b06a4e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a862a08c5640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8a4677a6214b63" /><Relationship Type="http://schemas.openxmlformats.org/officeDocument/2006/relationships/notesMaster" Target="/ppt/notesMasters/notesMaster1.xml" Id="R657d9be9b0194c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7b76256c6d45da" /><Relationship Type="http://schemas.openxmlformats.org/officeDocument/2006/relationships/notesMaster" Target="/ppt/notesMasters/notesMaster1.xml" Id="Re2ef9b0d2a6d43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cb1a5abe8f46b8" /><Relationship Type="http://schemas.openxmlformats.org/officeDocument/2006/relationships/notesMaster" Target="/ppt/notesMasters/notesMaster1.xml" Id="R7dceef95697a4c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a8941f898a4c18" /><Relationship Type="http://schemas.openxmlformats.org/officeDocument/2006/relationships/notesMaster" Target="/ppt/notesMasters/notesMaster1.xml" Id="Rbbbf5b9172754c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fbf78f4c044d36" /><Relationship Type="http://schemas.openxmlformats.org/officeDocument/2006/relationships/notesMaster" Target="/ppt/notesMasters/notesMaster1.xml" Id="R658b8f8f8b59423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69e95ac5a34e4d" /><Relationship Type="http://schemas.openxmlformats.org/officeDocument/2006/relationships/notesMaster" Target="/ppt/notesMasters/notesMaster1.xml" Id="Red140ce1752341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398d2c9bda4331" /><Relationship Type="http://schemas.openxmlformats.org/officeDocument/2006/relationships/notesMaster" Target="/ppt/notesMasters/notesMaster1.xml" Id="Rfe04c773e5ea4a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33e61cbab74155" /><Relationship Type="http://schemas.openxmlformats.org/officeDocument/2006/relationships/notesMaster" Target="/ppt/notesMasters/notesMaster1.xml" Id="R5784dc23cdd742e8" /></Relationships>
</file>

<file path=ppt/notesSlides/_rels/notesSlide9.xml.rels>&#65279;<?xml version="1.0" encoding="utf-8"?><Relationships xmlns="http://schemas.openxmlformats.org/package/2006/relationships"><Relationship Type="http://schemas.openxmlformats.org/officeDocument/2006/relationships/slide" Target="/ppt/slides/slide9.xml" Id="R605c12fd03844f4b" /><Relationship Type="http://schemas.openxmlformats.org/officeDocument/2006/relationships/notesMaster" Target="/ppt/notesMasters/notesMaster1.xml" Id="Rf438a627cb6943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9b119ab5c3429b" /><Relationship Type="http://schemas.openxmlformats.org/officeDocument/2006/relationships/notesMaster" Target="/ppt/notesMasters/notesMaster1.xml" Id="R986449dc59f444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explains the proposed two-operator lab and its use against an approved preproduction corporate website behind a WAF. Hardware and integration remain pending. Grok 3.7 Cyber is the endpoint named by the operator. Its exact API contract needs confirmation.</a:t>
            </a:r>
          </a:p>
          <a:p xmlns:a="http://schemas.openxmlformats.org/drawingml/2006/main">
            <a:r>
              <a:t>Sources: ai-security-lab-proposal.md, architecture/consolidated-lab-architecture.json, pentest-tools/manifests/lab-tool-coverage.json. Design status: proposed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 one is a calibrated local AI lab. Goal two is an evidence-backed assessment of an authorized external WAF. Existing local tests establish prototype behavior only. A single campaign and two named accounts keep the first deployment manageable.</a:t>
            </a:r>
          </a:p>
          <a:p xmlns:a="http://schemas.openxmlformats.org/drawingml/2006/main">
            <a:r>
              <a:t>Sources: ai-security-lab-proposal.md, architecture/consolidated-lab-architecture.json, pentest-tools/manifests/lab-tool-coverage.json. Design status: proposed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Dashboard and CLI are operator interfaces to one host service. The engine applies scope, dispatch, stop controls, and evidence recording. The runner lives in a disposable VM. The host copies artifacts into restricted evidence folders. Model replies are advisory. The diagram simplifies return paths and omits network equipment. Backup applies to both SQLite and evidence files. Backend services are owner managed and do not receive direct test traffic without additional scope.</a:t>
            </a:r>
          </a:p>
          <a:p xmlns:a="http://schemas.openxmlformats.org/drawingml/2006/main">
            <a:r>
              <a:t>Sources: ai-security-lab-proposal.md, architecture/consolidated-lab-architecture.json, pentest-tools/manifests/lab-tool-coverage.json. Design status: proposed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Preparation records the exact target, credentials reference, actions, expiry, and shared limits. The second operator reviews scope. Checks validate adapter readiness and a normal request baseline. A blocked benign baseline stops follow-up. Stop terminates the process tree and retains partial evidence but cannot undo sent requests. Final review determines whether tool claims have application evidence.</a:t>
            </a:r>
          </a:p>
          <a:p xmlns:a="http://schemas.openxmlformats.org/drawingml/2006/main">
            <a:r>
              <a:t>Sources: ai-security-lab-proposal.md, architecture/consolidated-lab-architecture.json, pentest-tools/manifests/lab-tool-coverage.json. Design status: proposed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access module lives inside the host service. Start with a separate inference service on the same lab computer. Accounts separate access but do not isolate GPU or host failures. Move to a dedicated GPU host when measured resource pressure or required isolation warrants it. A cluster is a later option for model size or sustained concurrent demand. Local model records include source, license, weight hash, runtime, and quantization. External model records include endpoint, exact ID, access, retention, and allowed data. Grok 3.7 Cyber is operator identified, not independently established from public API documentation.</a:t>
            </a:r>
          </a:p>
          <a:p xmlns:a="http://schemas.openxmlformats.org/drawingml/2006/main">
            <a:r>
              <a:t>Sources: ai-security-lab-proposal.md, architecture/consolidated-lab-architecture.json, pentest-tools/manifests/lab-tool-coverage.json. Design status: proposed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15 supplied repositories belong in the campaign inventory. Each receives a disposition: selected, blocked, deferred, or not applicable. A comprehensive profile runs all applicable calibrated adapters within shared limits. Method repos contribute procedures rather than fake execution. A tool wrapper cannot by itself control every internal request from an autonomous agent. Installation does not establish campaign readiness. Full registry: pentest-tools/manifests/lab-tool-coverage.json.</a:t>
            </a:r>
          </a:p>
          <a:p xmlns:a="http://schemas.openxmlformats.org/drawingml/2006/main">
            <a:r>
              <a:t>Sources: ai-security-lab-proposal.md, architecture/consolidated-lab-architecture.json, pentest-tools/manifests/lab-tool-coverage.json. Design status: proposed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WAF fronts a large corporate website. Begin with one approved hostname and a small route set. Broaden coverage only after accepted checks. Include normal traffic to identify false positives. Record method, input, account role, expected response, and permitted actions per case. Third-party services, discovered origins, and other hostnames need explicit scope. Current collector supports bounded unauthenticated GET-query observations only. Authentication, POST/JSON, and browser workflows require accepted adapters. A 403 alone proves neither blocking cause nor vulnerability.</a:t>
            </a:r>
          </a:p>
          <a:p xmlns:a="http://schemas.openxmlformats.org/drawingml/2006/main">
            <a:r>
              <a:t>Sources: ai-security-lab-proposal.md, architecture/consolidated-lab-architecture.json, pentest-tools/manifests/lab-tool-coverage.json. Design status: proposed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SQLite contains run metadata and links to artifacts rather than large binary artifacts. Evidence files contain scope, redacted requests and responses, raw tool output, exit status, model records, and review decisions. The host service imports new artifacts. The disposable VM cannot alter historical evidence. A separate backup supports recovery but does not establish independent tamper-proof provenance. Example stopped run: a normal request receives HTTP 403, and the review correlates the response with logs before any active follow-up.</a:t>
            </a:r>
          </a:p>
          <a:p xmlns:a="http://schemas.openxmlformats.org/drawingml/2006/main">
            <a:r>
              <a:t>Sources: ai-security-lab-proposal.md, architecture/consolidated-lab-architecture.json, pentest-tools/manifests/lab-tool-coverage.json. Design status: proposed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controls require implementation and acceptance tests. The private dashboard needs named accounts. The runner gets campaign inputs and limited test credentials, without host folders, personal credentials, management access, or a host Docker socket. Enforce target network scope independently of prompts. Model suggestions cannot modify approval. Authenticate the model relay and enforce provider, data, timeout, and cost policy. Calibrate adapters on synthetic targets and test stop behavior.</a:t>
            </a:r>
          </a:p>
          <a:p xmlns:a="http://schemas.openxmlformats.org/drawingml/2006/main">
            <a:r>
              <a:t>Sources: ai-security-lab-proposal.md, architecture/consolidated-lab-architecture.json, pentest-tools/manifests/lab-tool-coverage.json. Design status: proposed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contains a local application harness and scoped WAF collector, with saved local tests. This does not establish a deployed lab, real-model calibration, or an external corporate assessment. Build a read-only run view, then shared UI/CLI execution, then runner isolation and deterministic tool adapters. Add local model calibration and one external provider adapter only after data policy and contracts are accepted. Hardware plan budget previously discussed: $6,000–$10,000 excluding Mac. No procurement or installation is established. Acceptance requires start through UI, inspect through CLI, stop through either, and recover matching evidence, followed by an authorized external assessment and human review.</a:t>
            </a:r>
          </a:p>
          <a:p xmlns:a="http://schemas.openxmlformats.org/drawingml/2006/main">
            <a:r>
              <a:t>Sources: ai-security-lab-proposal.md, architecture/consolidated-lab-architecture.json, pentest-tools/manifests/lab-tool-coverage.json. Design status: proposed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fe8af925d64a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eae400a5b24f19" /><Relationship Type="http://schemas.openxmlformats.org/officeDocument/2006/relationships/slideLayout" Target="/ppt/slideLayouts/slideLayout1.xml" Id="R59298516cb2646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298516cb2646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025df79da7b4a07" /><Relationship Type="http://schemas.openxmlformats.org/officeDocument/2006/relationships/notesSlide" Target="/ppt/notesSlides/notesSlide1.xml" Id="Rd8c81f3f642646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f35a34e9fd4bba" /><Relationship Type="http://schemas.openxmlformats.org/officeDocument/2006/relationships/notesSlide" Target="/ppt/notesSlides/notesSlide2.xml" Id="R12ccc92dc80240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37fea61a57c4274" /><Relationship Type="http://schemas.openxmlformats.org/officeDocument/2006/relationships/notesSlide" Target="/ppt/notesSlides/notesSlide3.xml" Id="R8e621940769944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83f2963201f4a42" /><Relationship Type="http://schemas.openxmlformats.org/officeDocument/2006/relationships/notesSlide" Target="/ppt/notesSlides/notesSlide4.xml" Id="R42782d77226c43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4e913ad009c409c" /><Relationship Type="http://schemas.openxmlformats.org/officeDocument/2006/relationships/notesSlide" Target="/ppt/notesSlides/notesSlide5.xml" Id="Rbc683605e85e43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16e4dbbf9b0498f" /><Relationship Type="http://schemas.openxmlformats.org/officeDocument/2006/relationships/notesSlide" Target="/ppt/notesSlides/notesSlide6.xml" Id="Raf1eec6b9f0c40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a50a859cdbc4e6e" /><Relationship Type="http://schemas.openxmlformats.org/officeDocument/2006/relationships/notesSlide" Target="/ppt/notesSlides/notesSlide7.xml" Id="R3dcdb0b04c1548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fa753f173ff4057" /><Relationship Type="http://schemas.openxmlformats.org/officeDocument/2006/relationships/notesSlide" Target="/ppt/notesSlides/notesSlide8.xml" Id="R77017acb5bb543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3541843060849c8" /><Relationship Type="http://schemas.openxmlformats.org/officeDocument/2006/relationships/notesSlide" Target="/ppt/notesSlides/notesSlide9.xml" Id="R62f5ca25569547a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bef34f88ab7406d" /><Relationship Type="http://schemas.openxmlformats.org/officeDocument/2006/relationships/notesSlide" Target="/ppt/notesSlides/notesSlide10.xml" Id="R6242eb22cd644777" /></Relationships>
</file>

<file path=ppt/slides/slide1.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70C244D-8589-4867-95E9-1C87A0CBE00D}"/>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AI Security Lab</a:t>
            </a:r>
          </a:p>
        </p:txBody>
      </p:sp>
      <p:sp>
        <p:nvSpPr>
          <p:cNvPr id="2" name="">
            <a:extLst xmlns:a="http://schemas.openxmlformats.org/drawingml/2006/main">
              <a:ext uri="{FF2B5EF4-FFF2-40B4-BE49-F238E27FC236}">
                <a16:creationId xmlns:a16="http://schemas.microsoft.com/office/drawing/2014/main" id="{F38265C7-36B8-4014-9BC3-46A45A906C63}"/>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8318DDB5-0E14-465F-981B-78661A67F388}"/>
              </a:ext>
            </a:extLst>
          </p:cNvPr>
          <p:cNvSpPr>
            <a:spLocks xmlns:a="http://schemas.openxmlformats.org/drawingml/2006/main" noGrp="1"/>
          </p:cNvSpPr>
          <p:nvPr/>
        </p:nvSpPr>
        <p:spPr>
          <a:xfrm xmlns:a="http://schemas.openxmlformats.org/drawingml/2006/main">
            <a:off x="571500" y="2095500"/>
            <a:ext cx="10096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00" b="1">
                <a:solidFill>
                  <a:srgbClr val="F3F6FA"/>
                </a:solidFill>
                <a:latin typeface="Helvetica Neue"/>
                <a:ea typeface="Helvetica Neue"/>
                <a:cs typeface="Helvetica Neue"/>
              </a:defRPr>
            </a:pPr>
            <a:r>
              <a:rPr sz="4200" b="1">
                <a:solidFill>
                  <a:srgbClr val="F3F6FA"/>
                </a:solidFill>
                <a:latin typeface="Helvetica Neue"/>
                <a:ea typeface="Helvetica Neue"/>
                <a:cs typeface="Helvetica Neue"/>
              </a:rPr>
              <a:t>Minimal architecture and corporate WAF testing</a:t>
            </a:r>
          </a:p>
        </p:txBody>
      </p:sp>
      <p:sp>
        <p:nvSpPr>
          <p:cNvPr id="4" name="">
            <a:extLst xmlns:a="http://schemas.openxmlformats.org/drawingml/2006/main">
              <a:ext uri="{FF2B5EF4-FFF2-40B4-BE49-F238E27FC236}">
                <a16:creationId xmlns:a16="http://schemas.microsoft.com/office/drawing/2014/main" id="{2AAC4BEC-3623-47E2-8CDD-73E71537EE47}"/>
              </a:ext>
            </a:extLst>
          </p:cNvPr>
          <p:cNvSpPr>
            <a:spLocks xmlns:a="http://schemas.openxmlformats.org/drawingml/2006/main" noGrp="1"/>
          </p:cNvSpPr>
          <p:nvPr/>
        </p:nvSpPr>
        <p:spPr>
          <a:xfrm xmlns:a="http://schemas.openxmlformats.org/drawingml/2006/main">
            <a:off x="571500" y="4029075"/>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5EE3EE"/>
                </a:solidFill>
                <a:latin typeface="Helvetica Neue"/>
                <a:ea typeface="Helvetica Neue"/>
                <a:cs typeface="Helvetica Neue"/>
              </a:defRPr>
            </a:pPr>
            <a:r>
              <a:rPr sz="2400" b="0">
                <a:solidFill>
                  <a:srgbClr val="5EE3EE"/>
                </a:solidFill>
                <a:latin typeface="Helvetica Neue"/>
                <a:ea typeface="Helvetica Neue"/>
                <a:cs typeface="Helvetica Neue"/>
              </a:rPr>
              <a:t>Two operators. One dedicated lab computer.</a:t>
            </a:r>
          </a:p>
        </p:txBody>
      </p:sp>
      <p:sp>
        <p:nvSpPr>
          <p:cNvPr id="5" name="">
            <a:extLst xmlns:a="http://schemas.openxmlformats.org/drawingml/2006/main">
              <a:ext uri="{FF2B5EF4-FFF2-40B4-BE49-F238E27FC236}">
                <a16:creationId xmlns:a16="http://schemas.microsoft.com/office/drawing/2014/main" id="{08829FB8-B0D2-4A7B-9C7B-EF775D47577E}"/>
              </a:ext>
            </a:extLst>
          </p:cNvPr>
          <p:cNvSpPr>
            <a:spLocks xmlns:a="http://schemas.openxmlformats.org/drawingml/2006/main" noGrp="1"/>
          </p:cNvSpPr>
          <p:nvPr/>
        </p:nvSpPr>
        <p:spPr>
          <a:xfrm xmlns:a="http://schemas.openxmlformats.org/drawingml/2006/main">
            <a:off x="571500" y="5286375"/>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B7C5D7"/>
                </a:solidFill>
                <a:latin typeface="Helvetica Neue"/>
                <a:ea typeface="Helvetica Neue"/>
                <a:cs typeface="Helvetica Neue"/>
              </a:defRPr>
            </a:pPr>
            <a:r>
              <a:rPr sz="1875" b="0">
                <a:solidFill>
                  <a:srgbClr val="B7C5D7"/>
                </a:solidFill>
                <a:latin typeface="Helvetica Neue"/>
                <a:ea typeface="Helvetica Neue"/>
                <a:cs typeface="Helvetica Neue"/>
              </a:rPr>
              <a:t>Proposed design</a:t>
            </a:r>
          </a:p>
          <a:p xmlns:a="http://schemas.openxmlformats.org/drawingml/2006/main">
            <a:pPr>
              <a:defRPr sz="1875" b="0">
                <a:solidFill>
                  <a:srgbClr val="B7C5D7"/>
                </a:solidFill>
                <a:latin typeface="Helvetica Neue"/>
                <a:ea typeface="Helvetica Neue"/>
                <a:cs typeface="Helvetica Neue"/>
              </a:defRPr>
            </a:pPr>
            <a:r>
              <a:rPr sz="1875" b="0">
                <a:solidFill>
                  <a:srgbClr val="B7C5D7"/>
                </a:solidFill>
                <a:latin typeface="Helvetica Neue"/>
                <a:ea typeface="Helvetica Neue"/>
                <a:cs typeface="Helvetica Neue"/>
              </a:rPr>
              <a:t>4 October 2026</a:t>
            </a:r>
          </a:p>
        </p:txBody>
      </p:sp>
    </p:spTree>
    <p:extLst>
      <p:ext uri="{BB962C8B-B14F-4D97-AF65-F5344CB8AC3E}">
        <p14:creationId xmlns:p14="http://schemas.microsoft.com/office/powerpoint/2010/main" val="1675457614"/>
      </p:ext>
    </p:extLst>
  </p:cSld>
</p:sld>
</file>

<file path=ppt/slides/slide2.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BBF9380-604C-440F-BA74-8D9D3B2F669C}"/>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Purpose and operating model</a:t>
            </a:r>
          </a:p>
        </p:txBody>
      </p:sp>
      <p:sp>
        <p:nvSpPr>
          <p:cNvPr id="2" name="">
            <a:extLst xmlns:a="http://schemas.openxmlformats.org/drawingml/2006/main">
              <a:ext uri="{FF2B5EF4-FFF2-40B4-BE49-F238E27FC236}">
                <a16:creationId xmlns:a16="http://schemas.microsoft.com/office/drawing/2014/main" id="{881AFAAD-9E19-4D58-8193-A917363113E5}"/>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1874C56D-1911-4390-9792-80AD61209539}"/>
              </a:ext>
            </a:extLst>
          </p:cNvPr>
          <p:cNvSpPr>
            <a:spLocks xmlns:a="http://schemas.openxmlformats.org/drawingml/2006/main" noGrp="1"/>
          </p:cNvSpPr>
          <p:nvPr/>
        </p:nvSpPr>
        <p:spPr>
          <a:xfrm xmlns:a="http://schemas.openxmlformats.org/drawingml/2006/main">
            <a:off x="571500" y="16192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Local AI lab</a:t>
            </a:r>
          </a:p>
        </p:txBody>
      </p:sp>
      <p:sp>
        <p:nvSpPr>
          <p:cNvPr id="4" name="">
            <a:extLst xmlns:a="http://schemas.openxmlformats.org/drawingml/2006/main">
              <a:ext uri="{FF2B5EF4-FFF2-40B4-BE49-F238E27FC236}">
                <a16:creationId xmlns:a16="http://schemas.microsoft.com/office/drawing/2014/main" id="{8EE41B11-DF22-4653-8409-E064D1FEF6C0}"/>
              </a:ext>
            </a:extLst>
          </p:cNvPr>
          <p:cNvSpPr>
            <a:spLocks xmlns:a="http://schemas.openxmlformats.org/drawingml/2006/main" noGrp="1"/>
          </p:cNvSpPr>
          <p:nvPr/>
        </p:nvSpPr>
        <p:spPr>
          <a:xfrm xmlns:a="http://schemas.openxmlformats.org/drawingml/2006/main">
            <a:off x="4000500" y="16192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Calibrate models and tools against synthetic cases with known outcomes.</a:t>
            </a:r>
          </a:p>
        </p:txBody>
      </p:sp>
      <p:sp>
        <p:nvSpPr>
          <p:cNvPr id="5" name="">
            <a:extLst xmlns:a="http://schemas.openxmlformats.org/drawingml/2006/main">
              <a:ext uri="{FF2B5EF4-FFF2-40B4-BE49-F238E27FC236}">
                <a16:creationId xmlns:a16="http://schemas.microsoft.com/office/drawing/2014/main" id="{6343BC3D-64DD-4AB6-B37D-5D8106CA0611}"/>
              </a:ext>
            </a:extLst>
          </p:cNvPr>
          <p:cNvSpPr>
            <a:spLocks xmlns:a="http://schemas.openxmlformats.org/drawingml/2006/main" noGrp="1"/>
          </p:cNvSpPr>
          <p:nvPr/>
        </p:nvSpPr>
        <p:spPr>
          <a:xfrm xmlns:a="http://schemas.openxmlformats.org/drawingml/2006/main">
            <a:off x="571500" y="29527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Corporate WAF assessment</a:t>
            </a:r>
          </a:p>
        </p:txBody>
      </p:sp>
      <p:sp>
        <p:nvSpPr>
          <p:cNvPr id="6" name="">
            <a:extLst xmlns:a="http://schemas.openxmlformats.org/drawingml/2006/main">
              <a:ext uri="{FF2B5EF4-FFF2-40B4-BE49-F238E27FC236}">
                <a16:creationId xmlns:a16="http://schemas.microsoft.com/office/drawing/2014/main" id="{175F1F98-4488-4FCE-B459-C4CC11B921C0}"/>
              </a:ext>
            </a:extLst>
          </p:cNvPr>
          <p:cNvSpPr>
            <a:spLocks xmlns:a="http://schemas.openxmlformats.org/drawingml/2006/main" noGrp="1"/>
          </p:cNvSpPr>
          <p:nvPr/>
        </p:nvSpPr>
        <p:spPr>
          <a:xfrm xmlns:a="http://schemas.openxmlformats.org/drawingml/2006/main">
            <a:off x="4000500" y="29527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Test approved website routes and review WAF decisions with application evidence.</a:t>
            </a:r>
          </a:p>
        </p:txBody>
      </p:sp>
      <p:sp>
        <p:nvSpPr>
          <p:cNvPr id="7" name="">
            <a:extLst xmlns:a="http://schemas.openxmlformats.org/drawingml/2006/main">
              <a:ext uri="{FF2B5EF4-FFF2-40B4-BE49-F238E27FC236}">
                <a16:creationId xmlns:a16="http://schemas.microsoft.com/office/drawing/2014/main" id="{A887D20E-EA31-4529-8F85-7DA595A8C6E6}"/>
              </a:ext>
            </a:extLst>
          </p:cNvPr>
          <p:cNvSpPr>
            <a:spLocks xmlns:a="http://schemas.openxmlformats.org/drawingml/2006/main" noGrp="1"/>
          </p:cNvSpPr>
          <p:nvPr/>
        </p:nvSpPr>
        <p:spPr>
          <a:xfrm xmlns:a="http://schemas.openxmlformats.org/drawingml/2006/main">
            <a:off x="571500" y="42862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Two operators</a:t>
            </a:r>
          </a:p>
        </p:txBody>
      </p:sp>
      <p:sp>
        <p:nvSpPr>
          <p:cNvPr id="8" name="">
            <a:extLst xmlns:a="http://schemas.openxmlformats.org/drawingml/2006/main">
              <a:ext uri="{FF2B5EF4-FFF2-40B4-BE49-F238E27FC236}">
                <a16:creationId xmlns:a16="http://schemas.microsoft.com/office/drawing/2014/main" id="{1B31F448-961E-4207-A18D-B7CC7B59850C}"/>
              </a:ext>
            </a:extLst>
          </p:cNvPr>
          <p:cNvSpPr>
            <a:spLocks xmlns:a="http://schemas.openxmlformats.org/drawingml/2006/main" noGrp="1"/>
          </p:cNvSpPr>
          <p:nvPr/>
        </p:nvSpPr>
        <p:spPr>
          <a:xfrm xmlns:a="http://schemas.openxmlformats.org/drawingml/2006/main">
            <a:off x="4000500" y="42862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One prepares and runs the campaign. The other reviews scope and findings.</a:t>
            </a:r>
          </a:p>
        </p:txBody>
      </p:sp>
      <p:sp>
        <p:nvSpPr>
          <p:cNvPr id="9" name="">
            <a:extLst xmlns:a="http://schemas.openxmlformats.org/drawingml/2006/main">
              <a:ext uri="{FF2B5EF4-FFF2-40B4-BE49-F238E27FC236}">
                <a16:creationId xmlns:a16="http://schemas.microsoft.com/office/drawing/2014/main" id="{78A624A2-DD6A-4156-96EF-64E2700FA12E}"/>
              </a:ext>
            </a:extLst>
          </p:cNvPr>
          <p:cNvSpPr>
            <a:spLocks xmlns:a="http://schemas.openxmlformats.org/drawingml/2006/main" noGrp="1"/>
          </p:cNvSpPr>
          <p:nvPr/>
        </p:nvSpPr>
        <p:spPr>
          <a:xfrm xmlns:a="http://schemas.openxmlformats.org/drawingml/2006/main">
            <a:off x="571500" y="58102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FFD080"/>
                </a:solidFill>
                <a:latin typeface="Helvetica Neue"/>
                <a:ea typeface="Helvetica Neue"/>
                <a:cs typeface="Helvetica Neue"/>
              </a:defRPr>
            </a:pPr>
            <a:r>
              <a:rPr sz="2100" b="0">
                <a:solidFill>
                  <a:srgbClr val="FFD080"/>
                </a:solidFill>
                <a:latin typeface="Helvetica Neue"/>
                <a:ea typeface="Helvetica Neue"/>
                <a:cs typeface="Helvetica Neue"/>
              </a:rPr>
              <a:t>Both goals still require operational acceptance.</a:t>
            </a:r>
          </a:p>
        </p:txBody>
      </p:sp>
    </p:spTree>
    <p:extLst>
      <p:ext uri="{BB962C8B-B14F-4D97-AF65-F5344CB8AC3E}">
        <p14:creationId xmlns:p14="http://schemas.microsoft.com/office/powerpoint/2010/main" val="210333948"/>
      </p:ext>
    </p:extLst>
  </p:cSld>
</p:sld>
</file>

<file path=ppt/slides/slide3.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8CF0F9C-336A-4CCF-9E0F-275D766095F1}"/>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Consolidated architecture</a:t>
            </a:r>
          </a:p>
        </p:txBody>
      </p:sp>
      <p:sp>
        <p:nvSpPr>
          <p:cNvPr id="2" name="">
            <a:extLst xmlns:a="http://schemas.openxmlformats.org/drawingml/2006/main">
              <a:ext uri="{FF2B5EF4-FFF2-40B4-BE49-F238E27FC236}">
                <a16:creationId xmlns:a16="http://schemas.microsoft.com/office/drawing/2014/main" id="{7939401E-EE07-4CCB-8397-3E148D04E5DC}"/>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084184A5-C5E8-4993-998B-295A6682A2D2}"/>
              </a:ext>
            </a:extLst>
          </p:cNvPr>
          <p:cNvSpPr>
            <a:spLocks xmlns:a="http://schemas.openxmlformats.org/drawingml/2006/main" noGrp="1"/>
          </p:cNvSpPr>
          <p:nvPr/>
        </p:nvSpPr>
        <p:spPr>
          <a:xfrm xmlns:a="http://schemas.openxmlformats.org/drawingml/2006/main">
            <a:off x="333375" y="2952750"/>
            <a:ext cx="1809750" cy="78105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Dashboard</a:t>
            </a:r>
          </a:p>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and CLI</a:t>
            </a:r>
          </a:p>
        </p:txBody>
      </p:sp>
      <p:sp>
        <p:nvSpPr>
          <p:cNvPr id="4" name="">
            <a:extLst xmlns:a="http://schemas.openxmlformats.org/drawingml/2006/main">
              <a:ext uri="{FF2B5EF4-FFF2-40B4-BE49-F238E27FC236}">
                <a16:creationId xmlns:a16="http://schemas.microsoft.com/office/drawing/2014/main" id="{98E1F6F2-1DDC-4BC7-982D-5022F54E0184}"/>
              </a:ext>
            </a:extLst>
          </p:cNvPr>
          <p:cNvSpPr>
            <a:spLocks xmlns:a="http://schemas.openxmlformats.org/drawingml/2006/main" noGrp="1"/>
          </p:cNvSpPr>
          <p:nvPr/>
        </p:nvSpPr>
        <p:spPr>
          <a:xfrm xmlns:a="http://schemas.openxmlformats.org/drawingml/2006/main">
            <a:off x="2667000" y="2952750"/>
            <a:ext cx="1809750" cy="78105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Run engine</a:t>
            </a:r>
          </a:p>
        </p:txBody>
      </p:sp>
      <p:sp>
        <p:nvSpPr>
          <p:cNvPr id="5" name="">
            <a:extLst xmlns:a="http://schemas.openxmlformats.org/drawingml/2006/main">
              <a:ext uri="{FF2B5EF4-FFF2-40B4-BE49-F238E27FC236}">
                <a16:creationId xmlns:a16="http://schemas.microsoft.com/office/drawing/2014/main" id="{BDF6F312-C50C-4E9C-ADD3-809C02CAC372}"/>
              </a:ext>
            </a:extLst>
          </p:cNvPr>
          <p:cNvSpPr>
            <a:spLocks xmlns:a="http://schemas.openxmlformats.org/drawingml/2006/main" noGrp="1"/>
          </p:cNvSpPr>
          <p:nvPr/>
        </p:nvSpPr>
        <p:spPr>
          <a:xfrm xmlns:a="http://schemas.openxmlformats.org/drawingml/2006/main">
            <a:off x="5000625" y="2952750"/>
            <a:ext cx="1809750" cy="781050"/>
          </a:xfrm>
          <a:prstGeom xmlns:a="http://schemas.openxmlformats.org/drawingml/2006/main" prst="rect">
            <a:avLst/>
          </a:prstGeom>
          <a:solidFill xmlns:a="http://schemas.openxmlformats.org/drawingml/2006/main">
            <a:srgbClr val="142236"/>
          </a:solidFill>
          <a:ln xmlns:a="http://schemas.openxmlformats.org/drawingml/2006/main" w="19050">
            <a:solidFill>
              <a:srgbClr val="85E7B5"/>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Tool runner</a:t>
            </a:r>
          </a:p>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Disposable VM</a:t>
            </a:r>
          </a:p>
        </p:txBody>
      </p:sp>
      <p:sp>
        <p:nvSpPr>
          <p:cNvPr id="6" name="">
            <a:extLst xmlns:a="http://schemas.openxmlformats.org/drawingml/2006/main">
              <a:ext uri="{FF2B5EF4-FFF2-40B4-BE49-F238E27FC236}">
                <a16:creationId xmlns:a16="http://schemas.microsoft.com/office/drawing/2014/main" id="{930BAE8D-283E-4BFD-B7F5-4A5FE9C55689}"/>
              </a:ext>
            </a:extLst>
          </p:cNvPr>
          <p:cNvSpPr>
            <a:spLocks xmlns:a="http://schemas.openxmlformats.org/drawingml/2006/main" noGrp="1"/>
          </p:cNvSpPr>
          <p:nvPr/>
        </p:nvSpPr>
        <p:spPr>
          <a:xfrm xmlns:a="http://schemas.openxmlformats.org/drawingml/2006/main">
            <a:off x="7334250" y="2952750"/>
            <a:ext cx="1809750" cy="781050"/>
          </a:xfrm>
          <a:prstGeom xmlns:a="http://schemas.openxmlformats.org/drawingml/2006/main" prst="rect">
            <a:avLst/>
          </a:prstGeom>
          <a:solidFill xmlns:a="http://schemas.openxmlformats.org/drawingml/2006/main">
            <a:srgbClr val="142236"/>
          </a:solidFill>
          <a:ln xmlns:a="http://schemas.openxmlformats.org/drawingml/2006/main" w="19050">
            <a:solidFill>
              <a:srgbClr val="FFD080"/>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Corporate</a:t>
            </a:r>
          </a:p>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WAF</a:t>
            </a:r>
          </a:p>
        </p:txBody>
      </p:sp>
      <p:sp>
        <p:nvSpPr>
          <p:cNvPr id="7" name="">
            <a:extLst xmlns:a="http://schemas.openxmlformats.org/drawingml/2006/main">
              <a:ext uri="{FF2B5EF4-FFF2-40B4-BE49-F238E27FC236}">
                <a16:creationId xmlns:a16="http://schemas.microsoft.com/office/drawing/2014/main" id="{E4284213-3B6B-400C-BEDE-B39E4C3CD08D}"/>
              </a:ext>
            </a:extLst>
          </p:cNvPr>
          <p:cNvSpPr>
            <a:spLocks xmlns:a="http://schemas.openxmlformats.org/drawingml/2006/main" noGrp="1"/>
          </p:cNvSpPr>
          <p:nvPr/>
        </p:nvSpPr>
        <p:spPr>
          <a:xfrm xmlns:a="http://schemas.openxmlformats.org/drawingml/2006/main">
            <a:off x="9667875" y="2952750"/>
            <a:ext cx="1809750" cy="781050"/>
          </a:xfrm>
          <a:prstGeom xmlns:a="http://schemas.openxmlformats.org/drawingml/2006/main" prst="rect">
            <a:avLst/>
          </a:prstGeom>
          <a:solidFill xmlns:a="http://schemas.openxmlformats.org/drawingml/2006/main">
            <a:srgbClr val="142236"/>
          </a:solidFill>
          <a:ln xmlns:a="http://schemas.openxmlformats.org/drawingml/2006/main" w="19050">
            <a:solidFill>
              <a:srgbClr val="FFD080"/>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Website</a:t>
            </a:r>
          </a:p>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and APIs</a:t>
            </a:r>
          </a:p>
        </p:txBody>
      </p:sp>
      <p:cxnSp>
        <p:nvCxnSpPr>
          <p:cNvPr id="36" name=""/>
          <p:cNvCxnSpPr>
            <a:stCxn xmlns:a="http://schemas.openxmlformats.org/drawingml/2006/main" id="3" idx="3"/>
            <a:endCxn xmlns:a="http://schemas.openxmlformats.org/drawingml/2006/main" id="4" idx="1"/>
          </p:cNvCxnSpPr>
          <p:nvPr/>
        </p:nvCxnSpPr>
        <p:spPr>
          <a:xfrm xmlns:a="http://schemas.openxmlformats.org/drawingml/2006/main">
            <a:off x="2143125" y="3343275"/>
            <a:ext cx="523875" cy="0"/>
          </a:xfrm>
          <a:prstGeom xmlns:a="http://schemas.openxmlformats.org/drawingml/2006/main" prst="straightConnector1">
            <a:avLst/>
          </a:prstGeom>
          <a:ln xmlns:a="http://schemas.openxmlformats.org/drawingml/2006/main" w="19050">
            <a:solidFill>
              <a:srgbClr val="5D718A"/>
            </a:solidFill>
            <a:tailEnd type="triangle" w="sm" len="sm"/>
          </a:ln>
        </p:spPr>
      </p:cxnSp>
      <p:cxnSp>
        <p:nvCxnSpPr>
          <p:cNvPr id="37" name=""/>
          <p:cNvCxnSpPr>
            <a:stCxn xmlns:a="http://schemas.openxmlformats.org/drawingml/2006/main" id="4" idx="3"/>
            <a:endCxn xmlns:a="http://schemas.openxmlformats.org/drawingml/2006/main" id="5" idx="1"/>
          </p:cNvCxnSpPr>
          <p:nvPr/>
        </p:nvCxnSpPr>
        <p:spPr>
          <a:xfrm xmlns:a="http://schemas.openxmlformats.org/drawingml/2006/main">
            <a:off x="4476750" y="3343275"/>
            <a:ext cx="523875" cy="0"/>
          </a:xfrm>
          <a:prstGeom xmlns:a="http://schemas.openxmlformats.org/drawingml/2006/main" prst="straightConnector1">
            <a:avLst/>
          </a:prstGeom>
          <a:ln xmlns:a="http://schemas.openxmlformats.org/drawingml/2006/main" w="19050">
            <a:solidFill>
              <a:srgbClr val="5D718A"/>
            </a:solidFill>
            <a:tailEnd type="triangle" w="sm" len="sm"/>
          </a:ln>
        </p:spPr>
      </p:cxnSp>
      <p:cxnSp>
        <p:nvCxnSpPr>
          <p:cNvPr id="38" name=""/>
          <p:cNvCxnSpPr>
            <a:stCxn xmlns:a="http://schemas.openxmlformats.org/drawingml/2006/main" id="5" idx="3"/>
            <a:endCxn xmlns:a="http://schemas.openxmlformats.org/drawingml/2006/main" id="6" idx="1"/>
          </p:cNvCxnSpPr>
          <p:nvPr/>
        </p:nvCxnSpPr>
        <p:spPr>
          <a:xfrm xmlns:a="http://schemas.openxmlformats.org/drawingml/2006/main">
            <a:off x="6810375" y="3343275"/>
            <a:ext cx="523875" cy="0"/>
          </a:xfrm>
          <a:prstGeom xmlns:a="http://schemas.openxmlformats.org/drawingml/2006/main" prst="straightConnector1">
            <a:avLst/>
          </a:prstGeom>
          <a:ln xmlns:a="http://schemas.openxmlformats.org/drawingml/2006/main" w="19050">
            <a:solidFill>
              <a:srgbClr val="5D718A"/>
            </a:solidFill>
            <a:tailEnd type="triangle" w="sm" len="sm"/>
          </a:ln>
        </p:spPr>
      </p:cxnSp>
      <p:cxnSp>
        <p:nvCxnSpPr>
          <p:cNvPr id="39" name=""/>
          <p:cNvCxnSpPr>
            <a:stCxn xmlns:a="http://schemas.openxmlformats.org/drawingml/2006/main" id="6" idx="3"/>
            <a:endCxn xmlns:a="http://schemas.openxmlformats.org/drawingml/2006/main" id="7" idx="1"/>
          </p:cNvCxnSpPr>
          <p:nvPr/>
        </p:nvCxnSpPr>
        <p:spPr>
          <a:xfrm xmlns:a="http://schemas.openxmlformats.org/drawingml/2006/main">
            <a:off x="9144000" y="3343275"/>
            <a:ext cx="523875" cy="0"/>
          </a:xfrm>
          <a:prstGeom xmlns:a="http://schemas.openxmlformats.org/drawingml/2006/main" prst="straightConnector1">
            <a:avLst/>
          </a:prstGeom>
          <a:ln xmlns:a="http://schemas.openxmlformats.org/drawingml/2006/main" w="19050">
            <a:solidFill>
              <a:srgbClr val="5D718A"/>
            </a:solidFill>
            <a:tailEnd type="triangle" w="sm" len="sm"/>
          </a:ln>
        </p:spPr>
      </p:cxnSp>
      <p:sp>
        <p:nvSpPr>
          <p:cNvPr id="12" name="">
            <a:extLst xmlns:a="http://schemas.openxmlformats.org/drawingml/2006/main">
              <a:ext uri="{FF2B5EF4-FFF2-40B4-BE49-F238E27FC236}">
                <a16:creationId xmlns:a16="http://schemas.microsoft.com/office/drawing/2014/main" id="{D4015756-E10B-480E-A773-DF0A9BF3C786}"/>
              </a:ext>
            </a:extLst>
          </p:cNvPr>
          <p:cNvSpPr>
            <a:spLocks xmlns:a="http://schemas.openxmlformats.org/drawingml/2006/main" noGrp="1"/>
          </p:cNvSpPr>
          <p:nvPr/>
        </p:nvSpPr>
        <p:spPr>
          <a:xfrm xmlns:a="http://schemas.openxmlformats.org/drawingml/2006/main">
            <a:off x="2667000" y="1476375"/>
            <a:ext cx="1809750" cy="781050"/>
          </a:xfrm>
          <a:prstGeom xmlns:a="http://schemas.openxmlformats.org/drawingml/2006/main" prst="rect">
            <a:avLst/>
          </a:prstGeom>
          <a:solidFill xmlns:a="http://schemas.openxmlformats.org/drawingml/2006/main">
            <a:srgbClr val="142236"/>
          </a:solidFill>
          <a:ln xmlns:a="http://schemas.openxmlformats.org/drawingml/2006/main" w="19050">
            <a:solidFill>
              <a:srgbClr val="BEAAFF"/>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SQLite</a:t>
            </a:r>
          </a:p>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run index</a:t>
            </a:r>
          </a:p>
        </p:txBody>
      </p:sp>
      <p:sp>
        <p:nvSpPr>
          <p:cNvPr id="13" name="">
            <a:extLst xmlns:a="http://schemas.openxmlformats.org/drawingml/2006/main">
              <a:ext uri="{FF2B5EF4-FFF2-40B4-BE49-F238E27FC236}">
                <a16:creationId xmlns:a16="http://schemas.microsoft.com/office/drawing/2014/main" id="{3A4C1791-CAB3-4C6F-ACE1-449C5B4BB3DF}"/>
              </a:ext>
            </a:extLst>
          </p:cNvPr>
          <p:cNvSpPr>
            <a:spLocks xmlns:a="http://schemas.openxmlformats.org/drawingml/2006/main" noGrp="1"/>
          </p:cNvSpPr>
          <p:nvPr/>
        </p:nvSpPr>
        <p:spPr>
          <a:xfrm xmlns:a="http://schemas.openxmlformats.org/drawingml/2006/main">
            <a:off x="5000625" y="1476375"/>
            <a:ext cx="1809750" cy="781050"/>
          </a:xfrm>
          <a:prstGeom xmlns:a="http://schemas.openxmlformats.org/drawingml/2006/main" prst="rect">
            <a:avLst/>
          </a:prstGeom>
          <a:solidFill xmlns:a="http://schemas.openxmlformats.org/drawingml/2006/main">
            <a:srgbClr val="142236"/>
          </a:solidFill>
          <a:ln xmlns:a="http://schemas.openxmlformats.org/drawingml/2006/main" w="19050">
            <a:solidFill>
              <a:srgbClr val="BEAAFF"/>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Evidence</a:t>
            </a:r>
          </a:p>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folders</a:t>
            </a:r>
          </a:p>
        </p:txBody>
      </p:sp>
      <p:cxnSp>
        <p:nvCxnSpPr>
          <p:cNvPr id="42" name=""/>
          <p:cNvCxnSpPr>
            <a:stCxn xmlns:a="http://schemas.openxmlformats.org/drawingml/2006/main" id="4" idx="0"/>
            <a:endCxn xmlns:a="http://schemas.openxmlformats.org/drawingml/2006/main" id="12" idx="2"/>
          </p:cNvCxnSpPr>
          <p:nvPr/>
        </p:nvCxnSpPr>
        <p:spPr>
          <a:xfrm xmlns:a="http://schemas.openxmlformats.org/drawingml/2006/main" flipV="1">
            <a:off x="3571875" y="2257425"/>
            <a:ext cx="0" cy="695325"/>
          </a:xfrm>
          <a:prstGeom xmlns:a="http://schemas.openxmlformats.org/drawingml/2006/main" prst="straightConnector1">
            <a:avLst/>
          </a:prstGeom>
          <a:ln xmlns:a="http://schemas.openxmlformats.org/drawingml/2006/main" w="19050">
            <a:solidFill>
              <a:srgbClr val="5D718A"/>
            </a:solidFill>
            <a:tailEnd type="triangle" w="sm" len="sm"/>
          </a:ln>
        </p:spPr>
      </p:cxnSp>
      <p:cxnSp>
        <p:nvCxnSpPr>
          <p:cNvPr id="43" name=""/>
          <p:cNvCxnSpPr>
            <a:stCxn xmlns:a="http://schemas.openxmlformats.org/drawingml/2006/main" id="5" idx="0"/>
            <a:endCxn xmlns:a="http://schemas.openxmlformats.org/drawingml/2006/main" id="13" idx="2"/>
          </p:cNvCxnSpPr>
          <p:nvPr/>
        </p:nvCxnSpPr>
        <p:spPr>
          <a:xfrm xmlns:a="http://schemas.openxmlformats.org/drawingml/2006/main" flipV="1">
            <a:off x="5905500" y="2257425"/>
            <a:ext cx="0" cy="695325"/>
          </a:xfrm>
          <a:prstGeom xmlns:a="http://schemas.openxmlformats.org/drawingml/2006/main" prst="straightConnector1">
            <a:avLst/>
          </a:prstGeom>
          <a:ln xmlns:a="http://schemas.openxmlformats.org/drawingml/2006/main" w="19050">
            <a:solidFill>
              <a:srgbClr val="5D718A"/>
            </a:solidFill>
            <a:tailEnd type="triangle" w="sm" len="sm"/>
          </a:ln>
        </p:spPr>
      </p:cxnSp>
      <p:sp>
        <p:nvSpPr>
          <p:cNvPr id="16" name="">
            <a:extLst xmlns:a="http://schemas.openxmlformats.org/drawingml/2006/main">
              <a:ext uri="{FF2B5EF4-FFF2-40B4-BE49-F238E27FC236}">
                <a16:creationId xmlns:a16="http://schemas.microsoft.com/office/drawing/2014/main" id="{26DB61EE-DB2C-4925-AB2B-D4EB09B965CC}"/>
              </a:ext>
            </a:extLst>
          </p:cNvPr>
          <p:cNvSpPr>
            <a:spLocks xmlns:a="http://schemas.openxmlformats.org/drawingml/2006/main" noGrp="1"/>
          </p:cNvSpPr>
          <p:nvPr/>
        </p:nvSpPr>
        <p:spPr>
          <a:xfrm xmlns:a="http://schemas.openxmlformats.org/drawingml/2006/main">
            <a:off x="2667000" y="4714875"/>
            <a:ext cx="1809750" cy="78105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Model access</a:t>
            </a:r>
          </a:p>
        </p:txBody>
      </p:sp>
      <p:sp>
        <p:nvSpPr>
          <p:cNvPr id="17" name="">
            <a:extLst xmlns:a="http://schemas.openxmlformats.org/drawingml/2006/main">
              <a:ext uri="{FF2B5EF4-FFF2-40B4-BE49-F238E27FC236}">
                <a16:creationId xmlns:a16="http://schemas.microsoft.com/office/drawing/2014/main" id="{225A9381-14B9-4FA9-8430-40A393462049}"/>
              </a:ext>
            </a:extLst>
          </p:cNvPr>
          <p:cNvSpPr>
            <a:spLocks xmlns:a="http://schemas.openxmlformats.org/drawingml/2006/main" noGrp="1"/>
          </p:cNvSpPr>
          <p:nvPr/>
        </p:nvSpPr>
        <p:spPr>
          <a:xfrm xmlns:a="http://schemas.openxmlformats.org/drawingml/2006/main">
            <a:off x="5000625" y="4714875"/>
            <a:ext cx="1809750" cy="781050"/>
          </a:xfrm>
          <a:prstGeom xmlns:a="http://schemas.openxmlformats.org/drawingml/2006/main" prst="rect">
            <a:avLst/>
          </a:prstGeom>
          <a:solidFill xmlns:a="http://schemas.openxmlformats.org/drawingml/2006/main">
            <a:srgbClr val="142236"/>
          </a:solidFill>
          <a:ln xmlns:a="http://schemas.openxmlformats.org/drawingml/2006/main" w="19050">
            <a:solidFill>
              <a:srgbClr val="85E7B5"/>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Local open</a:t>
            </a:r>
          </a:p>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weights</a:t>
            </a:r>
          </a:p>
        </p:txBody>
      </p:sp>
      <p:sp>
        <p:nvSpPr>
          <p:cNvPr id="18" name="">
            <a:extLst xmlns:a="http://schemas.openxmlformats.org/drawingml/2006/main">
              <a:ext uri="{FF2B5EF4-FFF2-40B4-BE49-F238E27FC236}">
                <a16:creationId xmlns:a16="http://schemas.microsoft.com/office/drawing/2014/main" id="{5337B715-915A-4C33-A3E6-6D6683E9B833}"/>
              </a:ext>
            </a:extLst>
          </p:cNvPr>
          <p:cNvSpPr>
            <a:spLocks xmlns:a="http://schemas.openxmlformats.org/drawingml/2006/main" noGrp="1"/>
          </p:cNvSpPr>
          <p:nvPr/>
        </p:nvSpPr>
        <p:spPr>
          <a:xfrm xmlns:a="http://schemas.openxmlformats.org/drawingml/2006/main">
            <a:off x="7334250" y="4714875"/>
            <a:ext cx="1809750" cy="781050"/>
          </a:xfrm>
          <a:prstGeom xmlns:a="http://schemas.openxmlformats.org/drawingml/2006/main" prst="rect">
            <a:avLst/>
          </a:prstGeom>
          <a:solidFill xmlns:a="http://schemas.openxmlformats.org/drawingml/2006/main">
            <a:srgbClr val="142236"/>
          </a:solidFill>
          <a:ln xmlns:a="http://schemas.openxmlformats.org/drawingml/2006/main" w="19050">
            <a:solidFill>
              <a:srgbClr val="BEAAFF"/>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Grok 3.7</a:t>
            </a:r>
          </a:p>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Cyber API</a:t>
            </a:r>
          </a:p>
        </p:txBody>
      </p:sp>
      <p:sp>
        <p:nvSpPr>
          <p:cNvPr id="19" name="">
            <a:extLst xmlns:a="http://schemas.openxmlformats.org/drawingml/2006/main">
              <a:ext uri="{FF2B5EF4-FFF2-40B4-BE49-F238E27FC236}">
                <a16:creationId xmlns:a16="http://schemas.microsoft.com/office/drawing/2014/main" id="{6981C705-E71F-42F6-9683-5E5A8E5591B8}"/>
              </a:ext>
            </a:extLst>
          </p:cNvPr>
          <p:cNvSpPr>
            <a:spLocks xmlns:a="http://schemas.openxmlformats.org/drawingml/2006/main" noGrp="1"/>
          </p:cNvSpPr>
          <p:nvPr/>
        </p:nvSpPr>
        <p:spPr>
          <a:xfrm xmlns:a="http://schemas.openxmlformats.org/drawingml/2006/main">
            <a:off x="9667875" y="4714875"/>
            <a:ext cx="1809750" cy="781050"/>
          </a:xfrm>
          <a:prstGeom xmlns:a="http://schemas.openxmlformats.org/drawingml/2006/main" prst="rect">
            <a:avLst/>
          </a:prstGeom>
          <a:solidFill xmlns:a="http://schemas.openxmlformats.org/drawingml/2006/main">
            <a:srgbClr val="142236"/>
          </a:solidFill>
          <a:ln xmlns:a="http://schemas.openxmlformats.org/drawingml/2006/main" w="19050">
            <a:solidFill>
              <a:srgbClr val="FFD080"/>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Backend</a:t>
            </a:r>
          </a:p>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services</a:t>
            </a:r>
          </a:p>
        </p:txBody>
      </p:sp>
      <p:cxnSp>
        <p:nvCxnSpPr>
          <p:cNvPr id="48" name=""/>
          <p:cNvCxnSpPr>
            <a:stCxn xmlns:a="http://schemas.openxmlformats.org/drawingml/2006/main" id="4" idx="2"/>
            <a:endCxn xmlns:a="http://schemas.openxmlformats.org/drawingml/2006/main" id="16" idx="0"/>
          </p:cNvCxnSpPr>
          <p:nvPr/>
        </p:nvCxnSpPr>
        <p:spPr>
          <a:xfrm xmlns:a="http://schemas.openxmlformats.org/drawingml/2006/main">
            <a:off x="3571875" y="3733800"/>
            <a:ext cx="0" cy="981075"/>
          </a:xfrm>
          <a:prstGeom xmlns:a="http://schemas.openxmlformats.org/drawingml/2006/main" prst="straightConnector1">
            <a:avLst/>
          </a:prstGeom>
          <a:ln xmlns:a="http://schemas.openxmlformats.org/drawingml/2006/main" w="19050">
            <a:solidFill>
              <a:srgbClr val="5D718A"/>
            </a:solidFill>
            <a:tailEnd type="triangle" w="sm" len="sm"/>
          </a:ln>
        </p:spPr>
      </p:cxnSp>
      <p:cxnSp>
        <p:nvCxnSpPr>
          <p:cNvPr id="49" name=""/>
          <p:cNvCxnSpPr>
            <a:stCxn xmlns:a="http://schemas.openxmlformats.org/drawingml/2006/main" id="16" idx="3"/>
            <a:endCxn xmlns:a="http://schemas.openxmlformats.org/drawingml/2006/main" id="17" idx="1"/>
          </p:cNvCxnSpPr>
          <p:nvPr/>
        </p:nvCxnSpPr>
        <p:spPr>
          <a:xfrm xmlns:a="http://schemas.openxmlformats.org/drawingml/2006/main">
            <a:off x="4476750" y="5105400"/>
            <a:ext cx="523875" cy="0"/>
          </a:xfrm>
          <a:prstGeom xmlns:a="http://schemas.openxmlformats.org/drawingml/2006/main" prst="straightConnector1">
            <a:avLst/>
          </a:prstGeom>
          <a:ln xmlns:a="http://schemas.openxmlformats.org/drawingml/2006/main" w="19050">
            <a:solidFill>
              <a:srgbClr val="5D718A"/>
            </a:solidFill>
            <a:tailEnd type="triangle" w="sm" len="sm"/>
          </a:ln>
        </p:spPr>
      </p:cxnSp>
      <p:cxnSp>
        <p:nvCxnSpPr>
          <p:cNvPr id="50" name=""/>
          <p:cNvCxnSpPr>
            <a:stCxn xmlns:a="http://schemas.openxmlformats.org/drawingml/2006/main" id="7" idx="2"/>
            <a:endCxn xmlns:a="http://schemas.openxmlformats.org/drawingml/2006/main" id="19" idx="0"/>
          </p:cNvCxnSpPr>
          <p:nvPr/>
        </p:nvCxnSpPr>
        <p:spPr>
          <a:xfrm xmlns:a="http://schemas.openxmlformats.org/drawingml/2006/main">
            <a:off x="10572750" y="3733800"/>
            <a:ext cx="0" cy="981075"/>
          </a:xfrm>
          <a:prstGeom xmlns:a="http://schemas.openxmlformats.org/drawingml/2006/main" prst="straightConnector1">
            <a:avLst/>
          </a:prstGeom>
          <a:ln xmlns:a="http://schemas.openxmlformats.org/drawingml/2006/main" w="19050">
            <a:solidFill>
              <a:srgbClr val="5D718A"/>
            </a:solidFill>
            <a:tailEnd type="triangle" w="sm" len="sm"/>
          </a:ln>
        </p:spPr>
      </p:cxnSp>
      <p:sp>
        <p:nvSpPr>
          <p:cNvPr id="23" name="">
            <a:extLst xmlns:a="http://schemas.openxmlformats.org/drawingml/2006/main">
              <a:ext uri="{FF2B5EF4-FFF2-40B4-BE49-F238E27FC236}">
                <a16:creationId xmlns:a16="http://schemas.microsoft.com/office/drawing/2014/main" id="{9710B3DC-443E-486B-9AFF-3E13120AD87F}"/>
              </a:ext>
            </a:extLst>
          </p:cNvPr>
          <p:cNvSpPr>
            <a:spLocks xmlns:a="http://schemas.openxmlformats.org/drawingml/2006/main" noGrp="1"/>
          </p:cNvSpPr>
          <p:nvPr/>
        </p:nvSpPr>
        <p:spPr>
          <a:xfrm xmlns:a="http://schemas.openxmlformats.org/drawingml/2006/main">
            <a:off x="3552825" y="5934075"/>
            <a:ext cx="38100" cy="38100"/>
          </a:xfrm>
          <a:prstGeom xmlns:a="http://schemas.openxmlformats.org/drawingml/2006/main" prst="rect">
            <a:avLst/>
          </a:prstGeom>
          <a:noFill xmlns:a="http://schemas.openxmlformats.org/drawingml/2006/main"/>
          <a:ln xmlns:a="http://schemas.openxmlformats.org/drawingml/2006/main" w="0">
            <a:noFill/>
          </a:ln>
        </p:spPr>
      </p:sp>
      <p:cxnSp>
        <p:nvCxnSpPr>
          <p:cNvPr id="52" name=""/>
          <p:cNvCxnSpPr>
            <a:stCxn xmlns:a="http://schemas.openxmlformats.org/drawingml/2006/main" id="16" idx="2"/>
            <a:endCxn xmlns:a="http://schemas.openxmlformats.org/drawingml/2006/main" id="23" idx="0"/>
          </p:cNvCxnSpPr>
          <p:nvPr/>
        </p:nvCxnSpPr>
        <p:spPr>
          <a:xfrm xmlns:a="http://schemas.openxmlformats.org/drawingml/2006/main">
            <a:off x="3571875" y="5495925"/>
            <a:ext cx="0" cy="438150"/>
          </a:xfrm>
          <a:prstGeom xmlns:a="http://schemas.openxmlformats.org/drawingml/2006/main" prst="straightConnector1">
            <a:avLst/>
          </a:prstGeom>
          <a:ln xmlns:a="http://schemas.openxmlformats.org/drawingml/2006/main" w="19050">
            <a:solidFill>
              <a:srgbClr val="BEAAFF"/>
            </a:solidFill>
            <a:tailEnd type="triangle" w="sm" len="sm"/>
          </a:ln>
        </p:spPr>
      </p:cxnSp>
      <p:cxnSp>
        <p:nvCxnSpPr>
          <p:cNvPr id="53" name=""/>
          <p:cNvCxnSpPr>
            <a:stCxn xmlns:a="http://schemas.openxmlformats.org/drawingml/2006/main" id="23" idx="3"/>
            <a:endCxn xmlns:a="http://schemas.openxmlformats.org/drawingml/2006/main" id="18" idx="2"/>
          </p:cNvCxnSpPr>
          <p:nvPr/>
        </p:nvCxnSpPr>
        <p:spPr>
          <a:xfrm xmlns:a="http://schemas.openxmlformats.org/drawingml/2006/main" flipV="1">
            <a:off x="3590925" y="5495925"/>
            <a:ext cx="4648200" cy="457200"/>
          </a:xfrm>
          <a:prstGeom xmlns:a="http://schemas.openxmlformats.org/drawingml/2006/main" prst="bentConnector4">
            <a:avLst>
              <a:gd name="adj1" fmla="val 4918"/>
              <a:gd name="adj2" fmla="val 50000"/>
            </a:avLst>
          </a:prstGeom>
          <a:ln xmlns:a="http://schemas.openxmlformats.org/drawingml/2006/main" w="19050">
            <a:solidFill>
              <a:srgbClr val="BEAAFF"/>
            </a:solidFill>
            <a:tailEnd type="triangle" w="med" len="med"/>
          </a:ln>
        </p:spPr>
      </p:cxnSp>
      <p:sp>
        <p:nvSpPr>
          <p:cNvPr id="26" name="">
            <a:extLst xmlns:a="http://schemas.openxmlformats.org/drawingml/2006/main">
              <a:ext uri="{FF2B5EF4-FFF2-40B4-BE49-F238E27FC236}">
                <a16:creationId xmlns:a16="http://schemas.microsoft.com/office/drawing/2014/main" id="{EAAA2F3A-3989-4ADC-BBAC-4F124219A65E}"/>
              </a:ext>
            </a:extLst>
          </p:cNvPr>
          <p:cNvSpPr>
            <a:spLocks xmlns:a="http://schemas.openxmlformats.org/drawingml/2006/main" noGrp="1"/>
          </p:cNvSpPr>
          <p:nvPr/>
        </p:nvSpPr>
        <p:spPr>
          <a:xfrm xmlns:a="http://schemas.openxmlformats.org/drawingml/2006/main">
            <a:off x="2667000" y="114300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EE3EE"/>
                </a:solidFill>
                <a:latin typeface="Helvetica Neue"/>
                <a:ea typeface="Helvetica Neue"/>
                <a:cs typeface="Helvetica Neue"/>
              </a:defRPr>
            </a:pPr>
            <a:r>
              <a:rPr sz="1650" b="0">
                <a:solidFill>
                  <a:srgbClr val="5EE3EE"/>
                </a:solidFill>
                <a:latin typeface="Helvetica Neue"/>
                <a:ea typeface="Helvetica Neue"/>
                <a:cs typeface="Helvetica Neue"/>
              </a:rPr>
              <a:t>Lab host services</a:t>
            </a:r>
          </a:p>
        </p:txBody>
      </p:sp>
      <p:sp>
        <p:nvSpPr>
          <p:cNvPr id="27" name="">
            <a:extLst xmlns:a="http://schemas.openxmlformats.org/drawingml/2006/main">
              <a:ext uri="{FF2B5EF4-FFF2-40B4-BE49-F238E27FC236}">
                <a16:creationId xmlns:a16="http://schemas.microsoft.com/office/drawing/2014/main" id="{5AA08B98-7C80-4695-A3A4-27696C810820}"/>
              </a:ext>
            </a:extLst>
          </p:cNvPr>
          <p:cNvSpPr>
            <a:spLocks xmlns:a="http://schemas.openxmlformats.org/drawingml/2006/main" noGrp="1"/>
          </p:cNvSpPr>
          <p:nvPr/>
        </p:nvSpPr>
        <p:spPr>
          <a:xfrm xmlns:a="http://schemas.openxmlformats.org/drawingml/2006/main">
            <a:off x="7334250" y="247650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FFD080"/>
                </a:solidFill>
                <a:latin typeface="Helvetica Neue"/>
                <a:ea typeface="Helvetica Neue"/>
                <a:cs typeface="Helvetica Neue"/>
              </a:defRPr>
            </a:pPr>
            <a:r>
              <a:rPr sz="1650" b="0">
                <a:solidFill>
                  <a:srgbClr val="FFD080"/>
                </a:solidFill>
                <a:latin typeface="Helvetica Neue"/>
                <a:ea typeface="Helvetica Neue"/>
                <a:cs typeface="Helvetica Neue"/>
              </a:rPr>
              <a:t>External target</a:t>
            </a:r>
          </a:p>
        </p:txBody>
      </p:sp>
      <p:sp>
        <p:nvSpPr>
          <p:cNvPr id="28" name="">
            <a:extLst xmlns:a="http://schemas.openxmlformats.org/drawingml/2006/main">
              <a:ext uri="{FF2B5EF4-FFF2-40B4-BE49-F238E27FC236}">
                <a16:creationId xmlns:a16="http://schemas.microsoft.com/office/drawing/2014/main" id="{0E588B4F-1F4E-4119-B4B1-ED821A2A3782}"/>
              </a:ext>
            </a:extLst>
          </p:cNvPr>
          <p:cNvSpPr>
            <a:spLocks xmlns:a="http://schemas.openxmlformats.org/drawingml/2006/main" noGrp="1"/>
          </p:cNvSpPr>
          <p:nvPr/>
        </p:nvSpPr>
        <p:spPr>
          <a:xfrm xmlns:a="http://schemas.openxmlformats.org/drawingml/2006/main">
            <a:off x="4572000" y="5905500"/>
            <a:ext cx="447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EAAFF"/>
                </a:solidFill>
                <a:latin typeface="Helvetica Neue"/>
                <a:ea typeface="Helvetica Neue"/>
                <a:cs typeface="Helvetica Neue"/>
              </a:defRPr>
            </a:pPr>
            <a:r>
              <a:rPr sz="1725" b="0">
                <a:solidFill>
                  <a:srgbClr val="BEAAFF"/>
                </a:solidFill>
                <a:latin typeface="Helvetica Neue"/>
                <a:ea typeface="Helvetica Neue"/>
                <a:cs typeface="Helvetica Neue"/>
              </a:rPr>
              <a:t>Approved external model calls</a:t>
            </a:r>
          </a:p>
        </p:txBody>
      </p:sp>
    </p:spTree>
    <p:extLst>
      <p:ext uri="{BB962C8B-B14F-4D97-AF65-F5344CB8AC3E}">
        <p14:creationId xmlns:p14="http://schemas.microsoft.com/office/powerpoint/2010/main" val="1968838963"/>
      </p:ext>
    </p:extLst>
  </p:cSld>
</p:sld>
</file>

<file path=ppt/slides/slide4.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4B20BAE-D240-4875-B265-A8F37CB4289A}"/>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Campaign workflow</a:t>
            </a:r>
          </a:p>
        </p:txBody>
      </p:sp>
      <p:sp>
        <p:nvSpPr>
          <p:cNvPr id="2" name="">
            <a:extLst xmlns:a="http://schemas.openxmlformats.org/drawingml/2006/main">
              <a:ext uri="{FF2B5EF4-FFF2-40B4-BE49-F238E27FC236}">
                <a16:creationId xmlns:a16="http://schemas.microsoft.com/office/drawing/2014/main" id="{2C457C17-8075-45DB-999A-FBCE6177C276}"/>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0618CBE2-CBBF-4C7D-BB95-B5607E086A1D}"/>
              </a:ext>
            </a:extLst>
          </p:cNvPr>
          <p:cNvSpPr>
            <a:spLocks xmlns:a="http://schemas.openxmlformats.org/drawingml/2006/main" noGrp="1"/>
          </p:cNvSpPr>
          <p:nvPr/>
        </p:nvSpPr>
        <p:spPr>
          <a:xfrm xmlns:a="http://schemas.openxmlformats.org/drawingml/2006/main">
            <a:off x="571500" y="2095500"/>
            <a:ext cx="1809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Prepare</a:t>
            </a:r>
          </a:p>
        </p:txBody>
      </p:sp>
      <p:sp>
        <p:nvSpPr>
          <p:cNvPr id="4" name="">
            <a:extLst xmlns:a="http://schemas.openxmlformats.org/drawingml/2006/main">
              <a:ext uri="{FF2B5EF4-FFF2-40B4-BE49-F238E27FC236}">
                <a16:creationId xmlns:a16="http://schemas.microsoft.com/office/drawing/2014/main" id="{C6BB04BB-FFF4-476C-A5A9-7D1C5463B30A}"/>
              </a:ext>
            </a:extLst>
          </p:cNvPr>
          <p:cNvSpPr>
            <a:spLocks xmlns:a="http://schemas.openxmlformats.org/drawingml/2006/main" noGrp="1"/>
          </p:cNvSpPr>
          <p:nvPr/>
        </p:nvSpPr>
        <p:spPr>
          <a:xfrm xmlns:a="http://schemas.openxmlformats.org/drawingml/2006/main">
            <a:off x="571500" y="3333750"/>
            <a:ext cx="180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B7C5D7"/>
                </a:solidFill>
                <a:latin typeface="Helvetica Neue"/>
                <a:ea typeface="Helvetica Neue"/>
                <a:cs typeface="Helvetica Neue"/>
              </a:defRPr>
            </a:pPr>
            <a:r>
              <a:rPr sz="2025" b="0">
                <a:solidFill>
                  <a:srgbClr val="B7C5D7"/>
                </a:solidFill>
                <a:latin typeface="Helvetica Neue"/>
                <a:ea typeface="Helvetica Neue"/>
                <a:cs typeface="Helvetica Neue"/>
              </a:rPr>
              <a:t>Target and scope</a:t>
            </a:r>
          </a:p>
        </p:txBody>
      </p:sp>
      <p:sp>
        <p:nvSpPr>
          <p:cNvPr id="5" name="">
            <a:extLst xmlns:a="http://schemas.openxmlformats.org/drawingml/2006/main">
              <a:ext uri="{FF2B5EF4-FFF2-40B4-BE49-F238E27FC236}">
                <a16:creationId xmlns:a16="http://schemas.microsoft.com/office/drawing/2014/main" id="{9D2D2072-183D-4D8C-AF5B-562467ED42F7}"/>
              </a:ext>
            </a:extLst>
          </p:cNvPr>
          <p:cNvSpPr>
            <a:spLocks xmlns:a="http://schemas.openxmlformats.org/drawingml/2006/main" noGrp="1"/>
          </p:cNvSpPr>
          <p:nvPr/>
        </p:nvSpPr>
        <p:spPr>
          <a:xfrm xmlns:a="http://schemas.openxmlformats.org/drawingml/2006/main">
            <a:off x="2876550" y="2095500"/>
            <a:ext cx="1809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Check</a:t>
            </a:r>
          </a:p>
        </p:txBody>
      </p:sp>
      <p:cxnSp>
        <p:nvCxnSpPr>
          <p:cNvPr id="24" name=""/>
          <p:cNvCxnSpPr>
            <a:stCxn xmlns:a="http://schemas.openxmlformats.org/drawingml/2006/main" id="3" idx="3"/>
            <a:endCxn xmlns:a="http://schemas.openxmlformats.org/drawingml/2006/main" id="5" idx="1"/>
          </p:cNvCxnSpPr>
          <p:nvPr/>
        </p:nvCxnSpPr>
        <p:spPr>
          <a:xfrm xmlns:a="http://schemas.openxmlformats.org/drawingml/2006/main">
            <a:off x="2381250" y="2571750"/>
            <a:ext cx="495300" cy="0"/>
          </a:xfrm>
          <a:prstGeom xmlns:a="http://schemas.openxmlformats.org/drawingml/2006/main" prst="straightConnector1">
            <a:avLst/>
          </a:prstGeom>
          <a:ln xmlns:a="http://schemas.openxmlformats.org/drawingml/2006/main" w="19050">
            <a:solidFill>
              <a:srgbClr val="5D718A"/>
            </a:solidFill>
            <a:tailEnd type="triangle" w="sm" len="sm"/>
          </a:ln>
        </p:spPr>
      </p:cxnSp>
      <p:sp>
        <p:nvSpPr>
          <p:cNvPr id="7" name="">
            <a:extLst xmlns:a="http://schemas.openxmlformats.org/drawingml/2006/main">
              <a:ext uri="{FF2B5EF4-FFF2-40B4-BE49-F238E27FC236}">
                <a16:creationId xmlns:a16="http://schemas.microsoft.com/office/drawing/2014/main" id="{C1E4349C-DE28-4438-84D0-B0B008805118}"/>
              </a:ext>
            </a:extLst>
          </p:cNvPr>
          <p:cNvSpPr>
            <a:spLocks xmlns:a="http://schemas.openxmlformats.org/drawingml/2006/main" noGrp="1"/>
          </p:cNvSpPr>
          <p:nvPr/>
        </p:nvSpPr>
        <p:spPr>
          <a:xfrm xmlns:a="http://schemas.openxmlformats.org/drawingml/2006/main">
            <a:off x="2876550" y="3333750"/>
            <a:ext cx="180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B7C5D7"/>
                </a:solidFill>
                <a:latin typeface="Helvetica Neue"/>
                <a:ea typeface="Helvetica Neue"/>
                <a:cs typeface="Helvetica Neue"/>
              </a:defRPr>
            </a:pPr>
            <a:r>
              <a:rPr sz="2025" b="0">
                <a:solidFill>
                  <a:srgbClr val="B7C5D7"/>
                </a:solidFill>
                <a:latin typeface="Helvetica Neue"/>
                <a:ea typeface="Helvetica Neue"/>
                <a:cs typeface="Helvetica Neue"/>
              </a:rPr>
              <a:t>Adapters and baseline</a:t>
            </a:r>
          </a:p>
        </p:txBody>
      </p:sp>
      <p:sp>
        <p:nvSpPr>
          <p:cNvPr id="8" name="">
            <a:extLst xmlns:a="http://schemas.openxmlformats.org/drawingml/2006/main">
              <a:ext uri="{FF2B5EF4-FFF2-40B4-BE49-F238E27FC236}">
                <a16:creationId xmlns:a16="http://schemas.microsoft.com/office/drawing/2014/main" id="{EE154BC0-5222-4C23-93D9-CAE6FA8436E3}"/>
              </a:ext>
            </a:extLst>
          </p:cNvPr>
          <p:cNvSpPr>
            <a:spLocks xmlns:a="http://schemas.openxmlformats.org/drawingml/2006/main" noGrp="1"/>
          </p:cNvSpPr>
          <p:nvPr/>
        </p:nvSpPr>
        <p:spPr>
          <a:xfrm xmlns:a="http://schemas.openxmlformats.org/drawingml/2006/main">
            <a:off x="5181600" y="2095500"/>
            <a:ext cx="1809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Run</a:t>
            </a:r>
          </a:p>
        </p:txBody>
      </p:sp>
      <p:cxnSp>
        <p:nvCxnSpPr>
          <p:cNvPr id="27" name=""/>
          <p:cNvCxnSpPr>
            <a:stCxn xmlns:a="http://schemas.openxmlformats.org/drawingml/2006/main" id="5" idx="3"/>
            <a:endCxn xmlns:a="http://schemas.openxmlformats.org/drawingml/2006/main" id="8" idx="1"/>
          </p:cNvCxnSpPr>
          <p:nvPr/>
        </p:nvCxnSpPr>
        <p:spPr>
          <a:xfrm xmlns:a="http://schemas.openxmlformats.org/drawingml/2006/main">
            <a:off x="4686300" y="2571750"/>
            <a:ext cx="495300" cy="0"/>
          </a:xfrm>
          <a:prstGeom xmlns:a="http://schemas.openxmlformats.org/drawingml/2006/main" prst="straightConnector1">
            <a:avLst/>
          </a:prstGeom>
          <a:ln xmlns:a="http://schemas.openxmlformats.org/drawingml/2006/main" w="19050">
            <a:solidFill>
              <a:srgbClr val="5D718A"/>
            </a:solidFill>
            <a:tailEnd type="triangle" w="sm" len="sm"/>
          </a:ln>
        </p:spPr>
      </p:cxnSp>
      <p:sp>
        <p:nvSpPr>
          <p:cNvPr id="10" name="">
            <a:extLst xmlns:a="http://schemas.openxmlformats.org/drawingml/2006/main">
              <a:ext uri="{FF2B5EF4-FFF2-40B4-BE49-F238E27FC236}">
                <a16:creationId xmlns:a16="http://schemas.microsoft.com/office/drawing/2014/main" id="{825EFBA9-9FCC-4971-9DAE-4B4C89DC4A4C}"/>
              </a:ext>
            </a:extLst>
          </p:cNvPr>
          <p:cNvSpPr>
            <a:spLocks xmlns:a="http://schemas.openxmlformats.org/drawingml/2006/main" noGrp="1"/>
          </p:cNvSpPr>
          <p:nvPr/>
        </p:nvSpPr>
        <p:spPr>
          <a:xfrm xmlns:a="http://schemas.openxmlformats.org/drawingml/2006/main">
            <a:off x="5181600" y="3333750"/>
            <a:ext cx="180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B7C5D7"/>
                </a:solidFill>
                <a:latin typeface="Helvetica Neue"/>
                <a:ea typeface="Helvetica Neue"/>
                <a:cs typeface="Helvetica Neue"/>
              </a:defRPr>
            </a:pPr>
            <a:r>
              <a:rPr sz="2025" b="0">
                <a:solidFill>
                  <a:srgbClr val="B7C5D7"/>
                </a:solidFill>
                <a:latin typeface="Helvetica Neue"/>
                <a:ea typeface="Helvetica Neue"/>
                <a:cs typeface="Helvetica Neue"/>
              </a:rPr>
              <a:t>Shared budgets</a:t>
            </a:r>
          </a:p>
        </p:txBody>
      </p:sp>
      <p:sp>
        <p:nvSpPr>
          <p:cNvPr id="11" name="">
            <a:extLst xmlns:a="http://schemas.openxmlformats.org/drawingml/2006/main">
              <a:ext uri="{FF2B5EF4-FFF2-40B4-BE49-F238E27FC236}">
                <a16:creationId xmlns:a16="http://schemas.microsoft.com/office/drawing/2014/main" id="{748FD49C-AC9C-4C3B-84DE-CA65D23C7DAF}"/>
              </a:ext>
            </a:extLst>
          </p:cNvPr>
          <p:cNvSpPr>
            <a:spLocks xmlns:a="http://schemas.openxmlformats.org/drawingml/2006/main" noGrp="1"/>
          </p:cNvSpPr>
          <p:nvPr/>
        </p:nvSpPr>
        <p:spPr>
          <a:xfrm xmlns:a="http://schemas.openxmlformats.org/drawingml/2006/main">
            <a:off x="7486650" y="2095500"/>
            <a:ext cx="1809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FFD080"/>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Stop</a:t>
            </a:r>
          </a:p>
        </p:txBody>
      </p:sp>
      <p:cxnSp>
        <p:nvCxnSpPr>
          <p:cNvPr id="30" name=""/>
          <p:cNvCxnSpPr>
            <a:stCxn xmlns:a="http://schemas.openxmlformats.org/drawingml/2006/main" id="8" idx="3"/>
            <a:endCxn xmlns:a="http://schemas.openxmlformats.org/drawingml/2006/main" id="11" idx="1"/>
          </p:cNvCxnSpPr>
          <p:nvPr/>
        </p:nvCxnSpPr>
        <p:spPr>
          <a:xfrm xmlns:a="http://schemas.openxmlformats.org/drawingml/2006/main">
            <a:off x="6991350" y="2571750"/>
            <a:ext cx="495300" cy="0"/>
          </a:xfrm>
          <a:prstGeom xmlns:a="http://schemas.openxmlformats.org/drawingml/2006/main" prst="straightConnector1">
            <a:avLst/>
          </a:prstGeom>
          <a:ln xmlns:a="http://schemas.openxmlformats.org/drawingml/2006/main" w="19050">
            <a:solidFill>
              <a:srgbClr val="5D718A"/>
            </a:solidFill>
            <a:tailEnd type="triangle" w="sm" len="sm"/>
          </a:ln>
        </p:spPr>
      </p:cxnSp>
      <p:sp>
        <p:nvSpPr>
          <p:cNvPr id="13" name="">
            <a:extLst xmlns:a="http://schemas.openxmlformats.org/drawingml/2006/main">
              <a:ext uri="{FF2B5EF4-FFF2-40B4-BE49-F238E27FC236}">
                <a16:creationId xmlns:a16="http://schemas.microsoft.com/office/drawing/2014/main" id="{21F89417-02F5-4FEB-A103-1C56A77BE2AC}"/>
              </a:ext>
            </a:extLst>
          </p:cNvPr>
          <p:cNvSpPr>
            <a:spLocks xmlns:a="http://schemas.openxmlformats.org/drawingml/2006/main" noGrp="1"/>
          </p:cNvSpPr>
          <p:nvPr/>
        </p:nvSpPr>
        <p:spPr>
          <a:xfrm xmlns:a="http://schemas.openxmlformats.org/drawingml/2006/main">
            <a:off x="7486650" y="3333750"/>
            <a:ext cx="180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B7C5D7"/>
                </a:solidFill>
                <a:latin typeface="Helvetica Neue"/>
                <a:ea typeface="Helvetica Neue"/>
                <a:cs typeface="Helvetica Neue"/>
              </a:defRPr>
            </a:pPr>
            <a:r>
              <a:rPr sz="2025" b="0">
                <a:solidFill>
                  <a:srgbClr val="B7C5D7"/>
                </a:solidFill>
                <a:latin typeface="Helvetica Neue"/>
                <a:ea typeface="Helvetica Neue"/>
                <a:cs typeface="Helvetica Neue"/>
              </a:rPr>
              <a:t>Partial evidence</a:t>
            </a:r>
          </a:p>
        </p:txBody>
      </p:sp>
      <p:sp>
        <p:nvSpPr>
          <p:cNvPr id="14" name="">
            <a:extLst xmlns:a="http://schemas.openxmlformats.org/drawingml/2006/main">
              <a:ext uri="{FF2B5EF4-FFF2-40B4-BE49-F238E27FC236}">
                <a16:creationId xmlns:a16="http://schemas.microsoft.com/office/drawing/2014/main" id="{CDC5E8D1-5B99-4936-94A2-DE1E0D336479}"/>
              </a:ext>
            </a:extLst>
          </p:cNvPr>
          <p:cNvSpPr>
            <a:spLocks xmlns:a="http://schemas.openxmlformats.org/drawingml/2006/main" noGrp="1"/>
          </p:cNvSpPr>
          <p:nvPr/>
        </p:nvSpPr>
        <p:spPr>
          <a:xfrm xmlns:a="http://schemas.openxmlformats.org/drawingml/2006/main">
            <a:off x="9791700" y="2095500"/>
            <a:ext cx="1809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Review</a:t>
            </a:r>
          </a:p>
        </p:txBody>
      </p:sp>
      <p:cxnSp>
        <p:nvCxnSpPr>
          <p:cNvPr id="33" name=""/>
          <p:cNvCxnSpPr>
            <a:stCxn xmlns:a="http://schemas.openxmlformats.org/drawingml/2006/main" id="11" idx="3"/>
            <a:endCxn xmlns:a="http://schemas.openxmlformats.org/drawingml/2006/main" id="14" idx="1"/>
          </p:cNvCxnSpPr>
          <p:nvPr/>
        </p:nvCxnSpPr>
        <p:spPr>
          <a:xfrm xmlns:a="http://schemas.openxmlformats.org/drawingml/2006/main">
            <a:off x="9296400" y="2571750"/>
            <a:ext cx="495300" cy="0"/>
          </a:xfrm>
          <a:prstGeom xmlns:a="http://schemas.openxmlformats.org/drawingml/2006/main" prst="straightConnector1">
            <a:avLst/>
          </a:prstGeom>
          <a:ln xmlns:a="http://schemas.openxmlformats.org/drawingml/2006/main" w="19050">
            <a:solidFill>
              <a:srgbClr val="5D718A"/>
            </a:solidFill>
            <a:tailEnd type="triangle" w="sm" len="sm"/>
          </a:ln>
        </p:spPr>
      </p:cxnSp>
      <p:sp>
        <p:nvSpPr>
          <p:cNvPr id="16" name="">
            <a:extLst xmlns:a="http://schemas.openxmlformats.org/drawingml/2006/main">
              <a:ext uri="{FF2B5EF4-FFF2-40B4-BE49-F238E27FC236}">
                <a16:creationId xmlns:a16="http://schemas.microsoft.com/office/drawing/2014/main" id="{D429119B-806A-480A-8078-29086E098B76}"/>
              </a:ext>
            </a:extLst>
          </p:cNvPr>
          <p:cNvSpPr>
            <a:spLocks xmlns:a="http://schemas.openxmlformats.org/drawingml/2006/main" noGrp="1"/>
          </p:cNvSpPr>
          <p:nvPr/>
        </p:nvSpPr>
        <p:spPr>
          <a:xfrm xmlns:a="http://schemas.openxmlformats.org/drawingml/2006/main">
            <a:off x="9791700" y="3333750"/>
            <a:ext cx="180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B7C5D7"/>
                </a:solidFill>
                <a:latin typeface="Helvetica Neue"/>
                <a:ea typeface="Helvetica Neue"/>
                <a:cs typeface="Helvetica Neue"/>
              </a:defRPr>
            </a:pPr>
            <a:r>
              <a:rPr sz="2025" b="0">
                <a:solidFill>
                  <a:srgbClr val="B7C5D7"/>
                </a:solidFill>
                <a:latin typeface="Helvetica Neue"/>
                <a:ea typeface="Helvetica Neue"/>
                <a:cs typeface="Helvetica Neue"/>
              </a:rPr>
              <a:t>Findings and report</a:t>
            </a:r>
          </a:p>
        </p:txBody>
      </p:sp>
      <p:sp>
        <p:nvSpPr>
          <p:cNvPr id="17" name="">
            <a:extLst xmlns:a="http://schemas.openxmlformats.org/drawingml/2006/main">
              <a:ext uri="{FF2B5EF4-FFF2-40B4-BE49-F238E27FC236}">
                <a16:creationId xmlns:a16="http://schemas.microsoft.com/office/drawing/2014/main" id="{60702DE2-0A76-4409-8F77-5476B42B1311}"/>
              </a:ext>
            </a:extLst>
          </p:cNvPr>
          <p:cNvSpPr>
            <a:spLocks xmlns:a="http://schemas.openxmlformats.org/drawingml/2006/main" noGrp="1"/>
          </p:cNvSpPr>
          <p:nvPr/>
        </p:nvSpPr>
        <p:spPr>
          <a:xfrm xmlns:a="http://schemas.openxmlformats.org/drawingml/2006/main">
            <a:off x="571500" y="48577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0">
                <a:solidFill>
                  <a:srgbClr val="F3F6FA"/>
                </a:solidFill>
                <a:latin typeface="Helvetica Neue"/>
                <a:ea typeface="Helvetica Neue"/>
                <a:cs typeface="Helvetica Neue"/>
              </a:defRPr>
            </a:pPr>
            <a:r>
              <a:rPr sz="2550" b="0">
                <a:solidFill>
                  <a:srgbClr val="F3F6FA"/>
                </a:solidFill>
                <a:latin typeface="Helvetica Neue"/>
                <a:ea typeface="Helvetica Neue"/>
                <a:cs typeface="Helvetica Neue"/>
              </a:rPr>
              <a:t>The UI and CLI use the same run ID and controls.</a:t>
            </a:r>
          </a:p>
        </p:txBody>
      </p:sp>
      <p:sp>
        <p:nvSpPr>
          <p:cNvPr id="18" name="">
            <a:extLst xmlns:a="http://schemas.openxmlformats.org/drawingml/2006/main">
              <a:ext uri="{FF2B5EF4-FFF2-40B4-BE49-F238E27FC236}">
                <a16:creationId xmlns:a16="http://schemas.microsoft.com/office/drawing/2014/main" id="{A63698A0-3BDD-4878-9592-C09684C61EEF}"/>
              </a:ext>
            </a:extLst>
          </p:cNvPr>
          <p:cNvSpPr>
            <a:spLocks xmlns:a="http://schemas.openxmlformats.org/drawingml/2006/main" noGrp="1"/>
          </p:cNvSpPr>
          <p:nvPr/>
        </p:nvSpPr>
        <p:spPr>
          <a:xfrm xmlns:a="http://schemas.openxmlformats.org/drawingml/2006/main">
            <a:off x="571500" y="56578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FFD080"/>
                </a:solidFill>
                <a:latin typeface="Helvetica Neue"/>
                <a:ea typeface="Helvetica Neue"/>
                <a:cs typeface="Helvetica Neue"/>
              </a:defRPr>
            </a:pPr>
            <a:r>
              <a:rPr sz="2025" b="0">
                <a:solidFill>
                  <a:srgbClr val="FFD080"/>
                </a:solidFill>
                <a:latin typeface="Helvetica Neue"/>
                <a:ea typeface="Helvetica Neue"/>
                <a:cs typeface="Helvetica Neue"/>
              </a:rPr>
              <a:t>Stopping a run blocks new steps. It cannot undo requests already sent.</a:t>
            </a:r>
          </a:p>
        </p:txBody>
      </p:sp>
    </p:spTree>
    <p:extLst>
      <p:ext uri="{BB962C8B-B14F-4D97-AF65-F5344CB8AC3E}">
        <p14:creationId xmlns:p14="http://schemas.microsoft.com/office/powerpoint/2010/main" val="814397074"/>
      </p:ext>
    </p:extLst>
  </p:cSld>
</p:sld>
</file>

<file path=ppt/slides/slide5.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D935811-6367-4064-B4C6-79CEF54D8149}"/>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Local and external model access</a:t>
            </a:r>
          </a:p>
        </p:txBody>
      </p:sp>
      <p:sp>
        <p:nvSpPr>
          <p:cNvPr id="2" name="">
            <a:extLst xmlns:a="http://schemas.openxmlformats.org/drawingml/2006/main">
              <a:ext uri="{FF2B5EF4-FFF2-40B4-BE49-F238E27FC236}">
                <a16:creationId xmlns:a16="http://schemas.microsoft.com/office/drawing/2014/main" id="{B222CDE7-4162-4C85-A6DA-CFF997AC4B54}"/>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0728A92B-6699-4BB1-AFDE-BB5B58133934}"/>
              </a:ext>
            </a:extLst>
          </p:cNvPr>
          <p:cNvSpPr>
            <a:spLocks xmlns:a="http://schemas.openxmlformats.org/drawingml/2006/main" noGrp="1"/>
          </p:cNvSpPr>
          <p:nvPr/>
        </p:nvSpPr>
        <p:spPr>
          <a:xfrm xmlns:a="http://schemas.openxmlformats.org/drawingml/2006/main">
            <a:off x="571500" y="2667000"/>
            <a:ext cx="2190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Run engine</a:t>
            </a:r>
          </a:p>
        </p:txBody>
      </p:sp>
      <p:sp>
        <p:nvSpPr>
          <p:cNvPr id="4" name="">
            <a:extLst xmlns:a="http://schemas.openxmlformats.org/drawingml/2006/main">
              <a:ext uri="{FF2B5EF4-FFF2-40B4-BE49-F238E27FC236}">
                <a16:creationId xmlns:a16="http://schemas.microsoft.com/office/drawing/2014/main" id="{85B89E59-8237-40A9-BBEA-28D610D84175}"/>
              </a:ext>
            </a:extLst>
          </p:cNvPr>
          <p:cNvSpPr>
            <a:spLocks xmlns:a="http://schemas.openxmlformats.org/drawingml/2006/main" noGrp="1"/>
          </p:cNvSpPr>
          <p:nvPr/>
        </p:nvSpPr>
        <p:spPr>
          <a:xfrm xmlns:a="http://schemas.openxmlformats.org/drawingml/2006/main">
            <a:off x="3810000" y="2667000"/>
            <a:ext cx="2571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Model access</a:t>
            </a:r>
          </a:p>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Policy and adapters</a:t>
            </a:r>
          </a:p>
        </p:txBody>
      </p:sp>
      <p:sp>
        <p:nvSpPr>
          <p:cNvPr id="5" name="">
            <a:extLst xmlns:a="http://schemas.openxmlformats.org/drawingml/2006/main">
              <a:ext uri="{FF2B5EF4-FFF2-40B4-BE49-F238E27FC236}">
                <a16:creationId xmlns:a16="http://schemas.microsoft.com/office/drawing/2014/main" id="{7021BC0F-2DA4-4C10-AD14-D69479C935B5}"/>
              </a:ext>
            </a:extLst>
          </p:cNvPr>
          <p:cNvSpPr>
            <a:spLocks xmlns:a="http://schemas.openxmlformats.org/drawingml/2006/main" noGrp="1"/>
          </p:cNvSpPr>
          <p:nvPr/>
        </p:nvSpPr>
        <p:spPr>
          <a:xfrm xmlns:a="http://schemas.openxmlformats.org/drawingml/2006/main">
            <a:off x="7905750" y="1619250"/>
            <a:ext cx="342900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85E7B5"/>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Local open weights</a:t>
            </a:r>
          </a:p>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Inference service</a:t>
            </a:r>
          </a:p>
        </p:txBody>
      </p:sp>
      <p:sp>
        <p:nvSpPr>
          <p:cNvPr id="6" name="">
            <a:extLst xmlns:a="http://schemas.openxmlformats.org/drawingml/2006/main">
              <a:ext uri="{FF2B5EF4-FFF2-40B4-BE49-F238E27FC236}">
                <a16:creationId xmlns:a16="http://schemas.microsoft.com/office/drawing/2014/main" id="{4B9C0B36-9F86-4E21-BC68-77BAF186B8C6}"/>
              </a:ext>
            </a:extLst>
          </p:cNvPr>
          <p:cNvSpPr>
            <a:spLocks xmlns:a="http://schemas.openxmlformats.org/drawingml/2006/main" noGrp="1"/>
          </p:cNvSpPr>
          <p:nvPr/>
        </p:nvSpPr>
        <p:spPr>
          <a:xfrm xmlns:a="http://schemas.openxmlformats.org/drawingml/2006/main">
            <a:off x="7905750" y="4000500"/>
            <a:ext cx="342900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BEAAFF"/>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Grok 3.7 Cyber</a:t>
            </a:r>
          </a:p>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External API</a:t>
            </a:r>
          </a:p>
        </p:txBody>
      </p:sp>
      <p:cxnSp>
        <p:nvCxnSpPr>
          <p:cNvPr id="19" name=""/>
          <p:cNvCxnSpPr>
            <a:stCxn xmlns:a="http://schemas.openxmlformats.org/drawingml/2006/main" id="3" idx="3"/>
            <a:endCxn xmlns:a="http://schemas.openxmlformats.org/drawingml/2006/main" id="4" idx="1"/>
          </p:cNvCxnSpPr>
          <p:nvPr/>
        </p:nvCxnSpPr>
        <p:spPr>
          <a:xfrm xmlns:a="http://schemas.openxmlformats.org/drawingml/2006/main">
            <a:off x="2762250" y="3143250"/>
            <a:ext cx="1047750" cy="0"/>
          </a:xfrm>
          <a:prstGeom xmlns:a="http://schemas.openxmlformats.org/drawingml/2006/main" prst="straightConnector1">
            <a:avLst/>
          </a:prstGeom>
          <a:ln xmlns:a="http://schemas.openxmlformats.org/drawingml/2006/main" w="19050">
            <a:solidFill>
              <a:srgbClr val="5D718A"/>
            </a:solidFill>
            <a:tailEnd type="triangle" w="sm" len="sm"/>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6381750" y="2095500"/>
            <a:ext cx="1524000" cy="1047750"/>
          </a:xfrm>
          <a:prstGeom xmlns:a="http://schemas.openxmlformats.org/drawingml/2006/main" prst="bentConnector3">
            <a:avLst>
              <a:gd name="adj1" fmla="val 50000"/>
            </a:avLst>
          </a:prstGeom>
          <a:ln xmlns:a="http://schemas.openxmlformats.org/drawingml/2006/main" w="19050">
            <a:solidFill>
              <a:srgbClr val="85E7B5"/>
            </a:solidFill>
            <a:tailEnd type="triangle" w="med" len="med"/>
          </a:ln>
        </p:spPr>
      </p:cxnSp>
      <p:cxnSp>
        <p:nvCxnSpPr>
          <p:cNvPr id="21" name=""/>
          <p:cNvCxnSpPr>
            <a:stCxn xmlns:a="http://schemas.openxmlformats.org/drawingml/2006/main" id="4" idx="3"/>
            <a:endCxn xmlns:a="http://schemas.openxmlformats.org/drawingml/2006/main" id="6" idx="1"/>
          </p:cNvCxnSpPr>
          <p:nvPr/>
        </p:nvCxnSpPr>
        <p:spPr>
          <a:xfrm xmlns:a="http://schemas.openxmlformats.org/drawingml/2006/main">
            <a:off x="6381750" y="3143250"/>
            <a:ext cx="1524000" cy="1333500"/>
          </a:xfrm>
          <a:prstGeom xmlns:a="http://schemas.openxmlformats.org/drawingml/2006/main" prst="bentConnector3">
            <a:avLst>
              <a:gd name="adj1" fmla="val 50000"/>
            </a:avLst>
          </a:prstGeom>
          <a:ln xmlns:a="http://schemas.openxmlformats.org/drawingml/2006/main" w="19050">
            <a:solidFill>
              <a:srgbClr val="BEAAFF"/>
            </a:solidFill>
            <a:tailEnd type="triangle" w="med" len="med"/>
          </a:ln>
        </p:spPr>
      </p:cxnSp>
      <p:sp>
        <p:nvSpPr>
          <p:cNvPr id="10" name="">
            <a:extLst xmlns:a="http://schemas.openxmlformats.org/drawingml/2006/main">
              <a:ext uri="{FF2B5EF4-FFF2-40B4-BE49-F238E27FC236}">
                <a16:creationId xmlns:a16="http://schemas.microsoft.com/office/drawing/2014/main" id="{FF95229B-329C-495F-ADBE-B0439677DA78}"/>
              </a:ext>
            </a:extLst>
          </p:cNvPr>
          <p:cNvSpPr>
            <a:spLocks xmlns:a="http://schemas.openxmlformats.org/drawingml/2006/main" noGrp="1"/>
          </p:cNvSpPr>
          <p:nvPr/>
        </p:nvSpPr>
        <p:spPr>
          <a:xfrm xmlns:a="http://schemas.openxmlformats.org/drawingml/2006/main">
            <a:off x="7905750" y="2714625"/>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85E7B5"/>
                </a:solidFill>
                <a:latin typeface="Helvetica Neue"/>
                <a:ea typeface="Helvetica Neue"/>
                <a:cs typeface="Helvetica Neue"/>
              </a:defRPr>
            </a:pPr>
            <a:r>
              <a:rPr sz="1950" b="0">
                <a:solidFill>
                  <a:srgbClr val="85E7B5"/>
                </a:solidFill>
                <a:latin typeface="Helvetica Neue"/>
                <a:ea typeface="Helvetica Neue"/>
                <a:cs typeface="Helvetica Neue"/>
              </a:rPr>
              <a:t>Local mode blocks cloud calls and fallback.</a:t>
            </a:r>
          </a:p>
        </p:txBody>
      </p:sp>
      <p:sp>
        <p:nvSpPr>
          <p:cNvPr id="11" name="">
            <a:extLst xmlns:a="http://schemas.openxmlformats.org/drawingml/2006/main">
              <a:ext uri="{FF2B5EF4-FFF2-40B4-BE49-F238E27FC236}">
                <a16:creationId xmlns:a16="http://schemas.microsoft.com/office/drawing/2014/main" id="{152B10EB-8324-4BBE-A08F-D144D03BE2A3}"/>
              </a:ext>
            </a:extLst>
          </p:cNvPr>
          <p:cNvSpPr>
            <a:spLocks xmlns:a="http://schemas.openxmlformats.org/drawingml/2006/main" noGrp="1"/>
          </p:cNvSpPr>
          <p:nvPr/>
        </p:nvSpPr>
        <p:spPr>
          <a:xfrm xmlns:a="http://schemas.openxmlformats.org/drawingml/2006/main">
            <a:off x="7905750" y="5095875"/>
            <a:ext cx="3524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BEAAFF"/>
                </a:solidFill>
                <a:latin typeface="Helvetica Neue"/>
                <a:ea typeface="Helvetica Neue"/>
                <a:cs typeface="Helvetica Neue"/>
              </a:defRPr>
            </a:pPr>
            <a:r>
              <a:rPr sz="1950" b="0">
                <a:solidFill>
                  <a:srgbClr val="BEAAFF"/>
                </a:solidFill>
                <a:latin typeface="Helvetica Neue"/>
                <a:ea typeface="Helvetica Neue"/>
                <a:cs typeface="Helvetica Neue"/>
              </a:rPr>
              <a:t>External mode permits approved excerpts only.</a:t>
            </a:r>
          </a:p>
        </p:txBody>
      </p:sp>
      <p:sp>
        <p:nvSpPr>
          <p:cNvPr id="12" name="">
            <a:extLst xmlns:a="http://schemas.openxmlformats.org/drawingml/2006/main">
              <a:ext uri="{FF2B5EF4-FFF2-40B4-BE49-F238E27FC236}">
                <a16:creationId xmlns:a16="http://schemas.microsoft.com/office/drawing/2014/main" id="{6BA0FA0E-E479-4EDA-B079-B62F6E0ECC67}"/>
              </a:ext>
            </a:extLst>
          </p:cNvPr>
          <p:cNvSpPr>
            <a:spLocks xmlns:a="http://schemas.openxmlformats.org/drawingml/2006/main" noGrp="1"/>
          </p:cNvSpPr>
          <p:nvPr/>
        </p:nvSpPr>
        <p:spPr>
          <a:xfrm xmlns:a="http://schemas.openxmlformats.org/drawingml/2006/main">
            <a:off x="571500" y="5857875"/>
            <a:ext cx="685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B7C5D7"/>
                </a:solidFill>
                <a:latin typeface="Helvetica Neue"/>
                <a:ea typeface="Helvetica Neue"/>
                <a:cs typeface="Helvetica Neue"/>
              </a:defRPr>
            </a:pPr>
            <a:r>
              <a:rPr sz="2025" b="0">
                <a:solidFill>
                  <a:srgbClr val="B7C5D7"/>
                </a:solidFill>
                <a:latin typeface="Helvetica Neue"/>
                <a:ea typeface="Helvetica Neue"/>
                <a:cs typeface="Helvetica Neue"/>
              </a:rPr>
              <a:t>Provider keys stay on the host. Tools use a bounded relay.</a:t>
            </a:r>
          </a:p>
        </p:txBody>
      </p:sp>
    </p:spTree>
    <p:extLst>
      <p:ext uri="{BB962C8B-B14F-4D97-AF65-F5344CB8AC3E}">
        <p14:creationId xmlns:p14="http://schemas.microsoft.com/office/powerpoint/2010/main" val="344638114"/>
      </p:ext>
    </p:extLst>
  </p:cSld>
</p:sld>
</file>

<file path=ppt/slides/slide6.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BD31195-7C2B-488E-B77C-731FFE2F5D0A}"/>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Tool coverage</a:t>
            </a:r>
          </a:p>
        </p:txBody>
      </p:sp>
      <p:sp>
        <p:nvSpPr>
          <p:cNvPr id="2" name="">
            <a:extLst xmlns:a="http://schemas.openxmlformats.org/drawingml/2006/main">
              <a:ext uri="{FF2B5EF4-FFF2-40B4-BE49-F238E27FC236}">
                <a16:creationId xmlns:a16="http://schemas.microsoft.com/office/drawing/2014/main" id="{119300F5-F65B-46B4-BBF8-706B18429D52}"/>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F508C4C8-20A2-484A-9F6A-856A791BE9F4}"/>
              </a:ext>
            </a:extLst>
          </p:cNvPr>
          <p:cNvSpPr>
            <a:spLocks xmlns:a="http://schemas.openxmlformats.org/drawingml/2006/main" noGrp="1"/>
          </p:cNvSpPr>
          <p:nvPr/>
        </p:nvSpPr>
        <p:spPr>
          <a:xfrm xmlns:a="http://schemas.openxmlformats.org/drawingml/2006/main">
            <a:off x="571500" y="14287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Application assessment</a:t>
            </a:r>
          </a:p>
        </p:txBody>
      </p:sp>
      <p:sp>
        <p:nvSpPr>
          <p:cNvPr id="4" name="">
            <a:extLst xmlns:a="http://schemas.openxmlformats.org/drawingml/2006/main">
              <a:ext uri="{FF2B5EF4-FFF2-40B4-BE49-F238E27FC236}">
                <a16:creationId xmlns:a16="http://schemas.microsoft.com/office/drawing/2014/main" id="{CFC67211-6073-4C07-8071-6EE492B31C05}"/>
              </a:ext>
            </a:extLst>
          </p:cNvPr>
          <p:cNvSpPr>
            <a:spLocks xmlns:a="http://schemas.openxmlformats.org/drawingml/2006/main" noGrp="1"/>
          </p:cNvSpPr>
          <p:nvPr/>
        </p:nvSpPr>
        <p:spPr>
          <a:xfrm xmlns:a="http://schemas.openxmlformats.org/drawingml/2006/main">
            <a:off x="4000500" y="14287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Strix, Shannon, Pentest-AI, Numasec, and CyberStrike</a:t>
            </a:r>
          </a:p>
        </p:txBody>
      </p:sp>
      <p:sp>
        <p:nvSpPr>
          <p:cNvPr id="5" name="">
            <a:extLst xmlns:a="http://schemas.openxmlformats.org/drawingml/2006/main">
              <a:ext uri="{FF2B5EF4-FFF2-40B4-BE49-F238E27FC236}">
                <a16:creationId xmlns:a16="http://schemas.microsoft.com/office/drawing/2014/main" id="{A69A4818-A3F5-45DF-9A79-562C74AEF309}"/>
              </a:ext>
            </a:extLst>
          </p:cNvPr>
          <p:cNvSpPr>
            <a:spLocks xmlns:a="http://schemas.openxmlformats.org/drawingml/2006/main" noGrp="1"/>
          </p:cNvSpPr>
          <p:nvPr/>
        </p:nvSpPr>
        <p:spPr>
          <a:xfrm xmlns:a="http://schemas.openxmlformats.org/drawingml/2006/main">
            <a:off x="571500" y="24003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WAF and origin checks</a:t>
            </a:r>
          </a:p>
        </p:txBody>
      </p:sp>
      <p:sp>
        <p:nvSpPr>
          <p:cNvPr id="6" name="">
            <a:extLst xmlns:a="http://schemas.openxmlformats.org/drawingml/2006/main">
              <a:ext uri="{FF2B5EF4-FFF2-40B4-BE49-F238E27FC236}">
                <a16:creationId xmlns:a16="http://schemas.microsoft.com/office/drawing/2014/main" id="{14F09345-0602-43F4-AAB7-7186DCA6A9A9}"/>
              </a:ext>
            </a:extLst>
          </p:cNvPr>
          <p:cNvSpPr>
            <a:spLocks xmlns:a="http://schemas.openxmlformats.org/drawingml/2006/main" noGrp="1"/>
          </p:cNvSpPr>
          <p:nvPr/>
        </p:nvSpPr>
        <p:spPr>
          <a:xfrm xmlns:a="http://schemas.openxmlformats.org/drawingml/2006/main">
            <a:off x="4000500" y="24003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WhatWaf, wafw00f, and DNS-history</a:t>
            </a:r>
          </a:p>
        </p:txBody>
      </p:sp>
      <p:sp>
        <p:nvSpPr>
          <p:cNvPr id="7" name="">
            <a:extLst xmlns:a="http://schemas.openxmlformats.org/drawingml/2006/main">
              <a:ext uri="{FF2B5EF4-FFF2-40B4-BE49-F238E27FC236}">
                <a16:creationId xmlns:a16="http://schemas.microsoft.com/office/drawing/2014/main" id="{F016E831-8D05-472A-B1BD-F5B99013A149}"/>
              </a:ext>
            </a:extLst>
          </p:cNvPr>
          <p:cNvSpPr>
            <a:spLocks xmlns:a="http://schemas.openxmlformats.org/drawingml/2006/main" noGrp="1"/>
          </p:cNvSpPr>
          <p:nvPr/>
        </p:nvSpPr>
        <p:spPr>
          <a:xfrm xmlns:a="http://schemas.openxmlformats.org/drawingml/2006/main">
            <a:off x="571500" y="33718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Source and AI evaluation</a:t>
            </a:r>
          </a:p>
        </p:txBody>
      </p:sp>
      <p:sp>
        <p:nvSpPr>
          <p:cNvPr id="8" name="">
            <a:extLst xmlns:a="http://schemas.openxmlformats.org/drawingml/2006/main">
              <a:ext uri="{FF2B5EF4-FFF2-40B4-BE49-F238E27FC236}">
                <a16:creationId xmlns:a16="http://schemas.microsoft.com/office/drawing/2014/main" id="{8A78935B-C9C9-452A-AD78-75F3403D2F59}"/>
              </a:ext>
            </a:extLst>
          </p:cNvPr>
          <p:cNvSpPr>
            <a:spLocks xmlns:a="http://schemas.openxmlformats.org/drawingml/2006/main" noGrp="1"/>
          </p:cNvSpPr>
          <p:nvPr/>
        </p:nvSpPr>
        <p:spPr>
          <a:xfrm xmlns:a="http://schemas.openxmlformats.org/drawingml/2006/main">
            <a:off x="4000500" y="33718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Raptor requires source. PyRIT and its course support AI target evaluation.</a:t>
            </a:r>
          </a:p>
        </p:txBody>
      </p:sp>
      <p:sp>
        <p:nvSpPr>
          <p:cNvPr id="9" name="">
            <a:extLst xmlns:a="http://schemas.openxmlformats.org/drawingml/2006/main">
              <a:ext uri="{FF2B5EF4-FFF2-40B4-BE49-F238E27FC236}">
                <a16:creationId xmlns:a16="http://schemas.microsoft.com/office/drawing/2014/main" id="{BD2F2A40-1616-4AF3-AC9D-24BD36EFE155}"/>
              </a:ext>
            </a:extLst>
          </p:cNvPr>
          <p:cNvSpPr>
            <a:spLocks xmlns:a="http://schemas.openxmlformats.org/drawingml/2006/main" noGrp="1"/>
          </p:cNvSpPr>
          <p:nvPr/>
        </p:nvSpPr>
        <p:spPr>
          <a:xfrm xmlns:a="http://schemas.openxmlformats.org/drawingml/2006/main">
            <a:off x="571500" y="43434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Methods and runtimes</a:t>
            </a:r>
          </a:p>
        </p:txBody>
      </p:sp>
      <p:sp>
        <p:nvSpPr>
          <p:cNvPr id="10" name="">
            <a:extLst xmlns:a="http://schemas.openxmlformats.org/drawingml/2006/main">
              <a:ext uri="{FF2B5EF4-FFF2-40B4-BE49-F238E27FC236}">
                <a16:creationId xmlns:a16="http://schemas.microsoft.com/office/drawing/2014/main" id="{61CEFEFA-74BF-4CF1-B9F1-95ECF0563657}"/>
              </a:ext>
            </a:extLst>
          </p:cNvPr>
          <p:cNvSpPr>
            <a:spLocks xmlns:a="http://schemas.openxmlformats.org/drawingml/2006/main" noGrp="1"/>
          </p:cNvSpPr>
          <p:nvPr/>
        </p:nvSpPr>
        <p:spPr>
          <a:xfrm xmlns:a="http://schemas.openxmlformats.org/drawingml/2006/main">
            <a:off x="4000500" y="43434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10x-pentest, Claude-BugHunter, Hermes, and Pi</a:t>
            </a:r>
          </a:p>
        </p:txBody>
      </p:sp>
      <p:sp>
        <p:nvSpPr>
          <p:cNvPr id="11" name="">
            <a:extLst xmlns:a="http://schemas.openxmlformats.org/drawingml/2006/main">
              <a:ext uri="{FF2B5EF4-FFF2-40B4-BE49-F238E27FC236}">
                <a16:creationId xmlns:a16="http://schemas.microsoft.com/office/drawing/2014/main" id="{CD553C64-6C32-44ED-AFD4-E2EB5685C596}"/>
              </a:ext>
            </a:extLst>
          </p:cNvPr>
          <p:cNvSpPr>
            <a:spLocks xmlns:a="http://schemas.openxmlformats.org/drawingml/2006/main" noGrp="1"/>
          </p:cNvSpPr>
          <p:nvPr/>
        </p:nvSpPr>
        <p:spPr>
          <a:xfrm xmlns:a="http://schemas.openxmlformats.org/drawingml/2006/main">
            <a:off x="571500" y="55911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FFD080"/>
                </a:solidFill>
                <a:latin typeface="Helvetica Neue"/>
                <a:ea typeface="Helvetica Neue"/>
                <a:cs typeface="Helvetica Neue"/>
              </a:defRPr>
            </a:pPr>
            <a:r>
              <a:rPr sz="2100" b="0">
                <a:solidFill>
                  <a:srgbClr val="FFD080"/>
                </a:solidFill>
                <a:latin typeface="Helvetica Neue"/>
                <a:ea typeface="Helvetica Neue"/>
                <a:cs typeface="Helvetica Neue"/>
              </a:rPr>
              <a:t>Each campaign records selected, blocked, deferred, or not applicable.</a:t>
            </a:r>
          </a:p>
        </p:txBody>
      </p:sp>
    </p:spTree>
    <p:extLst>
      <p:ext uri="{BB962C8B-B14F-4D97-AF65-F5344CB8AC3E}">
        <p14:creationId xmlns:p14="http://schemas.microsoft.com/office/powerpoint/2010/main" val="289537898"/>
      </p:ext>
    </p:extLst>
  </p:cSld>
</p:sld>
</file>

<file path=ppt/slides/slide7.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DC66198-85C1-41B5-AB18-1ED8115B7448}"/>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Corporate website test scope</a:t>
            </a:r>
          </a:p>
        </p:txBody>
      </p:sp>
      <p:sp>
        <p:nvSpPr>
          <p:cNvPr id="2" name="">
            <a:extLst xmlns:a="http://schemas.openxmlformats.org/drawingml/2006/main">
              <a:ext uri="{FF2B5EF4-FFF2-40B4-BE49-F238E27FC236}">
                <a16:creationId xmlns:a16="http://schemas.microsoft.com/office/drawing/2014/main" id="{48A0F850-834D-43F1-8BD7-83759DD376F8}"/>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1ED2106E-27A0-44BA-91DE-B21C27EACAFE}"/>
              </a:ext>
            </a:extLst>
          </p:cNvPr>
          <p:cNvSpPr>
            <a:spLocks xmlns:a="http://schemas.openxmlformats.org/drawingml/2006/main" noGrp="1"/>
          </p:cNvSpPr>
          <p:nvPr/>
        </p:nvSpPr>
        <p:spPr>
          <a:xfrm xmlns:a="http://schemas.openxmlformats.org/drawingml/2006/main">
            <a:off x="571500" y="14287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First campaign</a:t>
            </a:r>
          </a:p>
        </p:txBody>
      </p:sp>
      <p:sp>
        <p:nvSpPr>
          <p:cNvPr id="4" name="">
            <a:extLst xmlns:a="http://schemas.openxmlformats.org/drawingml/2006/main">
              <a:ext uri="{FF2B5EF4-FFF2-40B4-BE49-F238E27FC236}">
                <a16:creationId xmlns:a16="http://schemas.microsoft.com/office/drawing/2014/main" id="{42FB9510-4C7D-449A-84B1-A4044E34220B}"/>
              </a:ext>
            </a:extLst>
          </p:cNvPr>
          <p:cNvSpPr>
            <a:spLocks xmlns:a="http://schemas.openxmlformats.org/drawingml/2006/main" noGrp="1"/>
          </p:cNvSpPr>
          <p:nvPr/>
        </p:nvSpPr>
        <p:spPr>
          <a:xfrm xmlns:a="http://schemas.openxmlformats.org/drawingml/2006/main">
            <a:off x="4000500" y="14287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One approved hostname and a small set of routes. Normal requests establish the baseline.</a:t>
            </a:r>
          </a:p>
        </p:txBody>
      </p:sp>
      <p:sp>
        <p:nvSpPr>
          <p:cNvPr id="5" name="">
            <a:extLst xmlns:a="http://schemas.openxmlformats.org/drawingml/2006/main">
              <a:ext uri="{FF2B5EF4-FFF2-40B4-BE49-F238E27FC236}">
                <a16:creationId xmlns:a16="http://schemas.microsoft.com/office/drawing/2014/main" id="{FDC6F9FC-EF7E-4B50-983B-146F2AE2A56D}"/>
              </a:ext>
            </a:extLst>
          </p:cNvPr>
          <p:cNvSpPr>
            <a:spLocks xmlns:a="http://schemas.openxmlformats.org/drawingml/2006/main" noGrp="1"/>
          </p:cNvSpPr>
          <p:nvPr/>
        </p:nvSpPr>
        <p:spPr>
          <a:xfrm xmlns:a="http://schemas.openxmlformats.org/drawingml/2006/main">
            <a:off x="571500" y="27813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Broader coverage</a:t>
            </a:r>
          </a:p>
        </p:txBody>
      </p:sp>
      <p:sp>
        <p:nvSpPr>
          <p:cNvPr id="6" name="">
            <a:extLst xmlns:a="http://schemas.openxmlformats.org/drawingml/2006/main">
              <a:ext uri="{FF2B5EF4-FFF2-40B4-BE49-F238E27FC236}">
                <a16:creationId xmlns:a16="http://schemas.microsoft.com/office/drawing/2014/main" id="{D99B5531-3DDA-4FA3-AEF2-AEF64F0B9412}"/>
              </a:ext>
            </a:extLst>
          </p:cNvPr>
          <p:cNvSpPr>
            <a:spLocks xmlns:a="http://schemas.openxmlformats.org/drawingml/2006/main" noGrp="1"/>
          </p:cNvSpPr>
          <p:nvPr/>
        </p:nvSpPr>
        <p:spPr>
          <a:xfrm xmlns:a="http://schemas.openxmlformats.org/drawingml/2006/main">
            <a:off x="4000500" y="27813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Add approved APIs and account roles. Use one request budget across tools.</a:t>
            </a:r>
          </a:p>
        </p:txBody>
      </p:sp>
      <p:sp>
        <p:nvSpPr>
          <p:cNvPr id="7" name="">
            <a:extLst xmlns:a="http://schemas.openxmlformats.org/drawingml/2006/main">
              <a:ext uri="{FF2B5EF4-FFF2-40B4-BE49-F238E27FC236}">
                <a16:creationId xmlns:a16="http://schemas.microsoft.com/office/drawing/2014/main" id="{06C29AC0-45FC-40B3-B62E-B547D75D0BBC}"/>
              </a:ext>
            </a:extLst>
          </p:cNvPr>
          <p:cNvSpPr>
            <a:spLocks xmlns:a="http://schemas.openxmlformats.org/drawingml/2006/main" noGrp="1"/>
          </p:cNvSpPr>
          <p:nvPr/>
        </p:nvSpPr>
        <p:spPr>
          <a:xfrm xmlns:a="http://schemas.openxmlformats.org/drawingml/2006/main">
            <a:off x="571500" y="41338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Log correlation</a:t>
            </a:r>
          </a:p>
        </p:txBody>
      </p:sp>
      <p:sp>
        <p:nvSpPr>
          <p:cNvPr id="8" name="">
            <a:extLst xmlns:a="http://schemas.openxmlformats.org/drawingml/2006/main">
              <a:ext uri="{FF2B5EF4-FFF2-40B4-BE49-F238E27FC236}">
                <a16:creationId xmlns:a16="http://schemas.microsoft.com/office/drawing/2014/main" id="{EF19954A-58EF-40D2-A36B-B6B8959E112F}"/>
              </a:ext>
            </a:extLst>
          </p:cNvPr>
          <p:cNvSpPr>
            <a:spLocks xmlns:a="http://schemas.openxmlformats.org/drawingml/2006/main" noGrp="1"/>
          </p:cNvSpPr>
          <p:nvPr/>
        </p:nvSpPr>
        <p:spPr>
          <a:xfrm xmlns:a="http://schemas.openxmlformats.org/drawingml/2006/main">
            <a:off x="4000500" y="41338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Match request IDs with WAF decisions and application effects.</a:t>
            </a:r>
          </a:p>
        </p:txBody>
      </p:sp>
      <p:sp>
        <p:nvSpPr>
          <p:cNvPr id="9" name="">
            <a:extLst xmlns:a="http://schemas.openxmlformats.org/drawingml/2006/main">
              <a:ext uri="{FF2B5EF4-FFF2-40B4-BE49-F238E27FC236}">
                <a16:creationId xmlns:a16="http://schemas.microsoft.com/office/drawing/2014/main" id="{B8F6A92B-FE5E-4BB9-9061-E69664F7761B}"/>
              </a:ext>
            </a:extLst>
          </p:cNvPr>
          <p:cNvSpPr>
            <a:spLocks xmlns:a="http://schemas.openxmlformats.org/drawingml/2006/main" noGrp="1"/>
          </p:cNvSpPr>
          <p:nvPr/>
        </p:nvSpPr>
        <p:spPr>
          <a:xfrm xmlns:a="http://schemas.openxmlformats.org/drawingml/2006/main">
            <a:off x="571500" y="560070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FFD080"/>
                </a:solidFill>
                <a:latin typeface="Helvetica Neue"/>
                <a:ea typeface="Helvetica Neue"/>
                <a:cs typeface="Helvetica Neue"/>
              </a:defRPr>
            </a:pPr>
            <a:r>
              <a:rPr sz="2100" b="0">
                <a:solidFill>
                  <a:srgbClr val="FFD080"/>
                </a:solidFill>
                <a:latin typeface="Helvetica Neue"/>
                <a:ea typeface="Helvetica Neue"/>
                <a:cs typeface="Helvetica Neue"/>
              </a:rPr>
              <a:t>Current collector: unauthenticated GET requests with query inputs.</a:t>
            </a:r>
          </a:p>
        </p:txBody>
      </p:sp>
    </p:spTree>
    <p:extLst>
      <p:ext uri="{BB962C8B-B14F-4D97-AF65-F5344CB8AC3E}">
        <p14:creationId xmlns:p14="http://schemas.microsoft.com/office/powerpoint/2010/main" val="123902981"/>
      </p:ext>
    </p:extLst>
  </p:cSld>
</p:sld>
</file>

<file path=ppt/slides/slide8.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796A9CA-F1BB-48EF-BF67-37C6279EE9DF}"/>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Run index and evidence</a:t>
            </a:r>
          </a:p>
        </p:txBody>
      </p:sp>
      <p:sp>
        <p:nvSpPr>
          <p:cNvPr id="2" name="">
            <a:extLst xmlns:a="http://schemas.openxmlformats.org/drawingml/2006/main">
              <a:ext uri="{FF2B5EF4-FFF2-40B4-BE49-F238E27FC236}">
                <a16:creationId xmlns:a16="http://schemas.microsoft.com/office/drawing/2014/main" id="{27B4420B-F88E-413D-A1F4-89AF65B52A2D}"/>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D057704E-952A-46B8-A170-AECC299F7968}"/>
              </a:ext>
            </a:extLst>
          </p:cNvPr>
          <p:cNvSpPr>
            <a:spLocks xmlns:a="http://schemas.openxmlformats.org/drawingml/2006/main" noGrp="1"/>
          </p:cNvSpPr>
          <p:nvPr/>
        </p:nvSpPr>
        <p:spPr>
          <a:xfrm xmlns:a="http://schemas.openxmlformats.org/drawingml/2006/main">
            <a:off x="571500" y="2381250"/>
            <a:ext cx="2190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Run engine</a:t>
            </a:r>
          </a:p>
        </p:txBody>
      </p:sp>
      <p:sp>
        <p:nvSpPr>
          <p:cNvPr id="4" name="">
            <a:extLst xmlns:a="http://schemas.openxmlformats.org/drawingml/2006/main">
              <a:ext uri="{FF2B5EF4-FFF2-40B4-BE49-F238E27FC236}">
                <a16:creationId xmlns:a16="http://schemas.microsoft.com/office/drawing/2014/main" id="{03F021DD-0B6A-498F-95A1-F8930A4AE8BB}"/>
              </a:ext>
            </a:extLst>
          </p:cNvPr>
          <p:cNvSpPr>
            <a:spLocks xmlns:a="http://schemas.openxmlformats.org/drawingml/2006/main" noGrp="1"/>
          </p:cNvSpPr>
          <p:nvPr/>
        </p:nvSpPr>
        <p:spPr>
          <a:xfrm xmlns:a="http://schemas.openxmlformats.org/drawingml/2006/main">
            <a:off x="3905250" y="1714500"/>
            <a:ext cx="3333750" cy="904875"/>
          </a:xfrm>
          <a:prstGeom xmlns:a="http://schemas.openxmlformats.org/drawingml/2006/main" prst="rect">
            <a:avLst/>
          </a:prstGeom>
          <a:solidFill xmlns:a="http://schemas.openxmlformats.org/drawingml/2006/main">
            <a:srgbClr val="142236"/>
          </a:solidFill>
          <a:ln xmlns:a="http://schemas.openxmlformats.org/drawingml/2006/main" w="19050">
            <a:solidFill>
              <a:srgbClr val="BEAAFF"/>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SQLite run index</a:t>
            </a:r>
          </a:p>
        </p:txBody>
      </p:sp>
      <p:sp>
        <p:nvSpPr>
          <p:cNvPr id="5" name="">
            <a:extLst xmlns:a="http://schemas.openxmlformats.org/drawingml/2006/main">
              <a:ext uri="{FF2B5EF4-FFF2-40B4-BE49-F238E27FC236}">
                <a16:creationId xmlns:a16="http://schemas.microsoft.com/office/drawing/2014/main" id="{EAD76911-8E0F-4203-8F9E-7A52B9A5C20A}"/>
              </a:ext>
            </a:extLst>
          </p:cNvPr>
          <p:cNvSpPr>
            <a:spLocks xmlns:a="http://schemas.openxmlformats.org/drawingml/2006/main" noGrp="1"/>
          </p:cNvSpPr>
          <p:nvPr/>
        </p:nvSpPr>
        <p:spPr>
          <a:xfrm xmlns:a="http://schemas.openxmlformats.org/drawingml/2006/main">
            <a:off x="3905250" y="3905250"/>
            <a:ext cx="3333750" cy="904875"/>
          </a:xfrm>
          <a:prstGeom xmlns:a="http://schemas.openxmlformats.org/drawingml/2006/main" prst="rect">
            <a:avLst/>
          </a:prstGeom>
          <a:solidFill xmlns:a="http://schemas.openxmlformats.org/drawingml/2006/main">
            <a:srgbClr val="142236"/>
          </a:solidFill>
          <a:ln xmlns:a="http://schemas.openxmlformats.org/drawingml/2006/main" w="19050">
            <a:solidFill>
              <a:srgbClr val="BEAAFF"/>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Restricted evidence folders</a:t>
            </a:r>
          </a:p>
        </p:txBody>
      </p:sp>
      <p:sp>
        <p:nvSpPr>
          <p:cNvPr id="6" name="">
            <a:extLst xmlns:a="http://schemas.openxmlformats.org/drawingml/2006/main">
              <a:ext uri="{FF2B5EF4-FFF2-40B4-BE49-F238E27FC236}">
                <a16:creationId xmlns:a16="http://schemas.microsoft.com/office/drawing/2014/main" id="{4E29ECCC-430C-4FF3-B82F-8DCBC3202A78}"/>
              </a:ext>
            </a:extLst>
          </p:cNvPr>
          <p:cNvSpPr>
            <a:spLocks xmlns:a="http://schemas.openxmlformats.org/drawingml/2006/main" noGrp="1"/>
          </p:cNvSpPr>
          <p:nvPr/>
        </p:nvSpPr>
        <p:spPr>
          <a:xfrm xmlns:a="http://schemas.openxmlformats.org/drawingml/2006/main">
            <a:off x="8763000" y="2809875"/>
            <a:ext cx="266700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BEAAFF"/>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Separate backup</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flipV="1">
            <a:off x="2762250" y="2166938"/>
            <a:ext cx="1143000" cy="690563"/>
          </a:xfrm>
          <a:prstGeom xmlns:a="http://schemas.openxmlformats.org/drawingml/2006/main" prst="bentConnector3">
            <a:avLst>
              <a:gd name="adj1" fmla="val 50000"/>
            </a:avLst>
          </a:prstGeom>
          <a:ln xmlns:a="http://schemas.openxmlformats.org/drawingml/2006/main" w="19050">
            <a:solidFill>
              <a:srgbClr val="5D718A"/>
            </a:solidFill>
            <a:tailEnd type="triangle" w="med" len="med"/>
          </a:ln>
        </p:spPr>
      </p:cxnSp>
      <p:cxnSp>
        <p:nvCxnSpPr>
          <p:cNvPr id="21" name=""/>
          <p:cNvCxnSpPr>
            <a:stCxn xmlns:a="http://schemas.openxmlformats.org/drawingml/2006/main" id="3" idx="3"/>
            <a:endCxn xmlns:a="http://schemas.openxmlformats.org/drawingml/2006/main" id="5" idx="1"/>
          </p:cNvCxnSpPr>
          <p:nvPr/>
        </p:nvCxnSpPr>
        <p:spPr>
          <a:xfrm xmlns:a="http://schemas.openxmlformats.org/drawingml/2006/main">
            <a:off x="2762250" y="2857500"/>
            <a:ext cx="1143000" cy="1500188"/>
          </a:xfrm>
          <a:prstGeom xmlns:a="http://schemas.openxmlformats.org/drawingml/2006/main" prst="bentConnector3">
            <a:avLst>
              <a:gd name="adj1" fmla="val 50000"/>
            </a:avLst>
          </a:prstGeom>
          <a:ln xmlns:a="http://schemas.openxmlformats.org/drawingml/2006/main" w="19050">
            <a:solidFill>
              <a:srgbClr val="5D718A"/>
            </a:solidFill>
            <a:tailEnd type="triangle" w="med" len="med"/>
          </a:ln>
        </p:spPr>
      </p:cxnSp>
      <p:cxnSp>
        <p:nvCxnSpPr>
          <p:cNvPr id="22" name=""/>
          <p:cNvCxnSpPr>
            <a:stCxn xmlns:a="http://schemas.openxmlformats.org/drawingml/2006/main" id="4" idx="3"/>
            <a:endCxn xmlns:a="http://schemas.openxmlformats.org/drawingml/2006/main" id="6" idx="1"/>
          </p:cNvCxnSpPr>
          <p:nvPr/>
        </p:nvCxnSpPr>
        <p:spPr>
          <a:xfrm xmlns:a="http://schemas.openxmlformats.org/drawingml/2006/main">
            <a:off x="7239000" y="2166938"/>
            <a:ext cx="1524000" cy="1119188"/>
          </a:xfrm>
          <a:prstGeom xmlns:a="http://schemas.openxmlformats.org/drawingml/2006/main" prst="bentConnector3">
            <a:avLst>
              <a:gd name="adj1" fmla="val 50000"/>
            </a:avLst>
          </a:prstGeom>
          <a:ln xmlns:a="http://schemas.openxmlformats.org/drawingml/2006/main" w="19050">
            <a:solidFill>
              <a:srgbClr val="5D718A"/>
            </a:solidFill>
            <a:tailEnd type="triangle" w="med" len="med"/>
          </a:ln>
        </p:spPr>
      </p:cxn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flipV="1">
            <a:off x="7239000" y="3286125"/>
            <a:ext cx="1524000" cy="1071563"/>
          </a:xfrm>
          <a:prstGeom xmlns:a="http://schemas.openxmlformats.org/drawingml/2006/main" prst="bentConnector3">
            <a:avLst>
              <a:gd name="adj1" fmla="val 50000"/>
            </a:avLst>
          </a:prstGeom>
          <a:ln xmlns:a="http://schemas.openxmlformats.org/drawingml/2006/main" w="19050">
            <a:solidFill>
              <a:srgbClr val="5D718A"/>
            </a:solidFill>
            <a:tailEnd type="triangle" w="med" len="med"/>
          </a:ln>
        </p:spPr>
      </p:cxnSp>
      <p:sp>
        <p:nvSpPr>
          <p:cNvPr id="11" name="">
            <a:extLst xmlns:a="http://schemas.openxmlformats.org/drawingml/2006/main">
              <a:ext uri="{FF2B5EF4-FFF2-40B4-BE49-F238E27FC236}">
                <a16:creationId xmlns:a16="http://schemas.microsoft.com/office/drawing/2014/main" id="{E438DACD-FCE4-4555-BA9E-BCBCE9B7C63E}"/>
              </a:ext>
            </a:extLst>
          </p:cNvPr>
          <p:cNvSpPr>
            <a:spLocks xmlns:a="http://schemas.openxmlformats.org/drawingml/2006/main" noGrp="1"/>
          </p:cNvSpPr>
          <p:nvPr/>
        </p:nvSpPr>
        <p:spPr>
          <a:xfrm xmlns:a="http://schemas.openxmlformats.org/drawingml/2006/main">
            <a:off x="3905250" y="2714625"/>
            <a:ext cx="35718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B7C5D7"/>
                </a:solidFill>
                <a:latin typeface="Helvetica Neue"/>
                <a:ea typeface="Helvetica Neue"/>
                <a:cs typeface="Helvetica Neue"/>
              </a:defRPr>
            </a:pPr>
            <a:r>
              <a:rPr sz="1950" b="0">
                <a:solidFill>
                  <a:srgbClr val="B7C5D7"/>
                </a:solidFill>
                <a:latin typeface="Helvetica Neue"/>
                <a:ea typeface="Helvetica Neue"/>
                <a:cs typeface="Helvetica Neue"/>
              </a:rPr>
              <a:t>Run ID, state, scope,</a:t>
            </a:r>
          </a:p>
          <a:p xmlns:a="http://schemas.openxmlformats.org/drawingml/2006/main">
            <a:pPr>
              <a:defRPr sz="1950" b="0">
                <a:solidFill>
                  <a:srgbClr val="B7C5D7"/>
                </a:solidFill>
                <a:latin typeface="Helvetica Neue"/>
                <a:ea typeface="Helvetica Neue"/>
                <a:cs typeface="Helvetica Neue"/>
              </a:defRPr>
            </a:pPr>
            <a:r>
              <a:rPr sz="1950" b="0">
                <a:solidFill>
                  <a:srgbClr val="B7C5D7"/>
                </a:solidFill>
                <a:latin typeface="Helvetica Neue"/>
                <a:ea typeface="Helvetica Neue"/>
                <a:cs typeface="Helvetica Neue"/>
              </a:rPr>
              <a:t>tool steps and file links</a:t>
            </a:r>
          </a:p>
        </p:txBody>
      </p:sp>
      <p:sp>
        <p:nvSpPr>
          <p:cNvPr id="12" name="">
            <a:extLst xmlns:a="http://schemas.openxmlformats.org/drawingml/2006/main">
              <a:ext uri="{FF2B5EF4-FFF2-40B4-BE49-F238E27FC236}">
                <a16:creationId xmlns:a16="http://schemas.microsoft.com/office/drawing/2014/main" id="{B235856A-73CD-497A-838D-7241D76F6D37}"/>
              </a:ext>
            </a:extLst>
          </p:cNvPr>
          <p:cNvSpPr>
            <a:spLocks xmlns:a="http://schemas.openxmlformats.org/drawingml/2006/main" noGrp="1"/>
          </p:cNvSpPr>
          <p:nvPr/>
        </p:nvSpPr>
        <p:spPr>
          <a:xfrm xmlns:a="http://schemas.openxmlformats.org/drawingml/2006/main">
            <a:off x="3905250" y="4933950"/>
            <a:ext cx="4238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B7C5D7"/>
                </a:solidFill>
                <a:latin typeface="Helvetica Neue"/>
                <a:ea typeface="Helvetica Neue"/>
                <a:cs typeface="Helvetica Neue"/>
              </a:defRPr>
            </a:pPr>
            <a:r>
              <a:rPr sz="1950" b="0">
                <a:solidFill>
                  <a:srgbClr val="B7C5D7"/>
                </a:solidFill>
                <a:latin typeface="Helvetica Neue"/>
                <a:ea typeface="Helvetica Neue"/>
                <a:cs typeface="Helvetica Neue"/>
              </a:rPr>
              <a:t>Requests, responses, tool output</a:t>
            </a:r>
          </a:p>
          <a:p xmlns:a="http://schemas.openxmlformats.org/drawingml/2006/main">
            <a:pPr>
              <a:defRPr sz="1950" b="0">
                <a:solidFill>
                  <a:srgbClr val="B7C5D7"/>
                </a:solidFill>
                <a:latin typeface="Helvetica Neue"/>
                <a:ea typeface="Helvetica Neue"/>
                <a:cs typeface="Helvetica Neue"/>
              </a:defRPr>
            </a:pPr>
            <a:r>
              <a:rPr sz="1950" b="0">
                <a:solidFill>
                  <a:srgbClr val="B7C5D7"/>
                </a:solidFill>
                <a:latin typeface="Helvetica Neue"/>
                <a:ea typeface="Helvetica Neue"/>
                <a:cs typeface="Helvetica Neue"/>
              </a:rPr>
              <a:t>and reviewer decisions</a:t>
            </a:r>
          </a:p>
        </p:txBody>
      </p:sp>
      <p:sp>
        <p:nvSpPr>
          <p:cNvPr id="13" name="">
            <a:extLst xmlns:a="http://schemas.openxmlformats.org/drawingml/2006/main">
              <a:ext uri="{FF2B5EF4-FFF2-40B4-BE49-F238E27FC236}">
                <a16:creationId xmlns:a16="http://schemas.microsoft.com/office/drawing/2014/main" id="{1CAE3B6D-0BE2-4285-B7EB-F39E6576F29B}"/>
              </a:ext>
            </a:extLst>
          </p:cNvPr>
          <p:cNvSpPr>
            <a:spLocks xmlns:a="http://schemas.openxmlformats.org/drawingml/2006/main" noGrp="1"/>
          </p:cNvSpPr>
          <p:nvPr/>
        </p:nvSpPr>
        <p:spPr>
          <a:xfrm xmlns:a="http://schemas.openxmlformats.org/drawingml/2006/main">
            <a:off x="8763000" y="3971925"/>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B7C5D7"/>
                </a:solidFill>
                <a:latin typeface="Helvetica Neue"/>
                <a:ea typeface="Helvetica Neue"/>
                <a:cs typeface="Helvetica Neue"/>
              </a:defRPr>
            </a:pPr>
            <a:r>
              <a:rPr sz="1950" b="0">
                <a:solidFill>
                  <a:srgbClr val="B7C5D7"/>
                </a:solidFill>
                <a:latin typeface="Helvetica Neue"/>
                <a:ea typeface="Helvetica Neue"/>
                <a:cs typeface="Helvetica Neue"/>
              </a:rPr>
              <a:t>Recovery copy</a:t>
            </a:r>
          </a:p>
          <a:p xmlns:a="http://schemas.openxmlformats.org/drawingml/2006/main">
            <a:pPr>
              <a:defRPr sz="1950" b="0">
                <a:solidFill>
                  <a:srgbClr val="B7C5D7"/>
                </a:solidFill>
                <a:latin typeface="Helvetica Neue"/>
                <a:ea typeface="Helvetica Neue"/>
                <a:cs typeface="Helvetica Neue"/>
              </a:defRPr>
            </a:pPr>
            <a:r>
              <a:rPr sz="1950" b="0">
                <a:solidFill>
                  <a:srgbClr val="B7C5D7"/>
                </a:solidFill>
                <a:latin typeface="Helvetica Neue"/>
                <a:ea typeface="Helvetica Neue"/>
                <a:cs typeface="Helvetica Neue"/>
              </a:rPr>
              <a:t>of both stores</a:t>
            </a:r>
          </a:p>
        </p:txBody>
      </p:sp>
    </p:spTree>
    <p:extLst>
      <p:ext uri="{BB962C8B-B14F-4D97-AF65-F5344CB8AC3E}">
        <p14:creationId xmlns:p14="http://schemas.microsoft.com/office/powerpoint/2010/main" val="665509474"/>
      </p:ext>
    </p:extLst>
  </p:cSld>
</p:sld>
</file>

<file path=ppt/slides/slide9.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1B38177-0A22-4566-93F8-9FA5ACC211E1}"/>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Security boundaries</a:t>
            </a:r>
          </a:p>
        </p:txBody>
      </p:sp>
      <p:sp>
        <p:nvSpPr>
          <p:cNvPr id="2" name="">
            <a:extLst xmlns:a="http://schemas.openxmlformats.org/drawingml/2006/main">
              <a:ext uri="{FF2B5EF4-FFF2-40B4-BE49-F238E27FC236}">
                <a16:creationId xmlns:a16="http://schemas.microsoft.com/office/drawing/2014/main" id="{3B90A4E4-6620-4491-B4BF-B0B18E8BE988}"/>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D80EB5E8-8B9A-4B68-AEFC-1714D10CF8FC}"/>
              </a:ext>
            </a:extLst>
          </p:cNvPr>
          <p:cNvSpPr>
            <a:spLocks xmlns:a="http://schemas.openxmlformats.org/drawingml/2006/main" noGrp="1"/>
          </p:cNvSpPr>
          <p:nvPr/>
        </p:nvSpPr>
        <p:spPr>
          <a:xfrm xmlns:a="http://schemas.openxmlformats.org/drawingml/2006/main">
            <a:off x="571500" y="14763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Operator boundary</a:t>
            </a:r>
          </a:p>
        </p:txBody>
      </p:sp>
      <p:sp>
        <p:nvSpPr>
          <p:cNvPr id="4" name="">
            <a:extLst xmlns:a="http://schemas.openxmlformats.org/drawingml/2006/main">
              <a:ext uri="{FF2B5EF4-FFF2-40B4-BE49-F238E27FC236}">
                <a16:creationId xmlns:a16="http://schemas.microsoft.com/office/drawing/2014/main" id="{9F76EA1C-7D4B-4377-B512-CD11B597CF9E}"/>
              </a:ext>
            </a:extLst>
          </p:cNvPr>
          <p:cNvSpPr>
            <a:spLocks xmlns:a="http://schemas.openxmlformats.org/drawingml/2006/main" noGrp="1"/>
          </p:cNvSpPr>
          <p:nvPr/>
        </p:nvSpPr>
        <p:spPr>
          <a:xfrm xmlns:a="http://schemas.openxmlformats.org/drawingml/2006/main">
            <a:off x="4000500" y="1476375"/>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Private dashboard with named accounts. The second operator reviews scope.</a:t>
            </a:r>
          </a:p>
        </p:txBody>
      </p:sp>
      <p:sp>
        <p:nvSpPr>
          <p:cNvPr id="5" name="">
            <a:extLst xmlns:a="http://schemas.openxmlformats.org/drawingml/2006/main">
              <a:ext uri="{FF2B5EF4-FFF2-40B4-BE49-F238E27FC236}">
                <a16:creationId xmlns:a16="http://schemas.microsoft.com/office/drawing/2014/main" id="{BC5B602B-617E-42BE-8C96-F203ADCBD3F1}"/>
              </a:ext>
            </a:extLst>
          </p:cNvPr>
          <p:cNvSpPr>
            <a:spLocks xmlns:a="http://schemas.openxmlformats.org/drawingml/2006/main" noGrp="1"/>
          </p:cNvSpPr>
          <p:nvPr/>
        </p:nvSpPr>
        <p:spPr>
          <a:xfrm xmlns:a="http://schemas.openxmlformats.org/drawingml/2006/main">
            <a:off x="571500" y="271462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Runner boundary</a:t>
            </a:r>
          </a:p>
        </p:txBody>
      </p:sp>
      <p:sp>
        <p:nvSpPr>
          <p:cNvPr id="6" name="">
            <a:extLst xmlns:a="http://schemas.openxmlformats.org/drawingml/2006/main">
              <a:ext uri="{FF2B5EF4-FFF2-40B4-BE49-F238E27FC236}">
                <a16:creationId xmlns:a16="http://schemas.microsoft.com/office/drawing/2014/main" id="{BB5F61F8-054C-4370-814A-AEB7345C645F}"/>
              </a:ext>
            </a:extLst>
          </p:cNvPr>
          <p:cNvSpPr>
            <a:spLocks xmlns:a="http://schemas.openxmlformats.org/drawingml/2006/main" noGrp="1"/>
          </p:cNvSpPr>
          <p:nvPr/>
        </p:nvSpPr>
        <p:spPr>
          <a:xfrm xmlns:a="http://schemas.openxmlformats.org/drawingml/2006/main">
            <a:off x="4000500" y="2714625"/>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Disposable VM with restricted egress and no host folders or provider keys.</a:t>
            </a:r>
          </a:p>
        </p:txBody>
      </p:sp>
      <p:sp>
        <p:nvSpPr>
          <p:cNvPr id="7" name="">
            <a:extLst xmlns:a="http://schemas.openxmlformats.org/drawingml/2006/main">
              <a:ext uri="{FF2B5EF4-FFF2-40B4-BE49-F238E27FC236}">
                <a16:creationId xmlns:a16="http://schemas.microsoft.com/office/drawing/2014/main" id="{57D90BBE-C9C4-473B-8F62-5DB7CB84AB27}"/>
              </a:ext>
            </a:extLst>
          </p:cNvPr>
          <p:cNvSpPr>
            <a:spLocks xmlns:a="http://schemas.openxmlformats.org/drawingml/2006/main" noGrp="1"/>
          </p:cNvSpPr>
          <p:nvPr/>
        </p:nvSpPr>
        <p:spPr>
          <a:xfrm xmlns:a="http://schemas.openxmlformats.org/drawingml/2006/main">
            <a:off x="571500" y="3952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Model boundary</a:t>
            </a:r>
          </a:p>
        </p:txBody>
      </p:sp>
      <p:sp>
        <p:nvSpPr>
          <p:cNvPr id="8" name="">
            <a:extLst xmlns:a="http://schemas.openxmlformats.org/drawingml/2006/main">
              <a:ext uri="{FF2B5EF4-FFF2-40B4-BE49-F238E27FC236}">
                <a16:creationId xmlns:a16="http://schemas.microsoft.com/office/drawing/2014/main" id="{E7158421-5398-41A1-A8A5-D23A79981413}"/>
              </a:ext>
            </a:extLst>
          </p:cNvPr>
          <p:cNvSpPr>
            <a:spLocks xmlns:a="http://schemas.openxmlformats.org/drawingml/2006/main" noGrp="1"/>
          </p:cNvSpPr>
          <p:nvPr/>
        </p:nvSpPr>
        <p:spPr>
          <a:xfrm xmlns:a="http://schemas.openxmlformats.org/drawingml/2006/main">
            <a:off x="4000500" y="3952875"/>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Approved providers and data only. The engine retains execution authority.</a:t>
            </a:r>
          </a:p>
        </p:txBody>
      </p:sp>
      <p:sp>
        <p:nvSpPr>
          <p:cNvPr id="9" name="">
            <a:extLst xmlns:a="http://schemas.openxmlformats.org/drawingml/2006/main">
              <a:ext uri="{FF2B5EF4-FFF2-40B4-BE49-F238E27FC236}">
                <a16:creationId xmlns:a16="http://schemas.microsoft.com/office/drawing/2014/main" id="{344D66C6-8F07-4BF0-A28A-A5106D5744B2}"/>
              </a:ext>
            </a:extLst>
          </p:cNvPr>
          <p:cNvSpPr>
            <a:spLocks xmlns:a="http://schemas.openxmlformats.org/drawingml/2006/main" noGrp="1"/>
          </p:cNvSpPr>
          <p:nvPr/>
        </p:nvSpPr>
        <p:spPr>
          <a:xfrm xmlns:a="http://schemas.openxmlformats.org/drawingml/2006/main">
            <a:off x="571500" y="519112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Evidence boundary</a:t>
            </a:r>
          </a:p>
        </p:txBody>
      </p:sp>
      <p:sp>
        <p:nvSpPr>
          <p:cNvPr id="10" name="">
            <a:extLst xmlns:a="http://schemas.openxmlformats.org/drawingml/2006/main">
              <a:ext uri="{FF2B5EF4-FFF2-40B4-BE49-F238E27FC236}">
                <a16:creationId xmlns:a16="http://schemas.microsoft.com/office/drawing/2014/main" id="{995253E0-4AEA-4C61-806F-9E2617B61FE7}"/>
              </a:ext>
            </a:extLst>
          </p:cNvPr>
          <p:cNvSpPr>
            <a:spLocks xmlns:a="http://schemas.openxmlformats.org/drawingml/2006/main" noGrp="1"/>
          </p:cNvSpPr>
          <p:nvPr/>
        </p:nvSpPr>
        <p:spPr>
          <a:xfrm xmlns:a="http://schemas.openxmlformats.org/drawingml/2006/main">
            <a:off x="4000500" y="5191125"/>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Host services control storage. Runner access excludes historical records.</a:t>
            </a:r>
          </a:p>
        </p:txBody>
      </p:sp>
    </p:spTree>
    <p:extLst>
      <p:ext uri="{BB962C8B-B14F-4D97-AF65-F5344CB8AC3E}">
        <p14:creationId xmlns:p14="http://schemas.microsoft.com/office/powerpoint/2010/main" val="726269462"/>
      </p:ext>
    </p:extLst>
  </p:cSld>
</p:sld>
</file>

<file path=ppt/slides/slide10.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3CEC02-07B9-43E5-AEE2-06609DCC8CBA}"/>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Implementation and acceptance</a:t>
            </a:r>
          </a:p>
        </p:txBody>
      </p:sp>
      <p:sp>
        <p:nvSpPr>
          <p:cNvPr id="2" name="">
            <a:extLst xmlns:a="http://schemas.openxmlformats.org/drawingml/2006/main">
              <a:ext uri="{FF2B5EF4-FFF2-40B4-BE49-F238E27FC236}">
                <a16:creationId xmlns:a16="http://schemas.microsoft.com/office/drawing/2014/main" id="{B9EF9312-5AF8-4321-9639-5412710D0B28}"/>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8FA5308D-E232-4C69-8423-0E66199A951A}"/>
              </a:ext>
            </a:extLst>
          </p:cNvPr>
          <p:cNvSpPr>
            <a:spLocks xmlns:a="http://schemas.openxmlformats.org/drawingml/2006/main" noGrp="1"/>
          </p:cNvSpPr>
          <p:nvPr/>
        </p:nvSpPr>
        <p:spPr>
          <a:xfrm xmlns:a="http://schemas.openxmlformats.org/drawingml/2006/main">
            <a:off x="571500" y="15240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85E7B5"/>
                </a:solidFill>
                <a:latin typeface="Helvetica Neue"/>
                <a:ea typeface="Helvetica Neue"/>
                <a:cs typeface="Helvetica Neue"/>
              </a:defRPr>
            </a:pPr>
            <a:r>
              <a:rPr sz="2400" b="1">
                <a:solidFill>
                  <a:srgbClr val="85E7B5"/>
                </a:solidFill>
                <a:latin typeface="Helvetica Neue"/>
                <a:ea typeface="Helvetica Neue"/>
                <a:cs typeface="Helvetica Neue"/>
              </a:rPr>
              <a:t>Existing prototype</a:t>
            </a:r>
          </a:p>
        </p:txBody>
      </p:sp>
      <p:sp>
        <p:nvSpPr>
          <p:cNvPr id="4" name="">
            <a:extLst xmlns:a="http://schemas.openxmlformats.org/drawingml/2006/main">
              <a:ext uri="{FF2B5EF4-FFF2-40B4-BE49-F238E27FC236}">
                <a16:creationId xmlns:a16="http://schemas.microsoft.com/office/drawing/2014/main" id="{F2AF50A1-1E07-457B-9B36-185E8245E531}"/>
              </a:ext>
            </a:extLst>
          </p:cNvPr>
          <p:cNvSpPr>
            <a:spLocks xmlns:a="http://schemas.openxmlformats.org/drawingml/2006/main" noGrp="1"/>
          </p:cNvSpPr>
          <p:nvPr/>
        </p:nvSpPr>
        <p:spPr>
          <a:xfrm xmlns:a="http://schemas.openxmlformats.org/drawingml/2006/main">
            <a:off x="571500" y="2162175"/>
            <a:ext cx="4667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F3F6FA"/>
                </a:solidFill>
                <a:latin typeface="Helvetica Neue"/>
                <a:ea typeface="Helvetica Neue"/>
                <a:cs typeface="Helvetica Neue"/>
              </a:defRPr>
            </a:pPr>
            <a:r>
              <a:rPr sz="2250" b="0">
                <a:solidFill>
                  <a:srgbClr val="F3F6FA"/>
                </a:solidFill>
                <a:latin typeface="Helvetica Neue"/>
                <a:ea typeface="Helvetica Neue"/>
                <a:cs typeface="Helvetica Neue"/>
              </a:rPr>
              <a:t>Local application harness</a:t>
            </a:r>
          </a:p>
          <a:p xmlns:a="http://schemas.openxmlformats.org/drawingml/2006/main">
            <a:pPr>
              <a:defRPr sz="2250" b="0">
                <a:solidFill>
                  <a:srgbClr val="F3F6FA"/>
                </a:solidFill>
                <a:latin typeface="Helvetica Neue"/>
                <a:ea typeface="Helvetica Neue"/>
                <a:cs typeface="Helvetica Neue"/>
              </a:defRPr>
            </a:pPr>
            <a:r>
              <a:rPr sz="2250" b="0">
                <a:solidFill>
                  <a:srgbClr val="F3F6FA"/>
                </a:solidFill>
                <a:latin typeface="Helvetica Neue"/>
                <a:ea typeface="Helvetica Neue"/>
                <a:cs typeface="Helvetica Neue"/>
              </a:rPr>
              <a:t>Scoped WAF collector</a:t>
            </a:r>
          </a:p>
          <a:p xmlns:a="http://schemas.openxmlformats.org/drawingml/2006/main">
            <a:pPr>
              <a:defRPr sz="2250" b="0">
                <a:solidFill>
                  <a:srgbClr val="F3F6FA"/>
                </a:solidFill>
                <a:latin typeface="Helvetica Neue"/>
                <a:ea typeface="Helvetica Neue"/>
                <a:cs typeface="Helvetica Neue"/>
              </a:defRPr>
            </a:pPr>
            <a:r>
              <a:rPr sz="2250" b="0">
                <a:solidFill>
                  <a:srgbClr val="F3F6FA"/>
                </a:solidFill>
                <a:latin typeface="Helvetica Neue"/>
                <a:ea typeface="Helvetica Neue"/>
                <a:cs typeface="Helvetica Neue"/>
              </a:rPr>
              <a:t>Saved local test evidence</a:t>
            </a:r>
          </a:p>
        </p:txBody>
      </p:sp>
      <p:sp>
        <p:nvSpPr>
          <p:cNvPr id="5" name="">
            <a:extLst xmlns:a="http://schemas.openxmlformats.org/drawingml/2006/main">
              <a:ext uri="{FF2B5EF4-FFF2-40B4-BE49-F238E27FC236}">
                <a16:creationId xmlns:a16="http://schemas.microsoft.com/office/drawing/2014/main" id="{39EB0C66-028B-4B07-9D75-996E11CB5A59}"/>
              </a:ext>
            </a:extLst>
          </p:cNvPr>
          <p:cNvSpPr>
            <a:spLocks xmlns:a="http://schemas.openxmlformats.org/drawingml/2006/main" noGrp="1"/>
          </p:cNvSpPr>
          <p:nvPr/>
        </p:nvSpPr>
        <p:spPr>
          <a:xfrm xmlns:a="http://schemas.openxmlformats.org/drawingml/2006/main">
            <a:off x="6191250" y="152400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FFD080"/>
                </a:solidFill>
                <a:latin typeface="Helvetica Neue"/>
                <a:ea typeface="Helvetica Neue"/>
                <a:cs typeface="Helvetica Neue"/>
              </a:defRPr>
            </a:pPr>
            <a:r>
              <a:rPr sz="2400" b="1">
                <a:solidFill>
                  <a:srgbClr val="FFD080"/>
                </a:solidFill>
                <a:latin typeface="Helvetica Neue"/>
                <a:ea typeface="Helvetica Neue"/>
                <a:cs typeface="Helvetica Neue"/>
              </a:rPr>
              <a:t>Pending operational work</a:t>
            </a:r>
          </a:p>
        </p:txBody>
      </p:sp>
      <p:sp>
        <p:nvSpPr>
          <p:cNvPr id="6" name="">
            <a:extLst xmlns:a="http://schemas.openxmlformats.org/drawingml/2006/main">
              <a:ext uri="{FF2B5EF4-FFF2-40B4-BE49-F238E27FC236}">
                <a16:creationId xmlns:a16="http://schemas.microsoft.com/office/drawing/2014/main" id="{F8282643-3EEE-449A-BC03-17390DAB814E}"/>
              </a:ext>
            </a:extLst>
          </p:cNvPr>
          <p:cNvSpPr>
            <a:spLocks xmlns:a="http://schemas.openxmlformats.org/drawingml/2006/main" noGrp="1"/>
          </p:cNvSpPr>
          <p:nvPr/>
        </p:nvSpPr>
        <p:spPr>
          <a:xfrm xmlns:a="http://schemas.openxmlformats.org/drawingml/2006/main">
            <a:off x="6191250" y="2162175"/>
            <a:ext cx="52387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F3F6FA"/>
                </a:solidFill>
                <a:latin typeface="Helvetica Neue"/>
                <a:ea typeface="Helvetica Neue"/>
                <a:cs typeface="Helvetica Neue"/>
              </a:defRPr>
            </a:pPr>
            <a:r>
              <a:rPr sz="2250" b="0">
                <a:solidFill>
                  <a:srgbClr val="F3F6FA"/>
                </a:solidFill>
                <a:latin typeface="Helvetica Neue"/>
                <a:ea typeface="Helvetica Neue"/>
                <a:cs typeface="Helvetica Neue"/>
              </a:rPr>
              <a:t>Dashboard and shared engine</a:t>
            </a:r>
          </a:p>
          <a:p xmlns:a="http://schemas.openxmlformats.org/drawingml/2006/main">
            <a:pPr>
              <a:defRPr sz="2250" b="0">
                <a:solidFill>
                  <a:srgbClr val="F3F6FA"/>
                </a:solidFill>
                <a:latin typeface="Helvetica Neue"/>
                <a:ea typeface="Helvetica Neue"/>
                <a:cs typeface="Helvetica Neue"/>
              </a:defRPr>
            </a:pPr>
            <a:r>
              <a:rPr sz="2250" b="0">
                <a:solidFill>
                  <a:srgbClr val="F3F6FA"/>
                </a:solidFill>
                <a:latin typeface="Helvetica Neue"/>
                <a:ea typeface="Helvetica Neue"/>
                <a:cs typeface="Helvetica Neue"/>
              </a:rPr>
              <a:t>Runner isolation and tool adapters</a:t>
            </a:r>
          </a:p>
          <a:p xmlns:a="http://schemas.openxmlformats.org/drawingml/2006/main">
            <a:pPr>
              <a:defRPr sz="2250" b="0">
                <a:solidFill>
                  <a:srgbClr val="F3F6FA"/>
                </a:solidFill>
                <a:latin typeface="Helvetica Neue"/>
                <a:ea typeface="Helvetica Neue"/>
                <a:cs typeface="Helvetica Neue"/>
              </a:defRPr>
            </a:pPr>
            <a:r>
              <a:rPr sz="2250" b="0">
                <a:solidFill>
                  <a:srgbClr val="F3F6FA"/>
                </a:solidFill>
                <a:latin typeface="Helvetica Neue"/>
                <a:ea typeface="Helvetica Neue"/>
                <a:cs typeface="Helvetica Neue"/>
              </a:rPr>
              <a:t>Model calibration and provider contracts</a:t>
            </a:r>
          </a:p>
          <a:p xmlns:a="http://schemas.openxmlformats.org/drawingml/2006/main">
            <a:pPr>
              <a:defRPr sz="2250" b="0">
                <a:solidFill>
                  <a:srgbClr val="F3F6FA"/>
                </a:solidFill>
                <a:latin typeface="Helvetica Neue"/>
                <a:ea typeface="Helvetica Neue"/>
                <a:cs typeface="Helvetica Neue"/>
              </a:defRPr>
            </a:pPr>
            <a:r>
              <a:rPr sz="2250" b="0">
                <a:solidFill>
                  <a:srgbClr val="F3F6FA"/>
                </a:solidFill>
                <a:latin typeface="Helvetica Neue"/>
                <a:ea typeface="Helvetica Neue"/>
                <a:cs typeface="Helvetica Neue"/>
              </a:rPr>
              <a:t>Authorized external WAF campaign</a:t>
            </a:r>
          </a:p>
        </p:txBody>
      </p:sp>
      <p:sp>
        <p:nvSpPr>
          <p:cNvPr id="7" name="">
            <a:extLst xmlns:a="http://schemas.openxmlformats.org/drawingml/2006/main">
              <a:ext uri="{FF2B5EF4-FFF2-40B4-BE49-F238E27FC236}">
                <a16:creationId xmlns:a16="http://schemas.microsoft.com/office/drawing/2014/main" id="{59257FA3-8E90-45B0-B7BD-2CC7DCF18469}"/>
              </a:ext>
            </a:extLst>
          </p:cNvPr>
          <p:cNvSpPr>
            <a:spLocks xmlns:a="http://schemas.openxmlformats.org/drawingml/2006/main" noGrp="1"/>
          </p:cNvSpPr>
          <p:nvPr/>
        </p:nvSpPr>
        <p:spPr>
          <a:xfrm xmlns:a="http://schemas.openxmlformats.org/drawingml/2006/main">
            <a:off x="571500" y="4810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5EE3EE"/>
                </a:solidFill>
                <a:latin typeface="Helvetica Neue"/>
                <a:ea typeface="Helvetica Neue"/>
                <a:cs typeface="Helvetica Neue"/>
              </a:defRPr>
            </a:pPr>
            <a:r>
              <a:rPr sz="2400" b="1">
                <a:solidFill>
                  <a:srgbClr val="5EE3EE"/>
                </a:solidFill>
                <a:latin typeface="Helvetica Neue"/>
                <a:ea typeface="Helvetica Neue"/>
                <a:cs typeface="Helvetica Neue"/>
              </a:rPr>
              <a:t>Acceptance</a:t>
            </a:r>
          </a:p>
        </p:txBody>
      </p:sp>
      <p:sp>
        <p:nvSpPr>
          <p:cNvPr id="8" name="">
            <a:extLst xmlns:a="http://schemas.openxmlformats.org/drawingml/2006/main">
              <a:ext uri="{FF2B5EF4-FFF2-40B4-BE49-F238E27FC236}">
                <a16:creationId xmlns:a16="http://schemas.microsoft.com/office/drawing/2014/main" id="{8B427B88-66AC-48E8-93AB-38777B0FAE11}"/>
              </a:ext>
            </a:extLst>
          </p:cNvPr>
          <p:cNvSpPr>
            <a:spLocks xmlns:a="http://schemas.openxmlformats.org/drawingml/2006/main" noGrp="1"/>
          </p:cNvSpPr>
          <p:nvPr/>
        </p:nvSpPr>
        <p:spPr>
          <a:xfrm xmlns:a="http://schemas.openxmlformats.org/drawingml/2006/main">
            <a:off x="571500" y="5381625"/>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Start in the UI. Inspect in the CLI. Stop through either interface.</a:t>
            </a:r>
          </a:p>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Recover the same records and evidence, then review target results.</a:t>
            </a:r>
          </a:p>
        </p:txBody>
      </p:sp>
    </p:spTree>
    <p:extLst>
      <p:ext uri="{BB962C8B-B14F-4D97-AF65-F5344CB8AC3E}">
        <p14:creationId xmlns:p14="http://schemas.microsoft.com/office/powerpoint/2010/main" val="3604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2026-10-04T16:10:02.4200000Z</dcterms:created>
  <dcterms:modified xsi:type="dcterms:W3CDTF">2026-10-04T16:10:02.4210000Z</dcterms:modified>
</coreProperties>
</file>